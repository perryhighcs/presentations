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VT323"/>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VT323-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SLIDES_API17076353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SLIDES_API17076353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935044b2c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935044b2c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935044b2c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935044b2c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SLIDES_API51906685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SLIDES_API51906685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935044b2c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935044b2c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SLIDES_API30792820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SLIDES_API30792820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35044b2c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935044b2c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SLIDES_API8768196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SLIDES_API8768196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935044b2c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935044b2c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SLIDES_API137389245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SLIDES_API137389245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SLIDES_API149559845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SLIDES_API149559845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37658b1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37658b1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37658b1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737658b1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37658b1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37658b1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935044b2c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935044b2c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SLIDES_API193799490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SLIDES_API193799490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96799c7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e96799c7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252275"/>
            <a:ext cx="8520600" cy="532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b="1" sz="24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784775"/>
            <a:ext cx="8520600" cy="48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nvSpPr>
        <p:spPr>
          <a:xfrm>
            <a:off x="311750" y="1226325"/>
            <a:ext cx="8520600" cy="36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7F7FFF"/>
                </a:solidFill>
                <a:latin typeface="VT323"/>
                <a:ea typeface="VT323"/>
                <a:cs typeface="VT323"/>
                <a:sym typeface="VT323"/>
              </a:rPr>
              <a:t>READY</a:t>
            </a:r>
            <a:endParaRPr b="1" sz="1800">
              <a:solidFill>
                <a:srgbClr val="7F7FFF"/>
              </a:solidFill>
              <a:latin typeface="VT323"/>
              <a:ea typeface="VT323"/>
              <a:cs typeface="VT323"/>
              <a:sym typeface="VT323"/>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type="ctrTitle"/>
          </p:nvPr>
        </p:nvSpPr>
        <p:spPr>
          <a:xfrm>
            <a:off x="311700" y="252275"/>
            <a:ext cx="8520600" cy="441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1pPr>
            <a:lvl2pPr lvl="1"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2pPr>
            <a:lvl3pPr lvl="2"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3pPr>
            <a:lvl4pPr lvl="3"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4pPr>
            <a:lvl5pPr lvl="4"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5pPr>
            <a:lvl6pPr lvl="5"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6pPr>
            <a:lvl7pPr lvl="6"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7pPr>
            <a:lvl8pPr lvl="7"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8pPr>
            <a:lvl9pPr lvl="8"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VT323"/>
              <a:buChar char="*"/>
              <a:defRPr sz="1800">
                <a:solidFill>
                  <a:schemeClr val="dk1"/>
                </a:solidFill>
                <a:latin typeface="VT323"/>
                <a:ea typeface="VT323"/>
                <a:cs typeface="VT323"/>
                <a:sym typeface="VT323"/>
              </a:defRPr>
            </a:lvl1pPr>
            <a:lvl2pPr indent="-317500" lvl="1" marL="9144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2pPr>
            <a:lvl3pPr indent="-317500" lvl="2" marL="13716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3pPr>
            <a:lvl4pPr indent="-317500" lvl="3" marL="18288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4pPr>
            <a:lvl5pPr indent="-317500" lvl="4" marL="22860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5pPr>
            <a:lvl6pPr indent="-317500" lvl="5" marL="27432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6pPr>
            <a:lvl7pPr indent="-317500" lvl="6" marL="32004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7pPr>
            <a:lvl8pPr indent="-317500" lvl="7" marL="36576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8pPr>
            <a:lvl9pPr indent="-317500" lvl="8" marL="4114800" rtl="0">
              <a:lnSpc>
                <a:spcPct val="115000"/>
              </a:lnSpc>
              <a:spcBef>
                <a:spcPts val="1600"/>
              </a:spcBef>
              <a:spcAft>
                <a:spcPts val="1600"/>
              </a:spcAft>
              <a:buClr>
                <a:schemeClr val="dk1"/>
              </a:buClr>
              <a:buSzPts val="1400"/>
              <a:buFont typeface="VT323"/>
              <a:buChar char="▪"/>
              <a:defRPr>
                <a:solidFill>
                  <a:schemeClr val="dk1"/>
                </a:solidFill>
                <a:latin typeface="VT323"/>
                <a:ea typeface="VT323"/>
                <a:cs typeface="VT323"/>
                <a:sym typeface="VT323"/>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VT323"/>
                <a:ea typeface="VT323"/>
                <a:cs typeface="VT323"/>
                <a:sym typeface="VT323"/>
              </a:defRPr>
            </a:lvl1pPr>
            <a:lvl2pPr lvl="1" rtl="0" algn="r">
              <a:buNone/>
              <a:defRPr sz="1000">
                <a:solidFill>
                  <a:schemeClr val="dk1"/>
                </a:solidFill>
                <a:latin typeface="VT323"/>
                <a:ea typeface="VT323"/>
                <a:cs typeface="VT323"/>
                <a:sym typeface="VT323"/>
              </a:defRPr>
            </a:lvl2pPr>
            <a:lvl3pPr lvl="2" rtl="0" algn="r">
              <a:buNone/>
              <a:defRPr sz="1000">
                <a:solidFill>
                  <a:schemeClr val="dk1"/>
                </a:solidFill>
                <a:latin typeface="VT323"/>
                <a:ea typeface="VT323"/>
                <a:cs typeface="VT323"/>
                <a:sym typeface="VT323"/>
              </a:defRPr>
            </a:lvl3pPr>
            <a:lvl4pPr lvl="3" rtl="0" algn="r">
              <a:buNone/>
              <a:defRPr sz="1000">
                <a:solidFill>
                  <a:schemeClr val="dk1"/>
                </a:solidFill>
                <a:latin typeface="VT323"/>
                <a:ea typeface="VT323"/>
                <a:cs typeface="VT323"/>
                <a:sym typeface="VT323"/>
              </a:defRPr>
            </a:lvl4pPr>
            <a:lvl5pPr lvl="4" rtl="0" algn="r">
              <a:buNone/>
              <a:defRPr sz="1000">
                <a:solidFill>
                  <a:schemeClr val="dk1"/>
                </a:solidFill>
                <a:latin typeface="VT323"/>
                <a:ea typeface="VT323"/>
                <a:cs typeface="VT323"/>
                <a:sym typeface="VT323"/>
              </a:defRPr>
            </a:lvl5pPr>
            <a:lvl6pPr lvl="5" rtl="0" algn="r">
              <a:buNone/>
              <a:defRPr sz="1000">
                <a:solidFill>
                  <a:schemeClr val="dk1"/>
                </a:solidFill>
                <a:latin typeface="VT323"/>
                <a:ea typeface="VT323"/>
                <a:cs typeface="VT323"/>
                <a:sym typeface="VT323"/>
              </a:defRPr>
            </a:lvl6pPr>
            <a:lvl7pPr lvl="6" rtl="0" algn="r">
              <a:buNone/>
              <a:defRPr sz="1000">
                <a:solidFill>
                  <a:schemeClr val="dk1"/>
                </a:solidFill>
                <a:latin typeface="VT323"/>
                <a:ea typeface="VT323"/>
                <a:cs typeface="VT323"/>
                <a:sym typeface="VT323"/>
              </a:defRPr>
            </a:lvl7pPr>
            <a:lvl8pPr lvl="7" rtl="0" algn="r">
              <a:buNone/>
              <a:defRPr sz="1000">
                <a:solidFill>
                  <a:schemeClr val="dk1"/>
                </a:solidFill>
                <a:latin typeface="VT323"/>
                <a:ea typeface="VT323"/>
                <a:cs typeface="VT323"/>
                <a:sym typeface="VT323"/>
              </a:defRPr>
            </a:lvl8pPr>
            <a:lvl9pPr lvl="8" rtl="0" algn="r">
              <a:buNone/>
              <a:defRPr sz="1000">
                <a:solidFill>
                  <a:schemeClr val="dk1"/>
                </a:solidFill>
                <a:latin typeface="VT323"/>
                <a:ea typeface="VT323"/>
                <a:cs typeface="VT323"/>
                <a:sym typeface="VT323"/>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9.png"/><Relationship Id="rId7"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learn.mycode.run/link/lwcy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52275"/>
            <a:ext cx="8520600" cy="53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 Building a Network</a:t>
            </a:r>
            <a:r>
              <a:rPr lang="en" sz="3000"/>
              <a:t> ****</a:t>
            </a:r>
            <a:endParaRPr sz="3000"/>
          </a:p>
        </p:txBody>
      </p:sp>
      <p:sp>
        <p:nvSpPr>
          <p:cNvPr id="55" name="Google Shape;55;p13"/>
          <p:cNvSpPr txBox="1"/>
          <p:nvPr>
            <p:ph idx="1" type="subTitle"/>
          </p:nvPr>
        </p:nvSpPr>
        <p:spPr>
          <a:xfrm>
            <a:off x="311700" y="784775"/>
            <a:ext cx="8520600" cy="4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Lesson 2.2</a:t>
            </a:r>
            <a:endParaRPr/>
          </a:p>
        </p:txBody>
      </p:sp>
      <p:pic>
        <p:nvPicPr>
          <p:cNvPr id="56" name="Google Shape;56;p13"/>
          <p:cNvPicPr preferRelativeResize="0"/>
          <p:nvPr/>
        </p:nvPicPr>
        <p:blipFill>
          <a:blip r:embed="rId3">
            <a:alphaModFix/>
          </a:blip>
          <a:stretch>
            <a:fillRect/>
          </a:stretch>
        </p:blipFill>
        <p:spPr>
          <a:xfrm>
            <a:off x="384775" y="1781225"/>
            <a:ext cx="152400" cy="30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62" name="Google Shape;62;p14"/>
          <p:cNvPicPr preferRelativeResize="0"/>
          <p:nvPr/>
        </p:nvPicPr>
        <p:blipFill>
          <a:blip r:embed="rId4">
            <a:alphaModFix/>
          </a:blip>
          <a:stretch>
            <a:fillRect/>
          </a:stretch>
        </p:blipFill>
        <p:spPr>
          <a:xfrm>
            <a:off x="1143000" y="0"/>
            <a:ext cx="6857999" cy="5143499"/>
          </a:xfrm>
          <a:prstGeom prst="rect">
            <a:avLst/>
          </a:prstGeom>
          <a:noFill/>
          <a:ln>
            <a:noFill/>
          </a:ln>
        </p:spPr>
      </p:pic>
      <p:pic>
        <p:nvPicPr>
          <p:cNvPr id="63" name="Google Shape;63;p14"/>
          <p:cNvPicPr preferRelativeResize="0"/>
          <p:nvPr/>
        </p:nvPicPr>
        <p:blipFill>
          <a:blip r:embed="rId3">
            <a:alphaModFix/>
          </a:blip>
          <a:stretch>
            <a:fillRect/>
          </a:stretch>
        </p:blipFill>
        <p:spPr>
          <a:xfrm>
            <a:off x="1143000" y="1028700"/>
            <a:ext cx="6857999"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Building a Network</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200"/>
              <a:t>We are going to build a computer network that will let us communicate with multiple people. We will be drawing lines to represent our connections - if two people are connected with a line, then they are allowed to speak to each other. Only two people can be connected by a single line, but you can be connected to multiple people at the same time via multiple lines.</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Rules for all challenges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AutoNum type="arabicPeriod"/>
            </a:pPr>
            <a:r>
              <a:rPr lang="en" sz="2900"/>
              <a:t>Only two people can be connected by a single connection (line).</a:t>
            </a:r>
            <a:endParaRPr sz="2900"/>
          </a:p>
          <a:p>
            <a:pPr indent="-412750" lvl="0" marL="457200" rtl="0" algn="l">
              <a:spcBef>
                <a:spcPts val="0"/>
              </a:spcBef>
              <a:spcAft>
                <a:spcPts val="0"/>
              </a:spcAft>
              <a:buSzPts val="2900"/>
              <a:buAutoNum type="arabicPeriod"/>
            </a:pPr>
            <a:r>
              <a:rPr lang="en" sz="2900"/>
              <a:t>You can be connected to multiple people at the same time via multiple lines.</a:t>
            </a:r>
            <a:endParaRPr sz="2900"/>
          </a:p>
          <a:p>
            <a:pPr indent="0" lvl="0" marL="0" rtl="0" algn="l">
              <a:spcBef>
                <a:spcPts val="1600"/>
              </a:spcBef>
              <a:spcAft>
                <a:spcPts val="1600"/>
              </a:spcAft>
              <a:buNone/>
            </a:pPr>
            <a:r>
              <a:t/>
            </a:r>
            <a:endParaRPr sz="2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a:blip r:embed="rId3">
            <a:alphaModFix/>
          </a:blip>
          <a:stretch>
            <a:fillRect/>
          </a:stretch>
        </p:blipFill>
        <p:spPr>
          <a:xfrm>
            <a:off x="1143000" y="642938"/>
            <a:ext cx="6858000" cy="3857625"/>
          </a:xfrm>
          <a:prstGeom prst="rect">
            <a:avLst/>
          </a:prstGeom>
          <a:noFill/>
          <a:ln>
            <a:noFill/>
          </a:ln>
        </p:spPr>
      </p:pic>
      <p:pic>
        <p:nvPicPr>
          <p:cNvPr id="81" name="Google Shape;81;p17"/>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Guidelines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Guideline #1: Connections cost money, so try to use the least number of connections possible</a:t>
            </a:r>
            <a:endParaRPr sz="2800"/>
          </a:p>
          <a:p>
            <a:pPr indent="0" lvl="0" marL="0" rtl="0" algn="l">
              <a:spcBef>
                <a:spcPts val="1600"/>
              </a:spcBef>
              <a:spcAft>
                <a:spcPts val="1600"/>
              </a:spcAft>
              <a:buNone/>
            </a:pPr>
            <a:r>
              <a:rPr lang="en" sz="2800"/>
              <a:t>NOTE: Individuals can pass on information if it comes in one connection and needs to go out another.</a:t>
            </a: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9"/>
          <p:cNvPicPr preferRelativeResize="0"/>
          <p:nvPr/>
        </p:nvPicPr>
        <p:blipFill>
          <a:blip r:embed="rId3">
            <a:alphaModFix/>
          </a:blip>
          <a:stretch>
            <a:fillRect/>
          </a:stretch>
        </p:blipFill>
        <p:spPr>
          <a:xfrm>
            <a:off x="1143000" y="642938"/>
            <a:ext cx="6858000" cy="3857625"/>
          </a:xfrm>
          <a:prstGeom prst="rect">
            <a:avLst/>
          </a:prstGeom>
          <a:noFill/>
          <a:ln>
            <a:noFill/>
          </a:ln>
        </p:spPr>
      </p:pic>
      <p:pic>
        <p:nvPicPr>
          <p:cNvPr id="93" name="Google Shape;93;p19"/>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Guidelines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Guideline #1: Connections cost money, so try to use the least number of connections possible</a:t>
            </a:r>
            <a:endParaRPr sz="2800"/>
          </a:p>
          <a:p>
            <a:pPr indent="0" lvl="0" marL="0" rtl="0" algn="l">
              <a:spcBef>
                <a:spcPts val="1600"/>
              </a:spcBef>
              <a:spcAft>
                <a:spcPts val="1600"/>
              </a:spcAft>
              <a:buNone/>
            </a:pPr>
            <a:r>
              <a:rPr lang="en" sz="2800"/>
              <a:t>Guideline #2: Connections can be cut, which might disconnect people from the network</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1143000" y="642938"/>
            <a:ext cx="6858000" cy="3857625"/>
          </a:xfrm>
          <a:prstGeom prst="rect">
            <a:avLst/>
          </a:prstGeom>
          <a:noFill/>
          <a:ln>
            <a:noFill/>
          </a:ln>
        </p:spPr>
      </p:pic>
      <p:pic>
        <p:nvPicPr>
          <p:cNvPr id="105" name="Google Shape;105;p21"/>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Guidelines</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Guideline #1: Connections cost money, so try to use the least number of connections possible</a:t>
            </a:r>
            <a:endParaRPr sz="2800"/>
          </a:p>
          <a:p>
            <a:pPr indent="0" lvl="0" marL="0" rtl="0" algn="l">
              <a:spcBef>
                <a:spcPts val="1600"/>
              </a:spcBef>
              <a:spcAft>
                <a:spcPts val="0"/>
              </a:spcAft>
              <a:buNone/>
            </a:pPr>
            <a:r>
              <a:rPr lang="en" sz="2800"/>
              <a:t>Guideline #2: Connections can be cut, which might disconnect people from the network</a:t>
            </a:r>
            <a:endParaRPr sz="2800"/>
          </a:p>
          <a:p>
            <a:pPr indent="0" lvl="0" marL="0" rtl="0" algn="l">
              <a:spcBef>
                <a:spcPts val="1600"/>
              </a:spcBef>
              <a:spcAft>
                <a:spcPts val="1600"/>
              </a:spcAft>
              <a:buNone/>
            </a:pPr>
            <a:r>
              <a:rPr lang="en" sz="2800"/>
              <a:t>Guidelines #3: Direct connections are faster than long paths with indirect connections</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p:cNvPicPr preferRelativeResize="0"/>
          <p:nvPr/>
        </p:nvPicPr>
        <p:blipFill>
          <a:blip r:embed="rId3">
            <a:alphaModFix/>
          </a:blip>
          <a:stretch>
            <a:fillRect/>
          </a:stretch>
        </p:blipFill>
        <p:spPr>
          <a:xfrm>
            <a:off x="1143000" y="642938"/>
            <a:ext cx="6858000" cy="3857625"/>
          </a:xfrm>
          <a:prstGeom prst="rect">
            <a:avLst/>
          </a:prstGeom>
          <a:noFill/>
          <a:ln>
            <a:noFill/>
          </a:ln>
        </p:spPr>
      </p:pic>
      <p:pic>
        <p:nvPicPr>
          <p:cNvPr id="117" name="Google Shape;117;p23"/>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4"/>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23" name="Google Shape;123;p24"/>
          <p:cNvPicPr preferRelativeResize="0"/>
          <p:nvPr/>
        </p:nvPicPr>
        <p:blipFill>
          <a:blip r:embed="rId4">
            <a:alphaModFix/>
          </a:blip>
          <a:stretch>
            <a:fillRect/>
          </a:stretch>
        </p:blipFill>
        <p:spPr>
          <a:xfrm>
            <a:off x="1143000" y="832125"/>
            <a:ext cx="6857999"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original Internet (ARPANET)</a:t>
            </a:r>
            <a:endParaRPr/>
          </a:p>
        </p:txBody>
      </p:sp>
      <p:sp>
        <p:nvSpPr>
          <p:cNvPr id="129" name="Google Shape;129;p2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Way back when the first Internet was created as the </a:t>
            </a:r>
            <a:r>
              <a:rPr lang="en" sz="1700"/>
              <a:t>Advanced Research Projects Agency Network by the Defense Department in 1969. The initial ARPANET configuration linked the University of California Los Angles, Augmentation Research Center at Stanford Research Institute, University of California Santa Barbara, and the University of Utah School of Computing. Each school connected one mini-computer to the network by an IMP (Interface Message Processor, an early router).</a:t>
            </a:r>
            <a:endParaRPr sz="1700"/>
          </a:p>
        </p:txBody>
      </p:sp>
      <p:pic>
        <p:nvPicPr>
          <p:cNvPr id="130" name="Google Shape;130;p25"/>
          <p:cNvPicPr preferRelativeResize="0"/>
          <p:nvPr/>
        </p:nvPicPr>
        <p:blipFill>
          <a:blip r:embed="rId3">
            <a:alphaModFix/>
          </a:blip>
          <a:stretch>
            <a:fillRect/>
          </a:stretch>
        </p:blipFill>
        <p:spPr>
          <a:xfrm>
            <a:off x="4843850" y="1052250"/>
            <a:ext cx="3988460"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original Internet (ARPANET)</a:t>
            </a:r>
            <a:endParaRPr/>
          </a:p>
        </p:txBody>
      </p:sp>
      <p:sp>
        <p:nvSpPr>
          <p:cNvPr id="136" name="Google Shape;136;p2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800"/>
              <a:t>The first "successful" host-to-host connection on the ARPANET was made between Stanford Research Institute (SRI) and UCLA at 10:30 pm PST on 29 October 1969. UCLA student programmer Charley Kline typed the command "login" but initially the SDS 940 crashed after he typed two characters. So the first message sent over the internet was "lo".</a:t>
            </a:r>
            <a:endParaRPr sz="1800"/>
          </a:p>
        </p:txBody>
      </p:sp>
      <p:pic>
        <p:nvPicPr>
          <p:cNvPr id="137" name="Google Shape;137;p26"/>
          <p:cNvPicPr preferRelativeResize="0"/>
          <p:nvPr/>
        </p:nvPicPr>
        <p:blipFill>
          <a:blip r:embed="rId3">
            <a:alphaModFix/>
          </a:blip>
          <a:stretch>
            <a:fillRect/>
          </a:stretch>
        </p:blipFill>
        <p:spPr>
          <a:xfrm>
            <a:off x="4843850" y="1052250"/>
            <a:ext cx="3988460"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7"/>
          <p:cNvPicPr preferRelativeResize="0"/>
          <p:nvPr/>
        </p:nvPicPr>
        <p:blipFill>
          <a:blip r:embed="rId3">
            <a:alphaModFix/>
          </a:blip>
          <a:stretch>
            <a:fillRect/>
          </a:stretch>
        </p:blipFill>
        <p:spPr>
          <a:xfrm>
            <a:off x="2449200" y="277450"/>
            <a:ext cx="6416890" cy="4594500"/>
          </a:xfrm>
          <a:prstGeom prst="rect">
            <a:avLst/>
          </a:prstGeom>
          <a:noFill/>
          <a:ln>
            <a:noFill/>
          </a:ln>
        </p:spPr>
      </p:pic>
      <p:sp>
        <p:nvSpPr>
          <p:cNvPr id="143" name="Google Shape;143;p27"/>
          <p:cNvSpPr txBox="1"/>
          <p:nvPr>
            <p:ph idx="1" type="body"/>
          </p:nvPr>
        </p:nvSpPr>
        <p:spPr>
          <a:xfrm>
            <a:off x="311700" y="277450"/>
            <a:ext cx="2137500" cy="4594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800"/>
              <a:t>The ARPANET as of 1977.</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90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Vocabulary</a:t>
            </a:r>
            <a:endParaRPr/>
          </a:p>
        </p:txBody>
      </p:sp>
      <p:sp>
        <p:nvSpPr>
          <p:cNvPr id="149" name="Google Shape;149;p28"/>
          <p:cNvSpPr txBox="1"/>
          <p:nvPr/>
        </p:nvSpPr>
        <p:spPr>
          <a:xfrm>
            <a:off x="438250" y="731200"/>
            <a:ext cx="6709800" cy="15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VT323"/>
                <a:ea typeface="VT323"/>
                <a:cs typeface="VT323"/>
                <a:sym typeface="VT323"/>
              </a:rPr>
              <a:t>Computing Device:</a:t>
            </a:r>
            <a:r>
              <a:rPr lang="en" sz="1700">
                <a:solidFill>
                  <a:schemeClr val="dk1"/>
                </a:solidFill>
                <a:latin typeface="VT323"/>
                <a:ea typeface="VT323"/>
                <a:cs typeface="VT323"/>
                <a:sym typeface="VT323"/>
              </a:rPr>
              <a:t> a machine that can run a program, including computers, tablets, servers, routers, and smart sensors</a:t>
            </a:r>
            <a:endParaRPr b="1" sz="1700">
              <a:solidFill>
                <a:schemeClr val="dk1"/>
              </a:solidFill>
              <a:latin typeface="VT323"/>
              <a:ea typeface="VT323"/>
              <a:cs typeface="VT323"/>
              <a:sym typeface="VT323"/>
            </a:endParaRPr>
          </a:p>
          <a:p>
            <a:pPr indent="0" lvl="0" marL="0" rtl="0" algn="l">
              <a:spcBef>
                <a:spcPts val="0"/>
              </a:spcBef>
              <a:spcAft>
                <a:spcPts val="0"/>
              </a:spcAft>
              <a:buNone/>
            </a:pPr>
            <a:r>
              <a:t/>
            </a:r>
            <a:endParaRPr b="1" sz="1700">
              <a:solidFill>
                <a:schemeClr val="dk1"/>
              </a:solidFill>
              <a:latin typeface="VT323"/>
              <a:ea typeface="VT323"/>
              <a:cs typeface="VT323"/>
              <a:sym typeface="VT323"/>
            </a:endParaRPr>
          </a:p>
          <a:p>
            <a:pPr indent="0" lvl="0" marL="0" rtl="0" algn="l">
              <a:spcBef>
                <a:spcPts val="0"/>
              </a:spcBef>
              <a:spcAft>
                <a:spcPts val="0"/>
              </a:spcAft>
              <a:buNone/>
            </a:pPr>
            <a:r>
              <a:rPr b="1" lang="en" sz="1700">
                <a:solidFill>
                  <a:schemeClr val="dk1"/>
                </a:solidFill>
                <a:latin typeface="VT323"/>
                <a:ea typeface="VT323"/>
                <a:cs typeface="VT323"/>
                <a:sym typeface="VT323"/>
              </a:rPr>
              <a:t>Computing System: </a:t>
            </a:r>
            <a:r>
              <a:rPr lang="en" sz="1700">
                <a:solidFill>
                  <a:schemeClr val="dk1"/>
                </a:solidFill>
                <a:latin typeface="VT323"/>
                <a:ea typeface="VT323"/>
                <a:cs typeface="VT323"/>
                <a:sym typeface="VT323"/>
              </a:rPr>
              <a:t>a group of computing devices and programs working together for a common purpose</a:t>
            </a:r>
            <a:endParaRPr b="1" sz="3100">
              <a:solidFill>
                <a:schemeClr val="dk1"/>
              </a:solidFill>
              <a:latin typeface="VT323"/>
              <a:ea typeface="VT323"/>
              <a:cs typeface="VT323"/>
              <a:sym typeface="VT323"/>
            </a:endParaRPr>
          </a:p>
        </p:txBody>
      </p:sp>
      <p:pic>
        <p:nvPicPr>
          <p:cNvPr id="150" name="Google Shape;150;p28"/>
          <p:cNvPicPr preferRelativeResize="0"/>
          <p:nvPr/>
        </p:nvPicPr>
        <p:blipFill>
          <a:blip r:embed="rId3">
            <a:alphaModFix/>
          </a:blip>
          <a:stretch>
            <a:fillRect/>
          </a:stretch>
        </p:blipFill>
        <p:spPr>
          <a:xfrm>
            <a:off x="6947909" y="513225"/>
            <a:ext cx="1266484" cy="854357"/>
          </a:xfrm>
          <a:prstGeom prst="rect">
            <a:avLst/>
          </a:prstGeom>
          <a:noFill/>
          <a:ln>
            <a:noFill/>
          </a:ln>
        </p:spPr>
      </p:pic>
      <p:pic>
        <p:nvPicPr>
          <p:cNvPr id="151" name="Google Shape;151;p28"/>
          <p:cNvPicPr preferRelativeResize="0"/>
          <p:nvPr/>
        </p:nvPicPr>
        <p:blipFill>
          <a:blip r:embed="rId4">
            <a:alphaModFix/>
          </a:blip>
          <a:stretch>
            <a:fillRect/>
          </a:stretch>
        </p:blipFill>
        <p:spPr>
          <a:xfrm>
            <a:off x="6627813" y="1549498"/>
            <a:ext cx="1629330" cy="854357"/>
          </a:xfrm>
          <a:prstGeom prst="rect">
            <a:avLst/>
          </a:prstGeom>
          <a:noFill/>
          <a:ln>
            <a:noFill/>
          </a:ln>
        </p:spPr>
      </p:pic>
      <p:pic>
        <p:nvPicPr>
          <p:cNvPr id="152" name="Google Shape;152;p28"/>
          <p:cNvPicPr preferRelativeResize="0"/>
          <p:nvPr/>
        </p:nvPicPr>
        <p:blipFill>
          <a:blip r:embed="rId5">
            <a:alphaModFix/>
          </a:blip>
          <a:stretch>
            <a:fillRect/>
          </a:stretch>
        </p:blipFill>
        <p:spPr>
          <a:xfrm>
            <a:off x="363075" y="2436136"/>
            <a:ext cx="1756646" cy="1317343"/>
          </a:xfrm>
          <a:prstGeom prst="rect">
            <a:avLst/>
          </a:prstGeom>
          <a:noFill/>
          <a:ln>
            <a:noFill/>
          </a:ln>
        </p:spPr>
      </p:pic>
      <p:sp>
        <p:nvSpPr>
          <p:cNvPr id="153" name="Google Shape;153;p28"/>
          <p:cNvSpPr txBox="1"/>
          <p:nvPr/>
        </p:nvSpPr>
        <p:spPr>
          <a:xfrm>
            <a:off x="2082200" y="2436125"/>
            <a:ext cx="2541000" cy="17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VT323"/>
                <a:ea typeface="VT323"/>
                <a:cs typeface="VT323"/>
                <a:sym typeface="VT323"/>
              </a:rPr>
              <a:t>Computing Network: </a:t>
            </a:r>
            <a:r>
              <a:rPr lang="en" sz="1700">
                <a:solidFill>
                  <a:schemeClr val="dk1"/>
                </a:solidFill>
                <a:latin typeface="VT323"/>
                <a:ea typeface="VT323"/>
                <a:cs typeface="VT323"/>
                <a:sym typeface="VT323"/>
              </a:rPr>
              <a:t>a group of interconnected computing devices capable of sending or receiving data. </a:t>
            </a:r>
            <a:endParaRPr sz="1700">
              <a:solidFill>
                <a:schemeClr val="dk1"/>
              </a:solidFill>
              <a:latin typeface="VT323"/>
              <a:ea typeface="VT323"/>
              <a:cs typeface="VT323"/>
              <a:sym typeface="VT323"/>
            </a:endParaRPr>
          </a:p>
        </p:txBody>
      </p:sp>
      <p:sp>
        <p:nvSpPr>
          <p:cNvPr id="154" name="Google Shape;154;p28"/>
          <p:cNvSpPr txBox="1"/>
          <p:nvPr/>
        </p:nvSpPr>
        <p:spPr>
          <a:xfrm>
            <a:off x="6604200" y="2462075"/>
            <a:ext cx="2228100" cy="19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VT323"/>
                <a:ea typeface="VT323"/>
                <a:cs typeface="VT323"/>
                <a:sym typeface="VT323"/>
              </a:rPr>
              <a:t>Path: </a:t>
            </a:r>
            <a:r>
              <a:rPr lang="en" sz="1700">
                <a:solidFill>
                  <a:schemeClr val="dk1"/>
                </a:solidFill>
                <a:latin typeface="VT323"/>
                <a:ea typeface="VT323"/>
                <a:cs typeface="VT323"/>
                <a:sym typeface="VT323"/>
              </a:rPr>
              <a:t>the series of connections between computing devices on a network starting with a sender and ending with a receiver.</a:t>
            </a:r>
            <a:endParaRPr sz="1300">
              <a:solidFill>
                <a:schemeClr val="dk1"/>
              </a:solidFill>
              <a:latin typeface="VT323"/>
              <a:ea typeface="VT323"/>
              <a:cs typeface="VT323"/>
              <a:sym typeface="VT323"/>
            </a:endParaRPr>
          </a:p>
        </p:txBody>
      </p:sp>
      <p:pic>
        <p:nvPicPr>
          <p:cNvPr id="155" name="Google Shape;155;p28"/>
          <p:cNvPicPr preferRelativeResize="0"/>
          <p:nvPr/>
        </p:nvPicPr>
        <p:blipFill>
          <a:blip r:embed="rId6">
            <a:alphaModFix/>
          </a:blip>
          <a:stretch>
            <a:fillRect/>
          </a:stretch>
        </p:blipFill>
        <p:spPr>
          <a:xfrm>
            <a:off x="4623208" y="2462072"/>
            <a:ext cx="1926773" cy="1444921"/>
          </a:xfrm>
          <a:prstGeom prst="rect">
            <a:avLst/>
          </a:prstGeom>
          <a:noFill/>
          <a:ln>
            <a:noFill/>
          </a:ln>
        </p:spPr>
      </p:pic>
      <p:sp>
        <p:nvSpPr>
          <p:cNvPr id="156" name="Google Shape;156;p28"/>
          <p:cNvSpPr txBox="1"/>
          <p:nvPr/>
        </p:nvSpPr>
        <p:spPr>
          <a:xfrm>
            <a:off x="2552875" y="3907000"/>
            <a:ext cx="4074900" cy="9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VT323"/>
                <a:ea typeface="VT323"/>
                <a:cs typeface="VT323"/>
                <a:sym typeface="VT323"/>
              </a:rPr>
              <a:t>Bandwidth: </a:t>
            </a:r>
            <a:r>
              <a:rPr lang="en" sz="1700">
                <a:solidFill>
                  <a:schemeClr val="dk1"/>
                </a:solidFill>
                <a:latin typeface="VT323"/>
                <a:ea typeface="VT323"/>
                <a:cs typeface="VT323"/>
                <a:sym typeface="VT323"/>
              </a:rPr>
              <a:t>the maximum amount of data that can be sent in a fixed amount of time, usually measured in bits per second. </a:t>
            </a:r>
            <a:endParaRPr sz="1300">
              <a:solidFill>
                <a:schemeClr val="dk1"/>
              </a:solidFill>
              <a:latin typeface="VT323"/>
              <a:ea typeface="VT323"/>
              <a:cs typeface="VT323"/>
              <a:sym typeface="VT323"/>
            </a:endParaRPr>
          </a:p>
        </p:txBody>
      </p:sp>
      <p:pic>
        <p:nvPicPr>
          <p:cNvPr id="157" name="Google Shape;157;p28"/>
          <p:cNvPicPr preferRelativeResize="0"/>
          <p:nvPr/>
        </p:nvPicPr>
        <p:blipFill>
          <a:blip r:embed="rId7">
            <a:alphaModFix/>
          </a:blip>
          <a:stretch>
            <a:fillRect/>
          </a:stretch>
        </p:blipFill>
        <p:spPr>
          <a:xfrm>
            <a:off x="363066" y="4234934"/>
            <a:ext cx="2227997" cy="4032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9"/>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63" name="Google Shape;163;p29"/>
          <p:cNvPicPr preferRelativeResize="0"/>
          <p:nvPr/>
        </p:nvPicPr>
        <p:blipFill>
          <a:blip r:embed="rId4">
            <a:alphaModFix/>
          </a:blip>
          <a:stretch>
            <a:fillRect/>
          </a:stretch>
        </p:blipFill>
        <p:spPr>
          <a:xfrm>
            <a:off x="1143000" y="0"/>
            <a:ext cx="6857999" cy="5143500"/>
          </a:xfrm>
          <a:prstGeom prst="rect">
            <a:avLst/>
          </a:prstGeom>
          <a:noFill/>
          <a:ln>
            <a:noFill/>
          </a:ln>
        </p:spPr>
      </p:pic>
      <p:pic>
        <p:nvPicPr>
          <p:cNvPr id="164" name="Google Shape;164;p29"/>
          <p:cNvPicPr preferRelativeResize="0"/>
          <p:nvPr/>
        </p:nvPicPr>
        <p:blipFill>
          <a:blip r:embed="rId3">
            <a:alphaModFix/>
          </a:blip>
          <a:stretch>
            <a:fillRect/>
          </a:stretch>
        </p:blipFill>
        <p:spPr>
          <a:xfrm>
            <a:off x="1143000" y="1763300"/>
            <a:ext cx="6857999"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Check</a:t>
            </a:r>
            <a:endParaRPr/>
          </a:p>
        </p:txBody>
      </p:sp>
      <p:sp>
        <p:nvSpPr>
          <p:cNvPr id="170" name="Google Shape;170;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Go to </a:t>
            </a:r>
            <a:r>
              <a:rPr lang="en" u="sng">
                <a:solidFill>
                  <a:schemeClr val="hlink"/>
                </a:solidFill>
                <a:hlinkClick r:id="rId3"/>
              </a:rPr>
              <a:t>code.org</a:t>
            </a:r>
            <a:r>
              <a:rPr lang="en"/>
              <a:t> and answer the one question.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64">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