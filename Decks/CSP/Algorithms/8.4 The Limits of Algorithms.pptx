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</p:sldIdLst>
  <p:sldSz cy="5143500" cx="9144000"/>
  <p:notesSz cx="6858000" cy="9144000"/>
  <p:embeddedFontLst>
    <p:embeddedFont>
      <p:font typeface="Proxima Nova"/>
      <p:regular r:id="rId29"/>
      <p:bold r:id="rId30"/>
      <p:italic r:id="rId31"/>
      <p:boldItalic r:id="rId32"/>
    </p:embeddedFont>
    <p:embeddedFont>
      <p:font typeface="Coming Soon"/>
      <p:regular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36311AA7-AC00-45CB-8FA7-CDD222BCB538}">
  <a:tblStyle styleId="{36311AA7-AC00-45CB-8FA7-CDD222BCB538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font" Target="fonts/ProximaNova-regular.fntdata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1" Type="http://schemas.openxmlformats.org/officeDocument/2006/relationships/font" Target="fonts/ProximaNova-italic.fntdata"/><Relationship Id="rId30" Type="http://schemas.openxmlformats.org/officeDocument/2006/relationships/font" Target="fonts/ProximaNova-bold.fntdata"/><Relationship Id="rId11" Type="http://schemas.openxmlformats.org/officeDocument/2006/relationships/slide" Target="slides/slide4.xml"/><Relationship Id="rId33" Type="http://schemas.openxmlformats.org/officeDocument/2006/relationships/font" Target="fonts/ComingSoon-regular.fntdata"/><Relationship Id="rId10" Type="http://schemas.openxmlformats.org/officeDocument/2006/relationships/slide" Target="slides/slide3.xml"/><Relationship Id="rId32" Type="http://schemas.openxmlformats.org/officeDocument/2006/relationships/font" Target="fonts/ProximaNova-boldItalic.fntdata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601920dc65_0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601920dc65_0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SLIDES_API924069537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9" name="Google Shape;99;SLIDES_API924069537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SLIDES_API13769409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SLIDES_API13769409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61d3874ec2_0_1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61d3874ec2_0_1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61d3874ec2_0_2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" name="Google Shape;146;g61d3874ec2_0_2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61d3874ec2_0_2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61d3874ec2_0_2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g61d3874ec2_0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5" name="Google Shape;225;g61d3874ec2_0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g63a0eb5dba_7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6" name="Google Shape;236;g63a0eb5dba_7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g61d3874ec2_0_3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0" name="Google Shape;250;g61d3874ec2_0_3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60297952f2_0_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4" name="Google Shape;264;g60297952f2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61d3874ec2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61d3874ec2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g61d3874ec2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5" name="Google Shape;285;g61d3874ec2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g61d3874ec2_0_3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6" name="Google Shape;296;g61d3874ec2_0_3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g61d3874ec2_0_4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7" name="Google Shape;307;g61d3874ec2_0_4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g61d3874ec2_0_4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7" name="Google Shape;317;g61d3874ec2_0_4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g61d3874ec2_0_4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0" name="Google Shape;340;g61d3874ec2_0_4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6489424040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648942404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4" name="Shape 3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5" name="Google Shape;365;SLIDES_API1669123136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6" name="Google Shape;366;SLIDES_API1669123136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g648784178e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2" name="Google Shape;372;g648784178e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g601920dc65_0_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2" name="Google Shape;382;g601920dc65_0_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SLIDES_API54848018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8" name="Google Shape;388;SLIDES_API54848018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00ADBC"/>
        </a:solidFill>
      </p:bgPr>
    </p:bg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roxima Nova"/>
              <a:buNone/>
              <a:defRPr b="1" sz="3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" name="Google Shape;16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2" name="Google Shape;22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6"/>
          <p:cNvSpPr txBox="1"/>
          <p:nvPr>
            <p:ph type="title"/>
          </p:nvPr>
        </p:nvSpPr>
        <p:spPr>
          <a:xfrm>
            <a:off x="0" y="2285400"/>
            <a:ext cx="9144000" cy="572700"/>
          </a:xfrm>
          <a:prstGeom prst="rect">
            <a:avLst/>
          </a:prstGeom>
          <a:solidFill>
            <a:srgbClr val="00ADBC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roxima Nova"/>
              <a:buNone/>
              <a:defRPr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5" name="Google Shape;25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Google Shape;27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8" name="Google Shape;28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6" name="Google Shape;36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7" name="Google Shape;37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8" name="Google Shape;38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39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1" name="Google Shape;41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4" name="Google Shape;4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4" name="Google Shape;54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5" name="Google Shape;55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rgbClr val="00ADBC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Font typeface="Proxima Nova"/>
              <a:buNone/>
              <a:defRPr b="1" sz="3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5" name="Google Shape;65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6" name="Google Shape;66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8"/>
          <p:cNvSpPr txBox="1"/>
          <p:nvPr>
            <p:ph type="title"/>
          </p:nvPr>
        </p:nvSpPr>
        <p:spPr>
          <a:xfrm>
            <a:off x="0" y="2285400"/>
            <a:ext cx="9144000" cy="572700"/>
          </a:xfrm>
          <a:prstGeom prst="rect">
            <a:avLst/>
          </a:prstGeom>
          <a:solidFill>
            <a:srgbClr val="00ADBC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Font typeface="Proxima Nova"/>
              <a:buNone/>
              <a:defRPr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9" name="Google Shape;69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2" name="Google Shape;72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3" name="Google Shape;73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6" name="Google Shape;76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0" name="Google Shape;80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1" name="Google Shape;81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5" name="Google Shape;85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8" name="Google Shape;88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9" name="Google Shape;89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Proxima Nova"/>
              <a:buNone/>
              <a:defRPr sz="2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  <a:defRPr sz="1800">
                <a:latin typeface="Proxima Nova"/>
                <a:ea typeface="Proxima Nova"/>
                <a:cs typeface="Proxima Nova"/>
                <a:sym typeface="Proxima Nova"/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●"/>
              <a:defRPr>
                <a:latin typeface="Proxima Nova"/>
                <a:ea typeface="Proxima Nova"/>
                <a:cs typeface="Proxima Nova"/>
                <a:sym typeface="Proxima Nova"/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Proxima Nova"/>
              <a:buChar char="○"/>
              <a:defRPr>
                <a:latin typeface="Proxima Nova"/>
                <a:ea typeface="Proxima Nova"/>
                <a:cs typeface="Proxima Nova"/>
                <a:sym typeface="Proxima Nova"/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Proxima Nova"/>
              <a:buChar char="■"/>
              <a:defRPr>
                <a:latin typeface="Proxima Nova"/>
                <a:ea typeface="Proxima Nova"/>
                <a:cs typeface="Proxima Nova"/>
                <a:sym typeface="Proxima Nova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buNone/>
              <a:defRPr sz="1000">
                <a:solidFill>
                  <a:schemeClr val="dk2"/>
                </a:solidFill>
              </a:defRPr>
            </a:lvl1pPr>
            <a:lvl2pPr lvl="1" rtl="0" algn="r">
              <a:buNone/>
              <a:defRPr sz="1000">
                <a:solidFill>
                  <a:schemeClr val="dk2"/>
                </a:solidFill>
              </a:defRPr>
            </a:lvl2pPr>
            <a:lvl3pPr lvl="2" rtl="0" algn="r">
              <a:buNone/>
              <a:defRPr sz="1000">
                <a:solidFill>
                  <a:schemeClr val="dk2"/>
                </a:solidFill>
              </a:defRPr>
            </a:lvl3pPr>
            <a:lvl4pPr lvl="3" rtl="0" algn="r">
              <a:buNone/>
              <a:defRPr sz="1000">
                <a:solidFill>
                  <a:schemeClr val="dk2"/>
                </a:solidFill>
              </a:defRPr>
            </a:lvl4pPr>
            <a:lvl5pPr lvl="4" rtl="0" algn="r">
              <a:buNone/>
              <a:defRPr sz="1000">
                <a:solidFill>
                  <a:schemeClr val="dk2"/>
                </a:solidFill>
              </a:defRPr>
            </a:lvl5pPr>
            <a:lvl6pPr lvl="5" rtl="0" algn="r">
              <a:buNone/>
              <a:defRPr sz="1000">
                <a:solidFill>
                  <a:schemeClr val="dk2"/>
                </a:solidFill>
              </a:defRPr>
            </a:lvl6pPr>
            <a:lvl7pPr lvl="6" rtl="0" algn="r">
              <a:buNone/>
              <a:defRPr sz="1000">
                <a:solidFill>
                  <a:schemeClr val="dk2"/>
                </a:solidFill>
              </a:defRPr>
            </a:lvl7pPr>
            <a:lvl8pPr lvl="7" rtl="0" algn="r">
              <a:buNone/>
              <a:defRPr sz="1000">
                <a:solidFill>
                  <a:schemeClr val="dk2"/>
                </a:solidFill>
              </a:defRPr>
            </a:lvl8pPr>
            <a:lvl9pPr lvl="8" rtl="0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3.png"/><Relationship Id="rId4" Type="http://schemas.openxmlformats.org/officeDocument/2006/relationships/image" Target="../media/image7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.png"/><Relationship Id="rId4" Type="http://schemas.openxmlformats.org/officeDocument/2006/relationships/hyperlink" Target="https://studio.code.org/s/csp10-2023/lessons/4/levels/1" TargetMode="External"/><Relationship Id="rId5" Type="http://schemas.openxmlformats.org/officeDocument/2006/relationships/image" Target="../media/image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.png"/><Relationship Id="rId4" Type="http://schemas.openxmlformats.org/officeDocument/2006/relationships/hyperlink" Target="https://studio.code.org/s/csp10-2023/lessons/4/levels/2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12.jpg"/><Relationship Id="rId4" Type="http://schemas.openxmlformats.org/officeDocument/2006/relationships/image" Target="../media/image16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3.png"/><Relationship Id="rId4" Type="http://schemas.openxmlformats.org/officeDocument/2006/relationships/image" Target="../media/image9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/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Unit 8 - Lesson 4</a:t>
            </a:r>
            <a:endParaRPr b="1" sz="36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solidFill>
                  <a:srgbClr val="FFFFFF"/>
                </a:solidFill>
                <a:latin typeface="Proxima Nova"/>
                <a:ea typeface="Proxima Nova"/>
                <a:cs typeface="Proxima Nova"/>
                <a:sym typeface="Proxima Nova"/>
              </a:rPr>
              <a:t>The Limits of Algorithms</a:t>
            </a:r>
            <a:endParaRPr b="1" sz="3600">
              <a:solidFill>
                <a:srgbClr val="FFFFFF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1" name="Google Shape;101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2" name="Google Shape;102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3" name="Google Shape;103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82510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Google Shape;108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642938"/>
            <a:ext cx="6858000" cy="3857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8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Activity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115" name="Google Shape;115;p28"/>
          <p:cNvGrpSpPr/>
          <p:nvPr/>
        </p:nvGrpSpPr>
        <p:grpSpPr>
          <a:xfrm>
            <a:off x="8318125" y="86900"/>
            <a:ext cx="747550" cy="183300"/>
            <a:chOff x="7547375" y="86900"/>
            <a:chExt cx="747550" cy="183300"/>
          </a:xfrm>
        </p:grpSpPr>
        <p:sp>
          <p:nvSpPr>
            <p:cNvPr id="116" name="Google Shape;116;p28"/>
            <p:cNvSpPr/>
            <p:nvPr/>
          </p:nvSpPr>
          <p:spPr>
            <a:xfrm>
              <a:off x="7547375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28"/>
            <p:cNvSpPr/>
            <p:nvPr/>
          </p:nvSpPr>
          <p:spPr>
            <a:xfrm>
              <a:off x="7829500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28"/>
            <p:cNvSpPr/>
            <p:nvPr/>
          </p:nvSpPr>
          <p:spPr>
            <a:xfrm>
              <a:off x="8111625" y="86900"/>
              <a:ext cx="183300" cy="183300"/>
            </a:xfrm>
            <a:prstGeom prst="ellipse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28"/>
          <p:cNvSpPr txBox="1"/>
          <p:nvPr/>
        </p:nvSpPr>
        <p:spPr>
          <a:xfrm>
            <a:off x="920200" y="1542999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1D8C74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1D8C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0" name="Google Shape;120;p28"/>
          <p:cNvSpPr txBox="1"/>
          <p:nvPr/>
        </p:nvSpPr>
        <p:spPr>
          <a:xfrm>
            <a:off x="920200" y="478500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1" name="Google Shape;121;p28"/>
          <p:cNvSpPr txBox="1"/>
          <p:nvPr/>
        </p:nvSpPr>
        <p:spPr>
          <a:xfrm>
            <a:off x="2173836" y="478500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2" name="Google Shape;122;p28"/>
          <p:cNvSpPr txBox="1"/>
          <p:nvPr/>
        </p:nvSpPr>
        <p:spPr>
          <a:xfrm>
            <a:off x="2173836" y="1542999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23" name="Google Shape;123;p28"/>
          <p:cNvCxnSpPr/>
          <p:nvPr/>
        </p:nvCxnSpPr>
        <p:spPr>
          <a:xfrm rot="10800000">
            <a:off x="1303725" y="1542875"/>
            <a:ext cx="0" cy="38100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4" name="Google Shape;124;p28"/>
          <p:cNvCxnSpPr/>
          <p:nvPr/>
        </p:nvCxnSpPr>
        <p:spPr>
          <a:xfrm>
            <a:off x="1706850" y="1231000"/>
            <a:ext cx="377700" cy="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5" name="Google Shape;125;p28"/>
          <p:cNvCxnSpPr/>
          <p:nvPr/>
        </p:nvCxnSpPr>
        <p:spPr>
          <a:xfrm>
            <a:off x="2547000" y="1529225"/>
            <a:ext cx="0" cy="40830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26" name="Google Shape;126;p28"/>
          <p:cNvCxnSpPr/>
          <p:nvPr/>
        </p:nvCxnSpPr>
        <p:spPr>
          <a:xfrm rot="10800000">
            <a:off x="1706850" y="2287950"/>
            <a:ext cx="399900" cy="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27" name="Google Shape;127;p28"/>
          <p:cNvSpPr txBox="1"/>
          <p:nvPr/>
        </p:nvSpPr>
        <p:spPr>
          <a:xfrm>
            <a:off x="3636488" y="1542999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1D8C74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1D8C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8" name="Google Shape;128;p28"/>
          <p:cNvSpPr txBox="1"/>
          <p:nvPr/>
        </p:nvSpPr>
        <p:spPr>
          <a:xfrm>
            <a:off x="3636488" y="478500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29" name="Google Shape;129;p28"/>
          <p:cNvSpPr txBox="1"/>
          <p:nvPr/>
        </p:nvSpPr>
        <p:spPr>
          <a:xfrm>
            <a:off x="4890123" y="478500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0" name="Google Shape;130;p28"/>
          <p:cNvSpPr txBox="1"/>
          <p:nvPr/>
        </p:nvSpPr>
        <p:spPr>
          <a:xfrm>
            <a:off x="4890123" y="1542999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31" name="Google Shape;131;p28"/>
          <p:cNvCxnSpPr/>
          <p:nvPr/>
        </p:nvCxnSpPr>
        <p:spPr>
          <a:xfrm flipH="1">
            <a:off x="4284513" y="1543199"/>
            <a:ext cx="733200" cy="57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2" name="Google Shape;132;p28"/>
          <p:cNvCxnSpPr/>
          <p:nvPr/>
        </p:nvCxnSpPr>
        <p:spPr>
          <a:xfrm>
            <a:off x="4431638" y="2341375"/>
            <a:ext cx="377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3" name="Google Shape;133;p28"/>
          <p:cNvCxnSpPr/>
          <p:nvPr/>
        </p:nvCxnSpPr>
        <p:spPr>
          <a:xfrm rot="10800000">
            <a:off x="4284513" y="1501149"/>
            <a:ext cx="733200" cy="57420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34" name="Google Shape;134;p28"/>
          <p:cNvCxnSpPr/>
          <p:nvPr/>
        </p:nvCxnSpPr>
        <p:spPr>
          <a:xfrm>
            <a:off x="4431638" y="1254950"/>
            <a:ext cx="377700" cy="0"/>
          </a:xfrm>
          <a:prstGeom prst="straightConnector1">
            <a:avLst/>
          </a:prstGeom>
          <a:noFill/>
          <a:ln cap="flat" cmpd="sng" w="28575">
            <a:solidFill>
              <a:srgbClr val="0000FF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35" name="Google Shape;135;p28"/>
          <p:cNvSpPr txBox="1"/>
          <p:nvPr/>
        </p:nvSpPr>
        <p:spPr>
          <a:xfrm>
            <a:off x="6511025" y="1542999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1D8C74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1D8C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6" name="Google Shape;136;p28"/>
          <p:cNvSpPr txBox="1"/>
          <p:nvPr/>
        </p:nvSpPr>
        <p:spPr>
          <a:xfrm>
            <a:off x="6511025" y="478500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7" name="Google Shape;137;p28"/>
          <p:cNvSpPr txBox="1"/>
          <p:nvPr/>
        </p:nvSpPr>
        <p:spPr>
          <a:xfrm>
            <a:off x="7764661" y="478500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38" name="Google Shape;138;p28"/>
          <p:cNvSpPr txBox="1"/>
          <p:nvPr/>
        </p:nvSpPr>
        <p:spPr>
          <a:xfrm>
            <a:off x="7764661" y="1542999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39" name="Google Shape;139;p28"/>
          <p:cNvCxnSpPr/>
          <p:nvPr/>
        </p:nvCxnSpPr>
        <p:spPr>
          <a:xfrm>
            <a:off x="7202050" y="1501149"/>
            <a:ext cx="733200" cy="574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0" name="Google Shape;140;p28"/>
          <p:cNvCxnSpPr/>
          <p:nvPr/>
        </p:nvCxnSpPr>
        <p:spPr>
          <a:xfrm flipH="1">
            <a:off x="7159050" y="1501149"/>
            <a:ext cx="733200" cy="5742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1" name="Google Shape;141;p28"/>
          <p:cNvCxnSpPr/>
          <p:nvPr/>
        </p:nvCxnSpPr>
        <p:spPr>
          <a:xfrm rot="10800000">
            <a:off x="6864675" y="1542875"/>
            <a:ext cx="0" cy="3810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42" name="Google Shape;142;p28"/>
          <p:cNvCxnSpPr/>
          <p:nvPr/>
        </p:nvCxnSpPr>
        <p:spPr>
          <a:xfrm rot="10800000">
            <a:off x="8118325" y="1542875"/>
            <a:ext cx="0" cy="381000"/>
          </a:xfrm>
          <a:prstGeom prst="straightConnector1">
            <a:avLst/>
          </a:prstGeom>
          <a:noFill/>
          <a:ln cap="flat" cmpd="sng" w="28575">
            <a:solidFill>
              <a:srgbClr val="00FF00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43" name="Google Shape;143;p28"/>
          <p:cNvSpPr txBox="1"/>
          <p:nvPr/>
        </p:nvSpPr>
        <p:spPr>
          <a:xfrm>
            <a:off x="2455175" y="2894100"/>
            <a:ext cx="5487300" cy="17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Here are a few different paths you might take.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roxima Nova"/>
                <a:ea typeface="Proxima Nova"/>
                <a:cs typeface="Proxima Nova"/>
                <a:sym typeface="Proxima Nova"/>
              </a:rPr>
              <a:t>Prompt: 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>
                <a:latin typeface="Proxima Nova"/>
                <a:ea typeface="Proxima Nova"/>
                <a:cs typeface="Proxima Nova"/>
                <a:sym typeface="Proxima Nova"/>
              </a:rPr>
              <a:t>What do you need to know to determine the best path?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29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Activity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149" name="Google Shape;149;p29"/>
          <p:cNvGrpSpPr/>
          <p:nvPr/>
        </p:nvGrpSpPr>
        <p:grpSpPr>
          <a:xfrm>
            <a:off x="8318125" y="86900"/>
            <a:ext cx="747550" cy="183300"/>
            <a:chOff x="7547375" y="86900"/>
            <a:chExt cx="747550" cy="183300"/>
          </a:xfrm>
        </p:grpSpPr>
        <p:sp>
          <p:nvSpPr>
            <p:cNvPr id="150" name="Google Shape;150;p29"/>
            <p:cNvSpPr/>
            <p:nvPr/>
          </p:nvSpPr>
          <p:spPr>
            <a:xfrm>
              <a:off x="7547375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29"/>
            <p:cNvSpPr/>
            <p:nvPr/>
          </p:nvSpPr>
          <p:spPr>
            <a:xfrm>
              <a:off x="7829500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29"/>
            <p:cNvSpPr/>
            <p:nvPr/>
          </p:nvSpPr>
          <p:spPr>
            <a:xfrm>
              <a:off x="8111625" y="86900"/>
              <a:ext cx="183300" cy="183300"/>
            </a:xfrm>
            <a:prstGeom prst="ellipse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53" name="Google Shape;153;p29"/>
          <p:cNvSpPr txBox="1"/>
          <p:nvPr/>
        </p:nvSpPr>
        <p:spPr>
          <a:xfrm>
            <a:off x="920200" y="1542999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1D8C74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1D8C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4" name="Google Shape;154;p29"/>
          <p:cNvSpPr txBox="1"/>
          <p:nvPr/>
        </p:nvSpPr>
        <p:spPr>
          <a:xfrm>
            <a:off x="920200" y="478500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5" name="Google Shape;155;p29"/>
          <p:cNvSpPr txBox="1"/>
          <p:nvPr/>
        </p:nvSpPr>
        <p:spPr>
          <a:xfrm>
            <a:off x="2173836" y="478500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56" name="Google Shape;156;p29"/>
          <p:cNvSpPr txBox="1"/>
          <p:nvPr/>
        </p:nvSpPr>
        <p:spPr>
          <a:xfrm>
            <a:off x="2173836" y="1542999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57" name="Google Shape;157;p29"/>
          <p:cNvCxnSpPr/>
          <p:nvPr/>
        </p:nvCxnSpPr>
        <p:spPr>
          <a:xfrm rot="10800000">
            <a:off x="1303725" y="1542875"/>
            <a:ext cx="0" cy="38100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8" name="Google Shape;158;p29"/>
          <p:cNvCxnSpPr/>
          <p:nvPr/>
        </p:nvCxnSpPr>
        <p:spPr>
          <a:xfrm>
            <a:off x="1706850" y="1231000"/>
            <a:ext cx="377700" cy="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59" name="Google Shape;159;p29"/>
          <p:cNvCxnSpPr/>
          <p:nvPr/>
        </p:nvCxnSpPr>
        <p:spPr>
          <a:xfrm>
            <a:off x="2547000" y="1529225"/>
            <a:ext cx="0" cy="40830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0" name="Google Shape;160;p29"/>
          <p:cNvCxnSpPr/>
          <p:nvPr/>
        </p:nvCxnSpPr>
        <p:spPr>
          <a:xfrm rot="10800000">
            <a:off x="1706850" y="2287950"/>
            <a:ext cx="399900" cy="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1" name="Google Shape;161;p29"/>
          <p:cNvSpPr txBox="1"/>
          <p:nvPr/>
        </p:nvSpPr>
        <p:spPr>
          <a:xfrm>
            <a:off x="3636488" y="1542999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1D8C74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1D8C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2" name="Google Shape;162;p29"/>
          <p:cNvSpPr txBox="1"/>
          <p:nvPr/>
        </p:nvSpPr>
        <p:spPr>
          <a:xfrm>
            <a:off x="3636488" y="478500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3" name="Google Shape;163;p29"/>
          <p:cNvSpPr txBox="1"/>
          <p:nvPr/>
        </p:nvSpPr>
        <p:spPr>
          <a:xfrm>
            <a:off x="4890123" y="478500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64" name="Google Shape;164;p29"/>
          <p:cNvSpPr txBox="1"/>
          <p:nvPr/>
        </p:nvSpPr>
        <p:spPr>
          <a:xfrm>
            <a:off x="4890123" y="1542999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65" name="Google Shape;165;p29"/>
          <p:cNvCxnSpPr/>
          <p:nvPr/>
        </p:nvCxnSpPr>
        <p:spPr>
          <a:xfrm flipH="1">
            <a:off x="4284513" y="1543199"/>
            <a:ext cx="733200" cy="57420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6" name="Google Shape;166;p29"/>
          <p:cNvCxnSpPr/>
          <p:nvPr/>
        </p:nvCxnSpPr>
        <p:spPr>
          <a:xfrm>
            <a:off x="4431638" y="2341375"/>
            <a:ext cx="377700" cy="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7" name="Google Shape;167;p29"/>
          <p:cNvCxnSpPr/>
          <p:nvPr/>
        </p:nvCxnSpPr>
        <p:spPr>
          <a:xfrm rot="10800000">
            <a:off x="4284513" y="1501149"/>
            <a:ext cx="733200" cy="57420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68" name="Google Shape;168;p29"/>
          <p:cNvCxnSpPr/>
          <p:nvPr/>
        </p:nvCxnSpPr>
        <p:spPr>
          <a:xfrm>
            <a:off x="4431638" y="1254950"/>
            <a:ext cx="377700" cy="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69" name="Google Shape;169;p29"/>
          <p:cNvSpPr txBox="1"/>
          <p:nvPr/>
        </p:nvSpPr>
        <p:spPr>
          <a:xfrm>
            <a:off x="6511025" y="1542999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1D8C74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1D8C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0" name="Google Shape;170;p29"/>
          <p:cNvSpPr txBox="1"/>
          <p:nvPr/>
        </p:nvSpPr>
        <p:spPr>
          <a:xfrm>
            <a:off x="6511025" y="478500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1" name="Google Shape;171;p29"/>
          <p:cNvSpPr txBox="1"/>
          <p:nvPr/>
        </p:nvSpPr>
        <p:spPr>
          <a:xfrm>
            <a:off x="7764661" y="478500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2" name="Google Shape;172;p29"/>
          <p:cNvSpPr txBox="1"/>
          <p:nvPr/>
        </p:nvSpPr>
        <p:spPr>
          <a:xfrm>
            <a:off x="7764661" y="1542999"/>
            <a:ext cx="6174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cxnSp>
        <p:nvCxnSpPr>
          <p:cNvPr id="173" name="Google Shape;173;p29"/>
          <p:cNvCxnSpPr/>
          <p:nvPr/>
        </p:nvCxnSpPr>
        <p:spPr>
          <a:xfrm>
            <a:off x="7202050" y="1501149"/>
            <a:ext cx="733200" cy="57420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4" name="Google Shape;174;p29"/>
          <p:cNvCxnSpPr/>
          <p:nvPr/>
        </p:nvCxnSpPr>
        <p:spPr>
          <a:xfrm flipH="1">
            <a:off x="7159050" y="1501149"/>
            <a:ext cx="733200" cy="57420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5" name="Google Shape;175;p29"/>
          <p:cNvCxnSpPr/>
          <p:nvPr/>
        </p:nvCxnSpPr>
        <p:spPr>
          <a:xfrm rot="10800000">
            <a:off x="6864675" y="1542875"/>
            <a:ext cx="0" cy="38100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cxnSp>
        <p:nvCxnSpPr>
          <p:cNvPr id="176" name="Google Shape;176;p29"/>
          <p:cNvCxnSpPr/>
          <p:nvPr/>
        </p:nvCxnSpPr>
        <p:spPr>
          <a:xfrm rot="10800000">
            <a:off x="8118325" y="1542875"/>
            <a:ext cx="0" cy="381000"/>
          </a:xfrm>
          <a:prstGeom prst="straightConnector1">
            <a:avLst/>
          </a:prstGeom>
          <a:noFill/>
          <a:ln cap="flat" cmpd="sng" w="28575">
            <a:solidFill>
              <a:srgbClr val="DF5446"/>
            </a:solidFill>
            <a:prstDash val="solid"/>
            <a:round/>
            <a:headEnd len="med" w="med" type="none"/>
            <a:tailEnd len="med" w="med" type="triangle"/>
          </a:ln>
        </p:spPr>
      </p:cxnSp>
      <p:sp>
        <p:nvSpPr>
          <p:cNvPr id="177" name="Google Shape;177;p29"/>
          <p:cNvSpPr txBox="1"/>
          <p:nvPr/>
        </p:nvSpPr>
        <p:spPr>
          <a:xfrm>
            <a:off x="2130875" y="3427800"/>
            <a:ext cx="5487300" cy="106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4800">
                <a:latin typeface="Proxima Nova"/>
                <a:ea typeface="Proxima Nova"/>
                <a:cs typeface="Proxima Nova"/>
                <a:sym typeface="Proxima Nova"/>
              </a:rPr>
              <a:t>Distance!</a:t>
            </a:r>
            <a:endParaRPr b="1" sz="4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8" name="Google Shape;178;p29"/>
          <p:cNvSpPr txBox="1"/>
          <p:nvPr/>
        </p:nvSpPr>
        <p:spPr>
          <a:xfrm>
            <a:off x="926025" y="1510175"/>
            <a:ext cx="37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79" name="Google Shape;179;p29"/>
          <p:cNvSpPr txBox="1"/>
          <p:nvPr/>
        </p:nvSpPr>
        <p:spPr>
          <a:xfrm>
            <a:off x="2668775" y="1510175"/>
            <a:ext cx="37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0" name="Google Shape;180;p29"/>
          <p:cNvSpPr txBox="1"/>
          <p:nvPr/>
        </p:nvSpPr>
        <p:spPr>
          <a:xfrm>
            <a:off x="1717938" y="787650"/>
            <a:ext cx="37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1" name="Google Shape;181;p29"/>
          <p:cNvSpPr txBox="1"/>
          <p:nvPr/>
        </p:nvSpPr>
        <p:spPr>
          <a:xfrm>
            <a:off x="1729050" y="2287950"/>
            <a:ext cx="37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2" name="Google Shape;182;p29"/>
          <p:cNvSpPr txBox="1"/>
          <p:nvPr/>
        </p:nvSpPr>
        <p:spPr>
          <a:xfrm>
            <a:off x="4462275" y="2321538"/>
            <a:ext cx="37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3" name="Google Shape;183;p29"/>
          <p:cNvSpPr txBox="1"/>
          <p:nvPr/>
        </p:nvSpPr>
        <p:spPr>
          <a:xfrm>
            <a:off x="4431650" y="808550"/>
            <a:ext cx="37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4" name="Google Shape;184;p29"/>
          <p:cNvSpPr txBox="1"/>
          <p:nvPr/>
        </p:nvSpPr>
        <p:spPr>
          <a:xfrm>
            <a:off x="6511025" y="1565050"/>
            <a:ext cx="37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5" name="Google Shape;185;p29"/>
          <p:cNvSpPr txBox="1"/>
          <p:nvPr/>
        </p:nvSpPr>
        <p:spPr>
          <a:xfrm>
            <a:off x="8186625" y="1510175"/>
            <a:ext cx="37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6" name="Google Shape;186;p29"/>
          <p:cNvSpPr txBox="1"/>
          <p:nvPr/>
        </p:nvSpPr>
        <p:spPr>
          <a:xfrm>
            <a:off x="7202038" y="1234050"/>
            <a:ext cx="37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7" name="Google Shape;187;p29"/>
          <p:cNvSpPr txBox="1"/>
          <p:nvPr/>
        </p:nvSpPr>
        <p:spPr>
          <a:xfrm>
            <a:off x="7708663" y="1436275"/>
            <a:ext cx="37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8" name="Google Shape;188;p29"/>
          <p:cNvSpPr txBox="1"/>
          <p:nvPr/>
        </p:nvSpPr>
        <p:spPr>
          <a:xfrm>
            <a:off x="4807775" y="1510175"/>
            <a:ext cx="37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89" name="Google Shape;189;p29"/>
          <p:cNvSpPr txBox="1"/>
          <p:nvPr/>
        </p:nvSpPr>
        <p:spPr>
          <a:xfrm>
            <a:off x="4685663" y="1841550"/>
            <a:ext cx="377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0" name="Google Shape;190;p29"/>
          <p:cNvSpPr txBox="1"/>
          <p:nvPr/>
        </p:nvSpPr>
        <p:spPr>
          <a:xfrm>
            <a:off x="1537603" y="2767950"/>
            <a:ext cx="965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Total: 4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1" name="Google Shape;191;p29"/>
          <p:cNvSpPr txBox="1"/>
          <p:nvPr/>
        </p:nvSpPr>
        <p:spPr>
          <a:xfrm>
            <a:off x="4089153" y="2767950"/>
            <a:ext cx="965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Total: 6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192" name="Google Shape;192;p29"/>
          <p:cNvSpPr txBox="1"/>
          <p:nvPr/>
        </p:nvSpPr>
        <p:spPr>
          <a:xfrm>
            <a:off x="7128428" y="2794550"/>
            <a:ext cx="965700" cy="4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800">
                <a:solidFill>
                  <a:schemeClr val="dk2"/>
                </a:solidFill>
                <a:latin typeface="Proxima Nova"/>
                <a:ea typeface="Proxima Nova"/>
                <a:cs typeface="Proxima Nova"/>
                <a:sym typeface="Proxima Nova"/>
              </a:rPr>
              <a:t>Total: 6</a:t>
            </a:r>
            <a:endParaRPr b="1" sz="1800">
              <a:solidFill>
                <a:schemeClr val="dk2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0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Activity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198" name="Google Shape;198;p30"/>
          <p:cNvGrpSpPr/>
          <p:nvPr/>
        </p:nvGrpSpPr>
        <p:grpSpPr>
          <a:xfrm>
            <a:off x="8318125" y="86900"/>
            <a:ext cx="747550" cy="183300"/>
            <a:chOff x="7547375" y="86900"/>
            <a:chExt cx="747550" cy="183300"/>
          </a:xfrm>
        </p:grpSpPr>
        <p:sp>
          <p:nvSpPr>
            <p:cNvPr id="199" name="Google Shape;199;p30"/>
            <p:cNvSpPr/>
            <p:nvPr/>
          </p:nvSpPr>
          <p:spPr>
            <a:xfrm>
              <a:off x="7547375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30"/>
            <p:cNvSpPr/>
            <p:nvPr/>
          </p:nvSpPr>
          <p:spPr>
            <a:xfrm>
              <a:off x="7829500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" name="Google Shape;201;p30"/>
            <p:cNvSpPr/>
            <p:nvPr/>
          </p:nvSpPr>
          <p:spPr>
            <a:xfrm>
              <a:off x="8111625" y="86900"/>
              <a:ext cx="183300" cy="183300"/>
            </a:xfrm>
            <a:prstGeom prst="ellipse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02" name="Google Shape;202;p30"/>
          <p:cNvSpPr txBox="1"/>
          <p:nvPr/>
        </p:nvSpPr>
        <p:spPr>
          <a:xfrm>
            <a:off x="241625" y="494300"/>
            <a:ext cx="8763000" cy="102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roxima Nova"/>
                <a:ea typeface="Proxima Nova"/>
                <a:cs typeface="Proxima Nova"/>
                <a:sym typeface="Proxima Nova"/>
              </a:rPr>
              <a:t>Prompt: </a:t>
            </a:r>
            <a:r>
              <a:rPr lang="en" sz="2400">
                <a:latin typeface="Proxima Nova"/>
                <a:ea typeface="Proxima Nova"/>
                <a:cs typeface="Proxima Nova"/>
                <a:sym typeface="Proxima Nova"/>
              </a:rPr>
              <a:t>What if we had a lot more places to visit? How would we determine the best path?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3" name="Google Shape;203;p30"/>
          <p:cNvSpPr txBox="1"/>
          <p:nvPr/>
        </p:nvSpPr>
        <p:spPr>
          <a:xfrm>
            <a:off x="390038" y="3365550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1D8C74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1D8C74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4" name="Google Shape;204;p30"/>
          <p:cNvSpPr txBox="1"/>
          <p:nvPr/>
        </p:nvSpPr>
        <p:spPr>
          <a:xfrm>
            <a:off x="805538" y="2298075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241613" y="1426075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6" name="Google Shape;206;p30"/>
          <p:cNvSpPr txBox="1"/>
          <p:nvPr/>
        </p:nvSpPr>
        <p:spPr>
          <a:xfrm>
            <a:off x="1296613" y="1234625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7" name="Google Shape;207;p30"/>
          <p:cNvSpPr txBox="1"/>
          <p:nvPr/>
        </p:nvSpPr>
        <p:spPr>
          <a:xfrm>
            <a:off x="1821488" y="3643550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1966738" y="2449200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09" name="Google Shape;209;p30"/>
          <p:cNvSpPr txBox="1"/>
          <p:nvPr/>
        </p:nvSpPr>
        <p:spPr>
          <a:xfrm>
            <a:off x="2484463" y="1312150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0" name="Google Shape;210;p30"/>
          <p:cNvSpPr txBox="1"/>
          <p:nvPr/>
        </p:nvSpPr>
        <p:spPr>
          <a:xfrm>
            <a:off x="3095363" y="4050625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1" name="Google Shape;211;p30"/>
          <p:cNvSpPr txBox="1"/>
          <p:nvPr/>
        </p:nvSpPr>
        <p:spPr>
          <a:xfrm>
            <a:off x="2837438" y="3114125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3872963" y="1977100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3" name="Google Shape;213;p30"/>
          <p:cNvSpPr txBox="1"/>
          <p:nvPr/>
        </p:nvSpPr>
        <p:spPr>
          <a:xfrm>
            <a:off x="4240263" y="3555050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4886963" y="1071250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5" name="Google Shape;215;p30"/>
          <p:cNvSpPr txBox="1"/>
          <p:nvPr/>
        </p:nvSpPr>
        <p:spPr>
          <a:xfrm>
            <a:off x="5025038" y="2744950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6" name="Google Shape;216;p30"/>
          <p:cNvSpPr txBox="1"/>
          <p:nvPr/>
        </p:nvSpPr>
        <p:spPr>
          <a:xfrm>
            <a:off x="6137363" y="716975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7" name="Google Shape;217;p30"/>
          <p:cNvSpPr txBox="1"/>
          <p:nvPr/>
        </p:nvSpPr>
        <p:spPr>
          <a:xfrm>
            <a:off x="3445788" y="804900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8" name="Google Shape;218;p30"/>
          <p:cNvSpPr txBox="1"/>
          <p:nvPr/>
        </p:nvSpPr>
        <p:spPr>
          <a:xfrm>
            <a:off x="5900963" y="1802600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19" name="Google Shape;219;p30"/>
          <p:cNvSpPr txBox="1"/>
          <p:nvPr/>
        </p:nvSpPr>
        <p:spPr>
          <a:xfrm>
            <a:off x="8083338" y="3452225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0" name="Google Shape;220;p30"/>
          <p:cNvSpPr txBox="1"/>
          <p:nvPr/>
        </p:nvSpPr>
        <p:spPr>
          <a:xfrm>
            <a:off x="7964788" y="1426075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1" name="Google Shape;221;p30"/>
          <p:cNvSpPr txBox="1"/>
          <p:nvPr/>
        </p:nvSpPr>
        <p:spPr>
          <a:xfrm>
            <a:off x="6211638" y="3957600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22" name="Google Shape;222;p30"/>
          <p:cNvSpPr txBox="1"/>
          <p:nvPr/>
        </p:nvSpPr>
        <p:spPr>
          <a:xfrm>
            <a:off x="6992150" y="2298075"/>
            <a:ext cx="831000" cy="143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A400"/>
                </a:solidFill>
                <a:latin typeface="Proxima Nova"/>
                <a:ea typeface="Proxima Nova"/>
                <a:cs typeface="Proxima Nova"/>
                <a:sym typeface="Proxima Nova"/>
              </a:rPr>
              <a:t>⌂</a:t>
            </a:r>
            <a:endParaRPr sz="7200">
              <a:solidFill>
                <a:srgbClr val="FFA400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31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Activity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28" name="Google Shape;228;p31"/>
          <p:cNvGrpSpPr/>
          <p:nvPr/>
        </p:nvGrpSpPr>
        <p:grpSpPr>
          <a:xfrm>
            <a:off x="8318125" y="86900"/>
            <a:ext cx="747550" cy="183300"/>
            <a:chOff x="7547375" y="86900"/>
            <a:chExt cx="747550" cy="183300"/>
          </a:xfrm>
        </p:grpSpPr>
        <p:sp>
          <p:nvSpPr>
            <p:cNvPr id="229" name="Google Shape;229;p31"/>
            <p:cNvSpPr/>
            <p:nvPr/>
          </p:nvSpPr>
          <p:spPr>
            <a:xfrm>
              <a:off x="7547375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31"/>
            <p:cNvSpPr/>
            <p:nvPr/>
          </p:nvSpPr>
          <p:spPr>
            <a:xfrm>
              <a:off x="7829500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" name="Google Shape;231;p31"/>
            <p:cNvSpPr/>
            <p:nvPr/>
          </p:nvSpPr>
          <p:spPr>
            <a:xfrm>
              <a:off x="8111625" y="86900"/>
              <a:ext cx="183300" cy="183300"/>
            </a:xfrm>
            <a:prstGeom prst="ellipse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32" name="Google Shape;232;p31"/>
          <p:cNvSpPr txBox="1"/>
          <p:nvPr/>
        </p:nvSpPr>
        <p:spPr>
          <a:xfrm>
            <a:off x="227300" y="322350"/>
            <a:ext cx="8763000" cy="174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This is known as the </a:t>
            </a:r>
            <a:r>
              <a:rPr b="1" lang="en" sz="1800">
                <a:latin typeface="Proxima Nova"/>
                <a:ea typeface="Proxima Nova"/>
                <a:cs typeface="Proxima Nova"/>
                <a:sym typeface="Proxima Nova"/>
              </a:rPr>
              <a:t>Traveling Salesman Problem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.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For every new place to visit, the number of options for possible paths increases factorialy.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233" name="Google Shape;233;p31"/>
          <p:cNvGraphicFramePr/>
          <p:nvPr/>
        </p:nvGraphicFramePr>
        <p:xfrm>
          <a:off x="1734325" y="1686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{36311AA7-AC00-45CB-8FA7-CDD222BCB538}</a:tableStyleId>
              </a:tblPr>
              <a:tblGrid>
                <a:gridCol w="2874475"/>
                <a:gridCol w="2874475"/>
              </a:tblGrid>
              <a:tr h="2424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Number of houses to visit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Number of steps to check for the "best" path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6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24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120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6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720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7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5,040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8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40,320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9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362,880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3,628,800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32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Activity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39" name="Google Shape;239;p32"/>
          <p:cNvGrpSpPr/>
          <p:nvPr/>
        </p:nvGrpSpPr>
        <p:grpSpPr>
          <a:xfrm>
            <a:off x="8318125" y="86900"/>
            <a:ext cx="747550" cy="183300"/>
            <a:chOff x="7547375" y="86900"/>
            <a:chExt cx="747550" cy="183300"/>
          </a:xfrm>
        </p:grpSpPr>
        <p:sp>
          <p:nvSpPr>
            <p:cNvPr id="240" name="Google Shape;240;p32"/>
            <p:cNvSpPr/>
            <p:nvPr/>
          </p:nvSpPr>
          <p:spPr>
            <a:xfrm>
              <a:off x="7547375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" name="Google Shape;241;p32"/>
            <p:cNvSpPr/>
            <p:nvPr/>
          </p:nvSpPr>
          <p:spPr>
            <a:xfrm>
              <a:off x="7829500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" name="Google Shape;242;p32"/>
            <p:cNvSpPr/>
            <p:nvPr/>
          </p:nvSpPr>
          <p:spPr>
            <a:xfrm>
              <a:off x="8111625" y="86900"/>
              <a:ext cx="183300" cy="183300"/>
            </a:xfrm>
            <a:prstGeom prst="ellipse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43" name="Google Shape;243;p32"/>
          <p:cNvSpPr txBox="1"/>
          <p:nvPr/>
        </p:nvSpPr>
        <p:spPr>
          <a:xfrm>
            <a:off x="227300" y="322350"/>
            <a:ext cx="8763000" cy="77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roxima Nova"/>
                <a:ea typeface="Proxima Nova"/>
                <a:cs typeface="Proxima Nova"/>
                <a:sym typeface="Proxima Nova"/>
              </a:rPr>
              <a:t>Factorial fun: </a:t>
            </a:r>
            <a:r>
              <a:rPr b="1" lang="en" sz="2400">
                <a:solidFill>
                  <a:srgbClr val="DF5446"/>
                </a:solidFill>
                <a:latin typeface="Proxima Nova"/>
                <a:ea typeface="Proxima Nova"/>
                <a:cs typeface="Proxima Nova"/>
                <a:sym typeface="Proxima Nova"/>
              </a:rPr>
              <a:t>n!</a:t>
            </a:r>
            <a:endParaRPr b="1" sz="2400">
              <a:solidFill>
                <a:srgbClr val="DF5446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244" name="Google Shape;244;p32"/>
          <p:cNvGraphicFramePr/>
          <p:nvPr/>
        </p:nvGraphicFramePr>
        <p:xfrm>
          <a:off x="4525675" y="927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{36311AA7-AC00-45CB-8FA7-CDD222BCB538}</a:tableStyleId>
              </a:tblPr>
              <a:tblGrid>
                <a:gridCol w="1810650"/>
                <a:gridCol w="1566175"/>
              </a:tblGrid>
              <a:tr h="86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Number of houses to visit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Number of steps to check for the "best" path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6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24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120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6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720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7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5,040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8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40,320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9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362,880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2424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10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3,628,800</a:t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  <p:sp>
        <p:nvSpPr>
          <p:cNvPr id="245" name="Google Shape;245;p32"/>
          <p:cNvSpPr txBox="1"/>
          <p:nvPr/>
        </p:nvSpPr>
        <p:spPr>
          <a:xfrm>
            <a:off x="347825" y="1336350"/>
            <a:ext cx="4375200" cy="314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Here's how n! works: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Multiply all whole numbers from the given number down to the number 1. 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For example: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Instance: 4 houses to visit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4 x 3 x 2 x 1 = 24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Instance: 7 houses to visit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7 x 6 x 5 x 4 x 3 x 2 x 1 = 5,040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46" name="Google Shape;246;p32"/>
          <p:cNvSpPr/>
          <p:nvPr/>
        </p:nvSpPr>
        <p:spPr>
          <a:xfrm>
            <a:off x="6242925" y="3972775"/>
            <a:ext cx="1768200" cy="286500"/>
          </a:xfrm>
          <a:prstGeom prst="ellipse">
            <a:avLst/>
          </a:prstGeom>
          <a:noFill/>
          <a:ln cap="flat" cmpd="sng" w="381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7" name="Google Shape;247;p32"/>
          <p:cNvSpPr txBox="1"/>
          <p:nvPr/>
        </p:nvSpPr>
        <p:spPr>
          <a:xfrm>
            <a:off x="6505475" y="4290100"/>
            <a:ext cx="2560200" cy="59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That's a lot of possible paths to check for only 10 houses!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3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Activity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53" name="Google Shape;253;p33"/>
          <p:cNvGrpSpPr/>
          <p:nvPr/>
        </p:nvGrpSpPr>
        <p:grpSpPr>
          <a:xfrm>
            <a:off x="8318125" y="86900"/>
            <a:ext cx="747550" cy="183300"/>
            <a:chOff x="7547375" y="86900"/>
            <a:chExt cx="747550" cy="183300"/>
          </a:xfrm>
        </p:grpSpPr>
        <p:sp>
          <p:nvSpPr>
            <p:cNvPr id="254" name="Google Shape;254;p33"/>
            <p:cNvSpPr/>
            <p:nvPr/>
          </p:nvSpPr>
          <p:spPr>
            <a:xfrm>
              <a:off x="7547375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" name="Google Shape;255;p33"/>
            <p:cNvSpPr/>
            <p:nvPr/>
          </p:nvSpPr>
          <p:spPr>
            <a:xfrm>
              <a:off x="7829500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" name="Google Shape;256;p33"/>
            <p:cNvSpPr/>
            <p:nvPr/>
          </p:nvSpPr>
          <p:spPr>
            <a:xfrm>
              <a:off x="8111625" y="86900"/>
              <a:ext cx="183300" cy="183300"/>
            </a:xfrm>
            <a:prstGeom prst="ellipse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57" name="Google Shape;257;p33"/>
          <p:cNvSpPr/>
          <p:nvPr/>
        </p:nvSpPr>
        <p:spPr>
          <a:xfrm>
            <a:off x="850075" y="677900"/>
            <a:ext cx="7629300" cy="409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Problems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Any task that may (or may not) be solved with an algorithm.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Sorting a list is a problem. Sorting the list (2, 3, 1, 7) is an instance of that problem.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Two types of problems: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8" name="Google Shape;258;p33"/>
          <p:cNvSpPr/>
          <p:nvPr/>
        </p:nvSpPr>
        <p:spPr>
          <a:xfrm>
            <a:off x="1140625" y="2294600"/>
            <a:ext cx="3498900" cy="232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Decision Problems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“Is there a path?”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59" name="Google Shape;259;p33"/>
          <p:cNvSpPr/>
          <p:nvPr/>
        </p:nvSpPr>
        <p:spPr>
          <a:xfrm>
            <a:off x="4714850" y="2294600"/>
            <a:ext cx="3498900" cy="23244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Optimization Problems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“What’s the shortest path”?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60" name="Google Shape;260;p33"/>
          <p:cNvPicPr preferRelativeResize="0"/>
          <p:nvPr/>
        </p:nvPicPr>
        <p:blipFill rotWithShape="1">
          <a:blip r:embed="rId4">
            <a:alphaModFix/>
          </a:blip>
          <a:srcRect b="20030" l="0" r="0" t="17415"/>
          <a:stretch/>
        </p:blipFill>
        <p:spPr>
          <a:xfrm>
            <a:off x="5284513" y="3066425"/>
            <a:ext cx="2359575" cy="147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3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417" y="2853267"/>
            <a:ext cx="777450" cy="74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34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Activity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67" name="Google Shape;267;p34"/>
          <p:cNvGrpSpPr/>
          <p:nvPr/>
        </p:nvGrpSpPr>
        <p:grpSpPr>
          <a:xfrm>
            <a:off x="8318125" y="86900"/>
            <a:ext cx="747550" cy="183300"/>
            <a:chOff x="7547375" y="86900"/>
            <a:chExt cx="747550" cy="183300"/>
          </a:xfrm>
        </p:grpSpPr>
        <p:sp>
          <p:nvSpPr>
            <p:cNvPr id="268" name="Google Shape;268;p34"/>
            <p:cNvSpPr/>
            <p:nvPr/>
          </p:nvSpPr>
          <p:spPr>
            <a:xfrm>
              <a:off x="7547375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" name="Google Shape;269;p34"/>
            <p:cNvSpPr/>
            <p:nvPr/>
          </p:nvSpPr>
          <p:spPr>
            <a:xfrm>
              <a:off x="7829500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" name="Google Shape;270;p34"/>
            <p:cNvSpPr/>
            <p:nvPr/>
          </p:nvSpPr>
          <p:spPr>
            <a:xfrm>
              <a:off x="8111625" y="86900"/>
              <a:ext cx="183300" cy="183300"/>
            </a:xfrm>
            <a:prstGeom prst="ellipse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pic>
        <p:nvPicPr>
          <p:cNvPr id="271" name="Google Shape;271;p34"/>
          <p:cNvPicPr preferRelativeResize="0"/>
          <p:nvPr/>
        </p:nvPicPr>
        <p:blipFill rotWithShape="1">
          <a:blip r:embed="rId4">
            <a:alphaModFix/>
          </a:blip>
          <a:srcRect b="20030" l="0" r="0" t="17415"/>
          <a:stretch/>
        </p:blipFill>
        <p:spPr>
          <a:xfrm>
            <a:off x="359321" y="1127075"/>
            <a:ext cx="4618751" cy="288935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34"/>
          <p:cNvSpPr txBox="1"/>
          <p:nvPr/>
        </p:nvSpPr>
        <p:spPr>
          <a:xfrm>
            <a:off x="4836225" y="491150"/>
            <a:ext cx="4168800" cy="4275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T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he </a:t>
            </a:r>
            <a:r>
              <a:rPr b="1" lang="en" sz="1800">
                <a:latin typeface="Proxima Nova"/>
                <a:ea typeface="Proxima Nova"/>
                <a:cs typeface="Proxima Nova"/>
                <a:sym typeface="Proxima Nova"/>
              </a:rPr>
              <a:t>Traveling Salesman Problem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 can be solved with an algorithm, which checks each possible option.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BUT, it would take massive amounts of computing power to compare every single option, especially as the number of homes to visit (otherwise known as </a:t>
            </a:r>
            <a:r>
              <a:rPr i="1" lang="en" sz="1800">
                <a:latin typeface="Proxima Nova"/>
                <a:ea typeface="Proxima Nova"/>
                <a:cs typeface="Proxima Nova"/>
                <a:sym typeface="Proxima Nova"/>
              </a:rPr>
              <a:t>nodes</a:t>
            </a:r>
            <a:r>
              <a:rPr lang="en"/>
              <a:t>) </a:t>
            </a:r>
            <a:r>
              <a:rPr lang="en" sz="18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increases</a:t>
            </a:r>
            <a:r>
              <a:rPr lang="en"/>
              <a:t>.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Therefore, it would take an </a:t>
            </a:r>
            <a:r>
              <a:rPr b="1" lang="en" sz="1800">
                <a:latin typeface="Proxima Nova"/>
                <a:ea typeface="Proxima Nova"/>
                <a:cs typeface="Proxima Nova"/>
                <a:sym typeface="Proxima Nova"/>
              </a:rPr>
              <a:t>unreasonable 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amount of time for the solution to be calculated for most instances of the problem.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35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Activity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78" name="Google Shape;278;p35"/>
          <p:cNvGrpSpPr/>
          <p:nvPr/>
        </p:nvGrpSpPr>
        <p:grpSpPr>
          <a:xfrm>
            <a:off x="8318125" y="86900"/>
            <a:ext cx="747550" cy="183300"/>
            <a:chOff x="7547375" y="86900"/>
            <a:chExt cx="747550" cy="183300"/>
          </a:xfrm>
        </p:grpSpPr>
        <p:sp>
          <p:nvSpPr>
            <p:cNvPr id="279" name="Google Shape;279;p35"/>
            <p:cNvSpPr/>
            <p:nvPr/>
          </p:nvSpPr>
          <p:spPr>
            <a:xfrm>
              <a:off x="7547375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" name="Google Shape;280;p35"/>
            <p:cNvSpPr/>
            <p:nvPr/>
          </p:nvSpPr>
          <p:spPr>
            <a:xfrm>
              <a:off x="7829500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" name="Google Shape;281;p35"/>
            <p:cNvSpPr/>
            <p:nvPr/>
          </p:nvSpPr>
          <p:spPr>
            <a:xfrm>
              <a:off x="8111625" y="86900"/>
              <a:ext cx="183300" cy="183300"/>
            </a:xfrm>
            <a:prstGeom prst="ellipse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82" name="Google Shape;282;p35"/>
          <p:cNvSpPr txBox="1"/>
          <p:nvPr/>
        </p:nvSpPr>
        <p:spPr>
          <a:xfrm>
            <a:off x="381600" y="1181525"/>
            <a:ext cx="8204700" cy="3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>
                <a:latin typeface="Proxima Nova"/>
                <a:ea typeface="Proxima Nova"/>
                <a:cs typeface="Proxima Nova"/>
                <a:sym typeface="Proxima Nova"/>
              </a:rPr>
              <a:t>Welcome to </a:t>
            </a:r>
            <a:r>
              <a:rPr b="1" lang="en" sz="3600">
                <a:latin typeface="Proxima Nova"/>
                <a:ea typeface="Proxima Nova"/>
                <a:cs typeface="Proxima Nova"/>
                <a:sym typeface="Proxima Nova"/>
              </a:rPr>
              <a:t>heuristics!</a:t>
            </a:r>
            <a:endParaRPr b="1" sz="3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81000" lvl="0" marL="457200" rtl="0" algn="l">
              <a:spcBef>
                <a:spcPts val="0"/>
              </a:spcBef>
              <a:spcAft>
                <a:spcPts val="0"/>
              </a:spcAft>
              <a:buSzPts val="2400"/>
              <a:buFont typeface="Proxima Nova"/>
              <a:buChar char="●"/>
            </a:pPr>
            <a:r>
              <a:rPr lang="en" sz="2400">
                <a:latin typeface="Proxima Nova"/>
                <a:ea typeface="Proxima Nova"/>
                <a:cs typeface="Proxima Nova"/>
                <a:sym typeface="Proxima Nova"/>
              </a:rPr>
              <a:t>Provide a "good enough" solution to a problem when an actual solution is impractical or impossible</a:t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36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Activity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88" name="Google Shape;288;p36"/>
          <p:cNvGrpSpPr/>
          <p:nvPr/>
        </p:nvGrpSpPr>
        <p:grpSpPr>
          <a:xfrm>
            <a:off x="8318125" y="86900"/>
            <a:ext cx="747550" cy="183300"/>
            <a:chOff x="7547375" y="86900"/>
            <a:chExt cx="747550" cy="183300"/>
          </a:xfrm>
        </p:grpSpPr>
        <p:sp>
          <p:nvSpPr>
            <p:cNvPr id="289" name="Google Shape;289;p36"/>
            <p:cNvSpPr/>
            <p:nvPr/>
          </p:nvSpPr>
          <p:spPr>
            <a:xfrm>
              <a:off x="7547375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" name="Google Shape;290;p36"/>
            <p:cNvSpPr/>
            <p:nvPr/>
          </p:nvSpPr>
          <p:spPr>
            <a:xfrm>
              <a:off x="7829500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" name="Google Shape;291;p36"/>
            <p:cNvSpPr/>
            <p:nvPr/>
          </p:nvSpPr>
          <p:spPr>
            <a:xfrm>
              <a:off x="8111625" y="86900"/>
              <a:ext cx="183300" cy="183300"/>
            </a:xfrm>
            <a:prstGeom prst="ellipse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292" name="Google Shape;292;p36"/>
          <p:cNvSpPr txBox="1"/>
          <p:nvPr/>
        </p:nvSpPr>
        <p:spPr>
          <a:xfrm>
            <a:off x="260250" y="565075"/>
            <a:ext cx="4539300" cy="3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roxima Nova"/>
                <a:ea typeface="Proxima Nova"/>
                <a:cs typeface="Proxima Nova"/>
                <a:sym typeface="Proxima Nova"/>
              </a:rPr>
              <a:t>Do This: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lang="en" sz="18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Navigate to Level 1 on Code Studio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Try to find the "best" path to visit all nodes.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Write down a plan or </a:t>
            </a:r>
            <a:r>
              <a:rPr b="1" lang="en" sz="1800">
                <a:latin typeface="Proxima Nova"/>
                <a:ea typeface="Proxima Nova"/>
                <a:cs typeface="Proxima Nova"/>
                <a:sym typeface="Proxima Nova"/>
              </a:rPr>
              <a:t>heuristic 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for choosing a good path.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○"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Note: your </a:t>
            </a:r>
            <a:r>
              <a:rPr b="1" lang="en" sz="1800">
                <a:latin typeface="Proxima Nova"/>
                <a:ea typeface="Proxima Nova"/>
                <a:cs typeface="Proxima Nova"/>
                <a:sym typeface="Proxima Nova"/>
              </a:rPr>
              <a:t>heuristic </a:t>
            </a: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may not always find the best path, but it should be close enough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293" name="Google Shape;293;p3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293375" y="713725"/>
            <a:ext cx="2669075" cy="3716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7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Activity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299" name="Google Shape;299;p37"/>
          <p:cNvGrpSpPr/>
          <p:nvPr/>
        </p:nvGrpSpPr>
        <p:grpSpPr>
          <a:xfrm>
            <a:off x="8318125" y="86900"/>
            <a:ext cx="747550" cy="183300"/>
            <a:chOff x="7547375" y="86900"/>
            <a:chExt cx="747550" cy="183300"/>
          </a:xfrm>
        </p:grpSpPr>
        <p:sp>
          <p:nvSpPr>
            <p:cNvPr id="300" name="Google Shape;300;p37"/>
            <p:cNvSpPr/>
            <p:nvPr/>
          </p:nvSpPr>
          <p:spPr>
            <a:xfrm>
              <a:off x="7547375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" name="Google Shape;301;p37"/>
            <p:cNvSpPr/>
            <p:nvPr/>
          </p:nvSpPr>
          <p:spPr>
            <a:xfrm>
              <a:off x="7829500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" name="Google Shape;302;p37"/>
            <p:cNvSpPr/>
            <p:nvPr/>
          </p:nvSpPr>
          <p:spPr>
            <a:xfrm>
              <a:off x="8111625" y="86900"/>
              <a:ext cx="183300" cy="183300"/>
            </a:xfrm>
            <a:prstGeom prst="ellipse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03" name="Google Shape;303;p37"/>
          <p:cNvSpPr txBox="1"/>
          <p:nvPr/>
        </p:nvSpPr>
        <p:spPr>
          <a:xfrm>
            <a:off x="260250" y="565075"/>
            <a:ext cx="4539300" cy="3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latin typeface="Proxima Nova"/>
                <a:ea typeface="Proxima Nova"/>
                <a:cs typeface="Proxima Nova"/>
                <a:sym typeface="Proxima Nova"/>
              </a:rPr>
              <a:t>Do This:</a:t>
            </a:r>
            <a:endParaRPr b="1" sz="24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lang="en" sz="1800" u="sng">
                <a:solidFill>
                  <a:schemeClr val="hlink"/>
                </a:solidFill>
                <a:latin typeface="Proxima Nova"/>
                <a:ea typeface="Proxima Nova"/>
                <a:cs typeface="Proxima Nova"/>
                <a:sym typeface="Proxima Nova"/>
                <a:hlinkClick r:id="rId4"/>
              </a:rPr>
              <a:t>Navigate to Level 2 on Code Studio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Test your heuristic on three different levels.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Write down the distance for the path your heuristic finds. 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Font typeface="Proxima Nova"/>
              <a:buChar char="●"/>
            </a:pPr>
            <a:r>
              <a:rPr lang="en" sz="1800">
                <a:latin typeface="Proxima Nova"/>
                <a:ea typeface="Proxima Nova"/>
                <a:cs typeface="Proxima Nova"/>
                <a:sym typeface="Proxima Nova"/>
              </a:rPr>
              <a:t>Try to find the best version not using the heuristic (brute force). Can you find a better path? Is your heuristic on average pretty good? Should you update your heuristic?</a:t>
            </a:r>
            <a:endParaRPr sz="18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graphicFrame>
        <p:nvGraphicFramePr>
          <p:cNvPr id="304" name="Google Shape;304;p37"/>
          <p:cNvGraphicFramePr/>
          <p:nvPr/>
        </p:nvGraphicFramePr>
        <p:xfrm>
          <a:off x="5421925" y="1591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{36311AA7-AC00-45CB-8FA7-CDD222BCB538}</a:tableStyleId>
              </a:tblPr>
              <a:tblGrid>
                <a:gridCol w="1636100"/>
                <a:gridCol w="1636100"/>
              </a:tblGrid>
              <a:tr h="6305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Distance (Heuristic)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Distance 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Proxima Nova"/>
                          <a:ea typeface="Proxima Nova"/>
                          <a:cs typeface="Proxima Nova"/>
                          <a:sym typeface="Proxima Nova"/>
                        </a:rPr>
                        <a:t>(Brute Force)</a:t>
                      </a:r>
                      <a:endParaRPr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91425" marB="91425" marR="91425" marL="91425">
                    <a:solidFill>
                      <a:schemeClr val="lt2"/>
                    </a:solidFill>
                  </a:tcPr>
                </a:tc>
              </a:tr>
              <a:tr h="40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0000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1225</a:t>
                      </a:r>
                      <a:endParaRPr sz="1200">
                        <a:solidFill>
                          <a:srgbClr val="FF0000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FF0000"/>
                          </a:solidFill>
                          <a:latin typeface="Coming Soon"/>
                          <a:ea typeface="Coming Soon"/>
                          <a:cs typeface="Coming Soon"/>
                          <a:sym typeface="Coming Soon"/>
                        </a:rPr>
                        <a:t>1215</a:t>
                      </a:r>
                      <a:endParaRPr sz="1200">
                        <a:solidFill>
                          <a:srgbClr val="FF0000"/>
                        </a:solidFill>
                        <a:latin typeface="Coming Soon"/>
                        <a:ea typeface="Coming Soon"/>
                        <a:cs typeface="Coming Soon"/>
                        <a:sym typeface="Coming Soon"/>
                      </a:endParaRPr>
                    </a:p>
                  </a:txBody>
                  <a:tcPr marT="0" marB="0" marR="0" marL="0" anchor="ctr"/>
                </a:tc>
              </a:tr>
              <a:tr h="40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  <a:tr h="4097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200">
                        <a:latin typeface="Proxima Nova"/>
                        <a:ea typeface="Proxima Nova"/>
                        <a:cs typeface="Proxima Nova"/>
                        <a:sym typeface="Proxima Nova"/>
                      </a:endParaRPr>
                    </a:p>
                  </a:txBody>
                  <a:tcPr marT="0" marB="0" marR="0" marL="0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p38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Activity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310" name="Google Shape;310;p38"/>
          <p:cNvGrpSpPr/>
          <p:nvPr/>
        </p:nvGrpSpPr>
        <p:grpSpPr>
          <a:xfrm>
            <a:off x="8318125" y="86900"/>
            <a:ext cx="747550" cy="183300"/>
            <a:chOff x="7547375" y="86900"/>
            <a:chExt cx="747550" cy="183300"/>
          </a:xfrm>
        </p:grpSpPr>
        <p:sp>
          <p:nvSpPr>
            <p:cNvPr id="311" name="Google Shape;311;p38"/>
            <p:cNvSpPr/>
            <p:nvPr/>
          </p:nvSpPr>
          <p:spPr>
            <a:xfrm>
              <a:off x="7547375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" name="Google Shape;312;p38"/>
            <p:cNvSpPr/>
            <p:nvPr/>
          </p:nvSpPr>
          <p:spPr>
            <a:xfrm>
              <a:off x="7829500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" name="Google Shape;313;p38"/>
            <p:cNvSpPr/>
            <p:nvPr/>
          </p:nvSpPr>
          <p:spPr>
            <a:xfrm>
              <a:off x="8111625" y="86900"/>
              <a:ext cx="183300" cy="183300"/>
            </a:xfrm>
            <a:prstGeom prst="ellipse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14" name="Google Shape;314;p38"/>
          <p:cNvSpPr txBox="1"/>
          <p:nvPr/>
        </p:nvSpPr>
        <p:spPr>
          <a:xfrm>
            <a:off x="609100" y="565075"/>
            <a:ext cx="7448700" cy="358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Prompt</a:t>
            </a: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 b="1"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Char char="●"/>
            </a:pPr>
            <a:r>
              <a:rPr lang="en" sz="3000">
                <a:latin typeface="Proxima Nova"/>
                <a:ea typeface="Proxima Nova"/>
                <a:cs typeface="Proxima Nova"/>
                <a:sym typeface="Proxima Nova"/>
              </a:rPr>
              <a:t>How did you create your heuristic?</a:t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-419100" lvl="0" marL="457200" rtl="0" algn="l">
              <a:spcBef>
                <a:spcPts val="0"/>
              </a:spcBef>
              <a:spcAft>
                <a:spcPts val="0"/>
              </a:spcAft>
              <a:buSzPts val="3000"/>
              <a:buFont typeface="Proxima Nova"/>
              <a:buChar char="●"/>
            </a:pPr>
            <a:r>
              <a:rPr lang="en" sz="3000">
                <a:latin typeface="Proxima Nova"/>
                <a:ea typeface="Proxima Nova"/>
                <a:cs typeface="Proxima Nova"/>
                <a:sym typeface="Proxima Nova"/>
              </a:rPr>
              <a:t>Did you change your heuristic after testing it out?</a:t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39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Activity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320" name="Google Shape;320;p39"/>
          <p:cNvGrpSpPr/>
          <p:nvPr/>
        </p:nvGrpSpPr>
        <p:grpSpPr>
          <a:xfrm>
            <a:off x="8318125" y="86900"/>
            <a:ext cx="747550" cy="183300"/>
            <a:chOff x="7547375" y="86900"/>
            <a:chExt cx="747550" cy="183300"/>
          </a:xfrm>
        </p:grpSpPr>
        <p:sp>
          <p:nvSpPr>
            <p:cNvPr id="321" name="Google Shape;321;p39"/>
            <p:cNvSpPr/>
            <p:nvPr/>
          </p:nvSpPr>
          <p:spPr>
            <a:xfrm>
              <a:off x="7547375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39"/>
            <p:cNvSpPr/>
            <p:nvPr/>
          </p:nvSpPr>
          <p:spPr>
            <a:xfrm>
              <a:off x="7829500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39"/>
            <p:cNvSpPr/>
            <p:nvPr/>
          </p:nvSpPr>
          <p:spPr>
            <a:xfrm>
              <a:off x="8111625" y="86900"/>
              <a:ext cx="183300" cy="183300"/>
            </a:xfrm>
            <a:prstGeom prst="ellipse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24" name="Google Shape;324;p39"/>
          <p:cNvSpPr txBox="1"/>
          <p:nvPr/>
        </p:nvSpPr>
        <p:spPr>
          <a:xfrm>
            <a:off x="609100" y="565075"/>
            <a:ext cx="3999600" cy="30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Sample Heuristic</a:t>
            </a:r>
            <a:r>
              <a:rPr b="1" lang="en" sz="3000">
                <a:latin typeface="Proxima Nova"/>
                <a:ea typeface="Proxima Nova"/>
                <a:cs typeface="Proxima Nova"/>
                <a:sym typeface="Proxima Nova"/>
              </a:rPr>
              <a:t>:</a:t>
            </a:r>
            <a:endParaRPr b="1"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roxima Nova"/>
                <a:ea typeface="Proxima Nova"/>
                <a:cs typeface="Proxima Nova"/>
                <a:sym typeface="Proxima Nova"/>
              </a:rPr>
              <a:t>At each node, travel to the next closest node</a:t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latin typeface="Proxima Nova"/>
                <a:ea typeface="Proxima Nova"/>
                <a:cs typeface="Proxima Nova"/>
                <a:sym typeface="Proxima Nova"/>
              </a:rPr>
              <a:t>Is this "good enough"?</a:t>
            </a:r>
            <a:endParaRPr sz="30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25" name="Google Shape;325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61100" y="422600"/>
            <a:ext cx="3281375" cy="4568500"/>
          </a:xfrm>
          <a:prstGeom prst="rect">
            <a:avLst/>
          </a:prstGeom>
          <a:noFill/>
          <a:ln>
            <a:noFill/>
          </a:ln>
        </p:spPr>
      </p:pic>
      <p:sp>
        <p:nvSpPr>
          <p:cNvPr id="326" name="Google Shape;326;p39"/>
          <p:cNvSpPr txBox="1"/>
          <p:nvPr/>
        </p:nvSpPr>
        <p:spPr>
          <a:xfrm>
            <a:off x="6025075" y="3074900"/>
            <a:ext cx="2127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1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7" name="Google Shape;327;p39"/>
          <p:cNvSpPr txBox="1"/>
          <p:nvPr/>
        </p:nvSpPr>
        <p:spPr>
          <a:xfrm>
            <a:off x="6201100" y="3513500"/>
            <a:ext cx="2127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2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8" name="Google Shape;328;p39"/>
          <p:cNvSpPr txBox="1"/>
          <p:nvPr/>
        </p:nvSpPr>
        <p:spPr>
          <a:xfrm>
            <a:off x="6961000" y="3673250"/>
            <a:ext cx="2127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3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29" name="Google Shape;329;p39"/>
          <p:cNvSpPr txBox="1"/>
          <p:nvPr/>
        </p:nvSpPr>
        <p:spPr>
          <a:xfrm>
            <a:off x="7436300" y="3018400"/>
            <a:ext cx="2127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4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0" name="Google Shape;330;p39"/>
          <p:cNvSpPr txBox="1"/>
          <p:nvPr/>
        </p:nvSpPr>
        <p:spPr>
          <a:xfrm>
            <a:off x="7223600" y="2319525"/>
            <a:ext cx="2127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5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1" name="Google Shape;331;p39"/>
          <p:cNvSpPr txBox="1"/>
          <p:nvPr/>
        </p:nvSpPr>
        <p:spPr>
          <a:xfrm>
            <a:off x="6450500" y="1971525"/>
            <a:ext cx="2127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6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2" name="Google Shape;332;p39"/>
          <p:cNvSpPr txBox="1"/>
          <p:nvPr/>
        </p:nvSpPr>
        <p:spPr>
          <a:xfrm>
            <a:off x="5882700" y="1623525"/>
            <a:ext cx="2127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7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3" name="Google Shape;333;p39"/>
          <p:cNvSpPr txBox="1"/>
          <p:nvPr/>
        </p:nvSpPr>
        <p:spPr>
          <a:xfrm>
            <a:off x="5543400" y="1022750"/>
            <a:ext cx="2127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8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4" name="Google Shape;334;p39"/>
          <p:cNvSpPr txBox="1"/>
          <p:nvPr/>
        </p:nvSpPr>
        <p:spPr>
          <a:xfrm>
            <a:off x="6413800" y="500000"/>
            <a:ext cx="2127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9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5" name="Google Shape;335;p39"/>
          <p:cNvSpPr txBox="1"/>
          <p:nvPr/>
        </p:nvSpPr>
        <p:spPr>
          <a:xfrm>
            <a:off x="7536825" y="848000"/>
            <a:ext cx="4476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10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6" name="Google Shape;336;p39"/>
          <p:cNvSpPr txBox="1"/>
          <p:nvPr/>
        </p:nvSpPr>
        <p:spPr>
          <a:xfrm>
            <a:off x="7732225" y="1428600"/>
            <a:ext cx="3543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11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37" name="Google Shape;337;p39"/>
          <p:cNvSpPr txBox="1"/>
          <p:nvPr/>
        </p:nvSpPr>
        <p:spPr>
          <a:xfrm>
            <a:off x="7173700" y="1837850"/>
            <a:ext cx="5556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12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40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Activity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343" name="Google Shape;343;p40"/>
          <p:cNvGrpSpPr/>
          <p:nvPr/>
        </p:nvGrpSpPr>
        <p:grpSpPr>
          <a:xfrm>
            <a:off x="8318125" y="86900"/>
            <a:ext cx="747550" cy="183300"/>
            <a:chOff x="7547375" y="86900"/>
            <a:chExt cx="747550" cy="183300"/>
          </a:xfrm>
        </p:grpSpPr>
        <p:sp>
          <p:nvSpPr>
            <p:cNvPr id="344" name="Google Shape;344;p40"/>
            <p:cNvSpPr/>
            <p:nvPr/>
          </p:nvSpPr>
          <p:spPr>
            <a:xfrm>
              <a:off x="7547375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40"/>
            <p:cNvSpPr/>
            <p:nvPr/>
          </p:nvSpPr>
          <p:spPr>
            <a:xfrm>
              <a:off x="7829500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40"/>
            <p:cNvSpPr/>
            <p:nvPr/>
          </p:nvSpPr>
          <p:spPr>
            <a:xfrm>
              <a:off x="8111625" y="86900"/>
              <a:ext cx="183300" cy="183300"/>
            </a:xfrm>
            <a:prstGeom prst="ellipse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7" name="Google Shape;347;p40"/>
          <p:cNvSpPr txBox="1"/>
          <p:nvPr/>
        </p:nvSpPr>
        <p:spPr>
          <a:xfrm>
            <a:off x="523500" y="691750"/>
            <a:ext cx="8097000" cy="3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Proxima Nova"/>
                <a:ea typeface="Proxima Nova"/>
                <a:cs typeface="Proxima Nova"/>
                <a:sym typeface="Proxima Nova"/>
              </a:rPr>
              <a:t>Takeaways:</a:t>
            </a:r>
            <a:r>
              <a:rPr lang="en" sz="36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3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 Traveling Salesman Problem is an </a:t>
            </a: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optimization </a:t>
            </a:r>
            <a:r>
              <a:rPr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problem. We are attempting to find the best path.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It is also </a:t>
            </a: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unreasonable </a:t>
            </a:r>
            <a:r>
              <a:rPr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because there is not an algorithm that can solve the problem in a reasonable amount of time.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We need to use a </a:t>
            </a: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heuristic </a:t>
            </a:r>
            <a:r>
              <a:rPr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to come up with a solution that is "good enough" for most instances of the problem. 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48" name="Google Shape;348;p40"/>
          <p:cNvPicPr preferRelativeResize="0"/>
          <p:nvPr/>
        </p:nvPicPr>
        <p:blipFill rotWithShape="1">
          <a:blip r:embed="rId4">
            <a:alphaModFix/>
          </a:blip>
          <a:srcRect b="20030" l="0" r="0" t="17415"/>
          <a:stretch/>
        </p:blipFill>
        <p:spPr>
          <a:xfrm>
            <a:off x="6561449" y="352548"/>
            <a:ext cx="2088424" cy="130645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3" name="Google Shape;353;p41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Activity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354" name="Google Shape;354;p41"/>
          <p:cNvGrpSpPr/>
          <p:nvPr/>
        </p:nvGrpSpPr>
        <p:grpSpPr>
          <a:xfrm>
            <a:off x="8318125" y="86900"/>
            <a:ext cx="747550" cy="183300"/>
            <a:chOff x="7547375" y="86900"/>
            <a:chExt cx="747550" cy="183300"/>
          </a:xfrm>
        </p:grpSpPr>
        <p:sp>
          <p:nvSpPr>
            <p:cNvPr id="355" name="Google Shape;355;p41"/>
            <p:cNvSpPr/>
            <p:nvPr/>
          </p:nvSpPr>
          <p:spPr>
            <a:xfrm>
              <a:off x="7547375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41"/>
            <p:cNvSpPr/>
            <p:nvPr/>
          </p:nvSpPr>
          <p:spPr>
            <a:xfrm>
              <a:off x="7829500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41"/>
            <p:cNvSpPr/>
            <p:nvPr/>
          </p:nvSpPr>
          <p:spPr>
            <a:xfrm>
              <a:off x="8111625" y="86900"/>
              <a:ext cx="183300" cy="183300"/>
            </a:xfrm>
            <a:prstGeom prst="ellipse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58" name="Google Shape;358;p41"/>
          <p:cNvSpPr/>
          <p:nvPr/>
        </p:nvSpPr>
        <p:spPr>
          <a:xfrm>
            <a:off x="850075" y="677900"/>
            <a:ext cx="7629300" cy="40998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Problems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Any task that may (or may not) be solved with an algorithm.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Sorting a list is a problem. Sorting the list (2, 3, 1, 7) is an instance of that problem.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59" name="Google Shape;359;p41"/>
          <p:cNvSpPr/>
          <p:nvPr/>
        </p:nvSpPr>
        <p:spPr>
          <a:xfrm>
            <a:off x="1140625" y="2270450"/>
            <a:ext cx="3498900" cy="232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Decision Problems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“Is there a path?”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0" name="Google Shape;360;p41"/>
          <p:cNvSpPr/>
          <p:nvPr/>
        </p:nvSpPr>
        <p:spPr>
          <a:xfrm>
            <a:off x="4714850" y="2218400"/>
            <a:ext cx="3498900" cy="2324400"/>
          </a:xfrm>
          <a:prstGeom prst="roundRect">
            <a:avLst>
              <a:gd fmla="val 16667" name="adj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Optimization Problems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“What’s the shortest path”?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61" name="Google Shape;361;p41"/>
          <p:cNvSpPr/>
          <p:nvPr/>
        </p:nvSpPr>
        <p:spPr>
          <a:xfrm>
            <a:off x="1758475" y="3732200"/>
            <a:ext cx="2263200" cy="810600"/>
          </a:xfrm>
          <a:prstGeom prst="roundRect">
            <a:avLst>
              <a:gd fmla="val 16667" name="adj"/>
            </a:avLst>
          </a:prstGeom>
          <a:solidFill>
            <a:srgbClr val="FFF2CC"/>
          </a:solidFill>
          <a:ln cap="flat" cmpd="sng" w="28575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>
                <a:latin typeface="Proxima Nova"/>
                <a:ea typeface="Proxima Nova"/>
                <a:cs typeface="Proxima Nova"/>
                <a:sym typeface="Proxima Nova"/>
              </a:rPr>
              <a:t>Undecidable Problems</a:t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Proxima Nova"/>
                <a:ea typeface="Proxima Nova"/>
                <a:cs typeface="Proxima Nova"/>
                <a:sym typeface="Proxima Nova"/>
              </a:rPr>
              <a:t>“Will this code work?”</a:t>
            </a:r>
            <a:endParaRPr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362" name="Google Shape;362;p41"/>
          <p:cNvPicPr preferRelativeResize="0"/>
          <p:nvPr/>
        </p:nvPicPr>
        <p:blipFill rotWithShape="1">
          <a:blip r:embed="rId4">
            <a:alphaModFix/>
          </a:blip>
          <a:srcRect b="20030" l="0" r="0" t="17415"/>
          <a:stretch/>
        </p:blipFill>
        <p:spPr>
          <a:xfrm>
            <a:off x="5284513" y="2990225"/>
            <a:ext cx="2359575" cy="14760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63" name="Google Shape;363;p4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360417" y="2853267"/>
            <a:ext cx="777450" cy="74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8" name="Google Shape;368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69" name="Google Shape;369;p4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43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Activity</a:t>
            </a:r>
            <a:endParaRPr>
              <a:solidFill>
                <a:srgbClr val="FFFFFF"/>
              </a:solidFill>
            </a:endParaRPr>
          </a:p>
        </p:txBody>
      </p:sp>
      <p:grpSp>
        <p:nvGrpSpPr>
          <p:cNvPr id="375" name="Google Shape;375;p43"/>
          <p:cNvGrpSpPr/>
          <p:nvPr/>
        </p:nvGrpSpPr>
        <p:grpSpPr>
          <a:xfrm>
            <a:off x="8318125" y="86900"/>
            <a:ext cx="747550" cy="183300"/>
            <a:chOff x="7547375" y="86900"/>
            <a:chExt cx="747550" cy="183300"/>
          </a:xfrm>
        </p:grpSpPr>
        <p:sp>
          <p:nvSpPr>
            <p:cNvPr id="376" name="Google Shape;376;p43"/>
            <p:cNvSpPr/>
            <p:nvPr/>
          </p:nvSpPr>
          <p:spPr>
            <a:xfrm>
              <a:off x="7547375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43"/>
            <p:cNvSpPr/>
            <p:nvPr/>
          </p:nvSpPr>
          <p:spPr>
            <a:xfrm>
              <a:off x="7829500" y="86900"/>
              <a:ext cx="183300" cy="183300"/>
            </a:xfrm>
            <a:prstGeom prst="ellipse">
              <a:avLst/>
            </a:prstGeom>
            <a:solidFill>
              <a:srgbClr val="FFFFFF"/>
            </a:solidFill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43"/>
            <p:cNvSpPr/>
            <p:nvPr/>
          </p:nvSpPr>
          <p:spPr>
            <a:xfrm>
              <a:off x="8111625" y="86900"/>
              <a:ext cx="183300" cy="183300"/>
            </a:xfrm>
            <a:prstGeom prst="ellipse">
              <a:avLst/>
            </a:prstGeom>
            <a:noFill/>
            <a:ln cap="flat" cmpd="sng" w="2857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79" name="Google Shape;379;p43"/>
          <p:cNvSpPr txBox="1"/>
          <p:nvPr/>
        </p:nvSpPr>
        <p:spPr>
          <a:xfrm>
            <a:off x="523500" y="691750"/>
            <a:ext cx="8097000" cy="389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600">
                <a:latin typeface="Proxima Nova"/>
                <a:ea typeface="Proxima Nova"/>
                <a:cs typeface="Proxima Nova"/>
                <a:sym typeface="Proxima Nova"/>
              </a:rPr>
              <a:t>Takeaways:</a:t>
            </a:r>
            <a:r>
              <a:rPr lang="en" sz="3600">
                <a:latin typeface="Proxima Nova"/>
                <a:ea typeface="Proxima Nova"/>
                <a:cs typeface="Proxima Nova"/>
                <a:sym typeface="Proxima Nova"/>
              </a:rPr>
              <a:t> </a:t>
            </a:r>
            <a:endParaRPr sz="3600"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There are some problems we’ve proven that no computer will ever be able to solve. The Halting Problem is a very famous example and in general we call these problems </a:t>
            </a: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undecidable</a:t>
            </a:r>
            <a:r>
              <a:rPr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.</a:t>
            </a:r>
            <a:endParaRPr sz="36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3">
            <a:alphaModFix/>
          </a:blip>
          <a:stretch>
            <a:fillRect/>
          </a:stretch>
        </a:blip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44"/>
          <p:cNvSpPr txBox="1"/>
          <p:nvPr/>
        </p:nvSpPr>
        <p:spPr>
          <a:xfrm>
            <a:off x="554850" y="734800"/>
            <a:ext cx="7932600" cy="352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Heuristic:  </a:t>
            </a:r>
            <a:r>
              <a:rPr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provides a "good enough" solution to a problem when an actual solution is impractical or impossible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Undecidable Problem: </a:t>
            </a:r>
            <a:r>
              <a:rPr lang="en" sz="2400">
                <a:solidFill>
                  <a:schemeClr val="dk1"/>
                </a:solidFill>
                <a:latin typeface="Proxima Nova"/>
                <a:ea typeface="Proxima Nova"/>
                <a:cs typeface="Proxima Nova"/>
                <a:sym typeface="Proxima Nova"/>
              </a:rPr>
              <a:t>a problem for which no algorithm can be constructed that is always capable of providing a correct yes-or-no answer</a:t>
            </a:r>
            <a:endParaRPr sz="2400">
              <a:solidFill>
                <a:schemeClr val="dk1"/>
              </a:solidFill>
              <a:latin typeface="Proxima Nova"/>
              <a:ea typeface="Proxima Nova"/>
              <a:cs typeface="Proxima Nova"/>
              <a:sym typeface="Proxima Nova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400"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385" name="Google Shape;385;p44"/>
          <p:cNvSpPr txBox="1"/>
          <p:nvPr/>
        </p:nvSpPr>
        <p:spPr>
          <a:xfrm>
            <a:off x="0" y="4550"/>
            <a:ext cx="4572000" cy="34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</a:rPr>
              <a:t>Unit 8</a:t>
            </a:r>
            <a:r>
              <a:rPr lang="en">
                <a:solidFill>
                  <a:srgbClr val="FFFFFF"/>
                </a:solidFill>
              </a:rPr>
              <a:t> Lesson 4 - Wrap Up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0" name="Google Shape;390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43000" y="0"/>
            <a:ext cx="6857999" cy="5143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2" name="Google Shape;392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43000" y="825100"/>
            <a:ext cx="6857999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