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y="5143500" cx="9144000"/>
  <p:notesSz cx="6858000" cy="9144000"/>
  <p:embeddedFontLst>
    <p:embeddedFont>
      <p:font typeface="Proxima Nova"/>
      <p:regular r:id="rId51"/>
      <p:bold r:id="rId52"/>
      <p:italic r:id="rId53"/>
      <p:boldItalic r:id="rId54"/>
    </p:embeddedFont>
    <p:embeddedFont>
      <p:font typeface="Coming Soon"/>
      <p:regular r:id="rId55"/>
    </p:embeddedFont>
    <p:embeddedFont>
      <p:font typeface="Proxima Nova Extrabold"/>
      <p:bold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40959F-0CD0-4D21-BDE8-B8D928FC25E3}">
  <a:tblStyle styleId="{BF40959F-0CD0-4D21-BDE8-B8D928FC25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ProximaNova-regular.fntdata"/><Relationship Id="rId50" Type="http://schemas.openxmlformats.org/officeDocument/2006/relationships/slide" Target="slides/slide42.xml"/><Relationship Id="rId53" Type="http://schemas.openxmlformats.org/officeDocument/2006/relationships/font" Target="fonts/ProximaNova-italic.fntdata"/><Relationship Id="rId52" Type="http://schemas.openxmlformats.org/officeDocument/2006/relationships/font" Target="fonts/ProximaNova-bold.fntdata"/><Relationship Id="rId11" Type="http://schemas.openxmlformats.org/officeDocument/2006/relationships/slide" Target="slides/slide3.xml"/><Relationship Id="rId55" Type="http://schemas.openxmlformats.org/officeDocument/2006/relationships/font" Target="fonts/ComingSoon-regular.fntdata"/><Relationship Id="rId10" Type="http://schemas.openxmlformats.org/officeDocument/2006/relationships/slide" Target="slides/slide2.xml"/><Relationship Id="rId54" Type="http://schemas.openxmlformats.org/officeDocument/2006/relationships/font" Target="fonts/ProximaNova-boldItalic.fntdata"/><Relationship Id="rId13" Type="http://schemas.openxmlformats.org/officeDocument/2006/relationships/slide" Target="slides/slide5.xml"/><Relationship Id="rId12" Type="http://schemas.openxmlformats.org/officeDocument/2006/relationships/slide" Target="slides/slide4.xml"/><Relationship Id="rId56" Type="http://schemas.openxmlformats.org/officeDocument/2006/relationships/font" Target="fonts/ProximaNovaExtrabold-bold.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601920dc65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601920dc65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SLIDES_API55864978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SLIDES_API55864978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0ea5c8c2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0ea5c8c2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c62def35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c62def35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60297952f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60297952f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d252e59f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d252e59f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60297952f2_4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60297952f2_4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60297952f2_4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60297952f2_4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60297952f2_4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60297952f2_4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60297952f2_7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60297952f2_7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60297952f2_7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60297952f2_7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60297952f2_7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60297952f2_7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SLIDES_API138450557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SLIDES_API138450557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60297952f2_7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60297952f2_7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4cb0593d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4cb0593d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601920dc65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601920dc65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aa4fe8d7f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aa4fe8d7f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aa4fe8d7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aa4fe8d7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aa4fe8d7f3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aa4fe8d7f3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aa4fe8d7f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aa4fe8d7f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aa4fe8d7f3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aa4fe8d7f3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aa4fe8d7f3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aa4fe8d7f3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aa4fe8d7f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aa4fe8d7f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aa4fe8d7f3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aa4fe8d7f3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aa4fe8d7f3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aa4fe8d7f3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60297952f2_7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60297952f2_7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0eaaa1b3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0eaaa1b3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aa4fe8d7f3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aa4fe8d7f3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cea34ab0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cea34ab0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aa4fe8d7f3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aa4fe8d7f3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aa4fe8d7f3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aa4fe8d7f3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aa4fe8d7f3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aa4fe8d7f3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aa4fe8d7f3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aa4fe8d7f3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60297952f2_7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60297952f2_7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aa4fe8d7f3_0_6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aa4fe8d7f3_0_6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aa4fe8d7f3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aa4fe8d7f3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aa4fe8d7f3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aa4fe8d7f3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aa4fe8d7f3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aa4fe8d7f3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60297952f2_7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60297952f2_7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SLIDES_API49545374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SLIDES_API49545374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601920dc65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601920dc65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SLIDES_API76912889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SLIDES_API76912889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0ADBC"/>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311700" y="2150850"/>
            <a:ext cx="8520600" cy="841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Font typeface="Proxima Nova"/>
              <a:buNone/>
              <a:defRPr b="1" sz="3600">
                <a:solidFill>
                  <a:srgbClr val="FFFFFF"/>
                </a:solidFill>
                <a:latin typeface="Proxima Nova"/>
                <a:ea typeface="Proxima Nova"/>
                <a:cs typeface="Proxima Nova"/>
                <a:sym typeface="Proxima Nova"/>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 name="Google Shape;16;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7" name="Google Shape;1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1" name="Google Shape;21;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
          <p:cNvSpPr txBox="1"/>
          <p:nvPr>
            <p:ph type="title"/>
          </p:nvPr>
        </p:nvSpPr>
        <p:spPr>
          <a:xfrm>
            <a:off x="0" y="2285400"/>
            <a:ext cx="9144000" cy="572700"/>
          </a:xfrm>
          <a:prstGeom prst="rect">
            <a:avLst/>
          </a:prstGeom>
          <a:solidFill>
            <a:srgbClr val="00ADBC"/>
          </a:solidFill>
        </p:spPr>
        <p:txBody>
          <a:bodyPr anchorCtr="0" anchor="t" bIns="91425" lIns="91425" spcFirstLastPara="1" rIns="91425" wrap="square" tIns="91425">
            <a:noAutofit/>
          </a:bodyPr>
          <a:lstStyle>
            <a:lvl1pPr lvl="0" rtl="0" algn="ctr">
              <a:spcBef>
                <a:spcPts val="0"/>
              </a:spcBef>
              <a:spcAft>
                <a:spcPts val="0"/>
              </a:spcAft>
              <a:buClr>
                <a:srgbClr val="FFFFFF"/>
              </a:buClr>
              <a:buSzPts val="2800"/>
              <a:buFont typeface="Proxima Nova"/>
              <a:buNone/>
              <a:defRPr>
                <a:solidFill>
                  <a:srgbClr val="FFFFFF"/>
                </a:solidFill>
                <a:latin typeface="Proxima Nova"/>
                <a:ea typeface="Proxima Nova"/>
                <a:cs typeface="Proxima Nova"/>
                <a:sym typeface="Proxima Nov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 name="Google Shape;28;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0" name="Shape 30"/>
        <p:cNvGrpSpPr/>
        <p:nvPr/>
      </p:nvGrpSpPr>
      <p:grpSpPr>
        <a:xfrm>
          <a:off x="0" y="0"/>
          <a:ext cx="0" cy="0"/>
          <a:chOff x="0" y="0"/>
          <a:chExt cx="0" cy="0"/>
        </a:xfrm>
      </p:grpSpPr>
      <p:sp>
        <p:nvSpPr>
          <p:cNvPr id="31" name="Google Shape;31;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6" name="Google Shape;36;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7" name="Google Shape;37;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38" name="Google Shape;3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 name="Shape 39"/>
        <p:cNvGrpSpPr/>
        <p:nvPr/>
      </p:nvGrpSpPr>
      <p:grpSpPr>
        <a:xfrm>
          <a:off x="0" y="0"/>
          <a:ext cx="0" cy="0"/>
          <a:chOff x="0" y="0"/>
          <a:chExt cx="0" cy="0"/>
        </a:xfrm>
      </p:grpSpPr>
      <p:sp>
        <p:nvSpPr>
          <p:cNvPr id="40" name="Google Shape;40;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 name="Shape 42"/>
        <p:cNvGrpSpPr/>
        <p:nvPr/>
      </p:nvGrpSpPr>
      <p:grpSpPr>
        <a:xfrm>
          <a:off x="0" y="0"/>
          <a:ext cx="0" cy="0"/>
          <a:chOff x="0" y="0"/>
          <a:chExt cx="0" cy="0"/>
        </a:xfrm>
      </p:grpSpPr>
      <p:sp>
        <p:nvSpPr>
          <p:cNvPr id="43" name="Google Shape;4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4" name="Google Shape;44;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5" name="Google Shape;4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2" name="Shape 52"/>
        <p:cNvGrpSpPr/>
        <p:nvPr/>
      </p:nvGrpSpPr>
      <p:grpSpPr>
        <a:xfrm>
          <a:off x="0" y="0"/>
          <a:ext cx="0" cy="0"/>
          <a:chOff x="0" y="0"/>
          <a:chExt cx="0" cy="0"/>
        </a:xfrm>
      </p:grpSpPr>
      <p:sp>
        <p:nvSpPr>
          <p:cNvPr id="53" name="Google Shape;53;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4" name="Google Shape;54;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5" name="Google Shape;5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0ADBC"/>
        </a:solidFill>
      </p:bgPr>
    </p:bg>
    <p:spTree>
      <p:nvGrpSpPr>
        <p:cNvPr id="56" name="Shape 56"/>
        <p:cNvGrpSpPr/>
        <p:nvPr/>
      </p:nvGrpSpPr>
      <p:grpSpPr>
        <a:xfrm>
          <a:off x="0" y="0"/>
          <a:ext cx="0" cy="0"/>
          <a:chOff x="0" y="0"/>
          <a:chExt cx="0" cy="0"/>
        </a:xfrm>
      </p:grpSpPr>
      <p:sp>
        <p:nvSpPr>
          <p:cNvPr id="57" name="Google Shape;57;p15"/>
          <p:cNvSpPr txBox="1"/>
          <p:nvPr>
            <p:ph type="title"/>
          </p:nvPr>
        </p:nvSpPr>
        <p:spPr>
          <a:xfrm>
            <a:off x="311700" y="2150850"/>
            <a:ext cx="8520600" cy="8418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Font typeface="Proxima Nova"/>
              <a:buNone/>
              <a:defRPr b="1" sz="3600">
                <a:solidFill>
                  <a:srgbClr val="FFFFFF"/>
                </a:solidFill>
                <a:latin typeface="Proxima Nova"/>
                <a:ea typeface="Proxima Nova"/>
                <a:cs typeface="Proxima Nova"/>
                <a:sym typeface="Proxima Nova"/>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 name="Google Shape;60;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1" name="Google Shape;6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 name="Google Shape;64;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5" name="Google Shape;65;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6" name="Google Shape;66;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8"/>
          <p:cNvSpPr txBox="1"/>
          <p:nvPr>
            <p:ph type="title"/>
          </p:nvPr>
        </p:nvSpPr>
        <p:spPr>
          <a:xfrm>
            <a:off x="0" y="2285400"/>
            <a:ext cx="9144000" cy="572700"/>
          </a:xfrm>
          <a:prstGeom prst="rect">
            <a:avLst/>
          </a:prstGeom>
          <a:solidFill>
            <a:srgbClr val="00ADBC"/>
          </a:solidFill>
        </p:spPr>
        <p:txBody>
          <a:bodyPr anchorCtr="0" anchor="t" bIns="91425" lIns="91425" spcFirstLastPara="1" rIns="91425" wrap="square" tIns="91425">
            <a:noAutofit/>
          </a:bodyPr>
          <a:lstStyle>
            <a:lvl1pPr lvl="0" rtl="0" algn="ctr">
              <a:spcBef>
                <a:spcPts val="0"/>
              </a:spcBef>
              <a:spcAft>
                <a:spcPts val="0"/>
              </a:spcAft>
              <a:buClr>
                <a:srgbClr val="FFFFFF"/>
              </a:buClr>
              <a:buSzPts val="2800"/>
              <a:buFont typeface="Proxima Nova"/>
              <a:buNone/>
              <a:defRPr>
                <a:solidFill>
                  <a:srgbClr val="FFFFFF"/>
                </a:solidFill>
                <a:latin typeface="Proxima Nova"/>
                <a:ea typeface="Proxima Nova"/>
                <a:cs typeface="Proxima Nova"/>
                <a:sym typeface="Proxima Nova"/>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 name="Google Shape;6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2" name="Google Shape;72;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3" name="Google Shape;7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 name="Shape 74"/>
        <p:cNvGrpSpPr/>
        <p:nvPr/>
      </p:nvGrpSpPr>
      <p:grpSpPr>
        <a:xfrm>
          <a:off x="0" y="0"/>
          <a:ext cx="0" cy="0"/>
          <a:chOff x="0" y="0"/>
          <a:chExt cx="0" cy="0"/>
        </a:xfrm>
      </p:grpSpPr>
      <p:sp>
        <p:nvSpPr>
          <p:cNvPr id="75" name="Google Shape;75;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6" name="Google Shape;7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0" name="Google Shape;80;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1" name="Google Shape;81;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2" name="Google Shape;82;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5" name="Google Shape;8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sp>
        <p:nvSpPr>
          <p:cNvPr id="87" name="Google Shape;87;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8" name="Google Shape;88;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89" name="Google Shape;89;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8" name="Google Shape;98;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9" name="Google Shape;99;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2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2" name="Google Shape;102;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3" name="Shape 103"/>
        <p:cNvGrpSpPr/>
        <p:nvPr/>
      </p:nvGrpSpPr>
      <p:grpSpPr>
        <a:xfrm>
          <a:off x="0" y="0"/>
          <a:ext cx="0" cy="0"/>
          <a:chOff x="0" y="0"/>
          <a:chExt cx="0" cy="0"/>
        </a:xfrm>
      </p:grpSpPr>
      <p:sp>
        <p:nvSpPr>
          <p:cNvPr id="104" name="Google Shape;104;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6" name="Google Shape;10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7" name="Shape 107"/>
        <p:cNvGrpSpPr/>
        <p:nvPr/>
      </p:nvGrpSpPr>
      <p:grpSpPr>
        <a:xfrm>
          <a:off x="0" y="0"/>
          <a:ext cx="0" cy="0"/>
          <a:chOff x="0" y="0"/>
          <a:chExt cx="0" cy="0"/>
        </a:xfrm>
      </p:grpSpPr>
      <p:sp>
        <p:nvSpPr>
          <p:cNvPr id="108" name="Google Shape;108;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9" name="Google Shape;109;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0" name="Google Shape;110;p2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1" name="Google Shape;111;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sp>
        <p:nvSpPr>
          <p:cNvPr id="113" name="Google Shape;11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4" name="Google Shape;11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5" name="Shape 115"/>
        <p:cNvGrpSpPr/>
        <p:nvPr/>
      </p:nvGrpSpPr>
      <p:grpSpPr>
        <a:xfrm>
          <a:off x="0" y="0"/>
          <a:ext cx="0" cy="0"/>
          <a:chOff x="0" y="0"/>
          <a:chExt cx="0" cy="0"/>
        </a:xfrm>
      </p:grpSpPr>
      <p:sp>
        <p:nvSpPr>
          <p:cNvPr id="116" name="Google Shape;116;p3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7" name="Google Shape;117;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18" name="Google Shape;11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9" name="Shape 119"/>
        <p:cNvGrpSpPr/>
        <p:nvPr/>
      </p:nvGrpSpPr>
      <p:grpSpPr>
        <a:xfrm>
          <a:off x="0" y="0"/>
          <a:ext cx="0" cy="0"/>
          <a:chOff x="0" y="0"/>
          <a:chExt cx="0" cy="0"/>
        </a:xfrm>
      </p:grpSpPr>
      <p:sp>
        <p:nvSpPr>
          <p:cNvPr id="120" name="Google Shape;120;p3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21" name="Google Shape;121;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2" name="Shape 122"/>
        <p:cNvGrpSpPr/>
        <p:nvPr/>
      </p:nvGrpSpPr>
      <p:grpSpPr>
        <a:xfrm>
          <a:off x="0" y="0"/>
          <a:ext cx="0" cy="0"/>
          <a:chOff x="0" y="0"/>
          <a:chExt cx="0" cy="0"/>
        </a:xfrm>
      </p:grpSpPr>
      <p:sp>
        <p:nvSpPr>
          <p:cNvPr id="123" name="Google Shape;123;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25" name="Google Shape;125;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26" name="Google Shape;126;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27" name="Google Shape;127;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8" name="Shape 128"/>
        <p:cNvGrpSpPr/>
        <p:nvPr/>
      </p:nvGrpSpPr>
      <p:grpSpPr>
        <a:xfrm>
          <a:off x="0" y="0"/>
          <a:ext cx="0" cy="0"/>
          <a:chOff x="0" y="0"/>
          <a:chExt cx="0" cy="0"/>
        </a:xfrm>
      </p:grpSpPr>
      <p:sp>
        <p:nvSpPr>
          <p:cNvPr id="129" name="Google Shape;129;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30" name="Google Shape;130;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1" name="Shape 131"/>
        <p:cNvGrpSpPr/>
        <p:nvPr/>
      </p:nvGrpSpPr>
      <p:grpSpPr>
        <a:xfrm>
          <a:off x="0" y="0"/>
          <a:ext cx="0" cy="0"/>
          <a:chOff x="0" y="0"/>
          <a:chExt cx="0" cy="0"/>
        </a:xfrm>
      </p:grpSpPr>
      <p:sp>
        <p:nvSpPr>
          <p:cNvPr id="132" name="Google Shape;132;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33" name="Google Shape;133;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4" name="Google Shape;134;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5" name="Shape 135"/>
        <p:cNvGrpSpPr/>
        <p:nvPr/>
      </p:nvGrpSpPr>
      <p:grpSpPr>
        <a:xfrm>
          <a:off x="0" y="0"/>
          <a:ext cx="0" cy="0"/>
          <a:chOff x="0" y="0"/>
          <a:chExt cx="0" cy="0"/>
        </a:xfrm>
      </p:grpSpPr>
      <p:sp>
        <p:nvSpPr>
          <p:cNvPr id="136" name="Google Shape;136;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SzPts val="1800"/>
              <a:buFont typeface="Proxima Nova"/>
              <a:buChar char="●"/>
              <a:defRPr sz="1800">
                <a:latin typeface="Proxima Nova"/>
                <a:ea typeface="Proxima Nova"/>
                <a:cs typeface="Proxima Nova"/>
                <a:sym typeface="Proxima Nova"/>
              </a:defRPr>
            </a:lvl1pPr>
            <a:lvl2pPr indent="-317500" lvl="1" marL="914400" rtl="0">
              <a:lnSpc>
                <a:spcPct val="115000"/>
              </a:lnSpc>
              <a:spcBef>
                <a:spcPts val="1600"/>
              </a:spcBef>
              <a:spcAft>
                <a:spcPts val="0"/>
              </a:spcAft>
              <a:buSzPts val="1400"/>
              <a:buFont typeface="Proxima Nova"/>
              <a:buChar char="○"/>
              <a:defRPr>
                <a:latin typeface="Proxima Nova"/>
                <a:ea typeface="Proxima Nova"/>
                <a:cs typeface="Proxima Nova"/>
                <a:sym typeface="Proxima Nova"/>
              </a:defRPr>
            </a:lvl2pPr>
            <a:lvl3pPr indent="-317500" lvl="2" marL="1371600" rtl="0">
              <a:lnSpc>
                <a:spcPct val="115000"/>
              </a:lnSpc>
              <a:spcBef>
                <a:spcPts val="1600"/>
              </a:spcBef>
              <a:spcAft>
                <a:spcPts val="0"/>
              </a:spcAft>
              <a:buSzPts val="1400"/>
              <a:buFont typeface="Proxima Nova"/>
              <a:buChar char="■"/>
              <a:defRPr>
                <a:latin typeface="Proxima Nova"/>
                <a:ea typeface="Proxima Nova"/>
                <a:cs typeface="Proxima Nova"/>
                <a:sym typeface="Proxima Nova"/>
              </a:defRPr>
            </a:lvl3pPr>
            <a:lvl4pPr indent="-317500" lvl="3" marL="1828800" rtl="0">
              <a:lnSpc>
                <a:spcPct val="115000"/>
              </a:lnSpc>
              <a:spcBef>
                <a:spcPts val="1600"/>
              </a:spcBef>
              <a:spcAft>
                <a:spcPts val="0"/>
              </a:spcAft>
              <a:buSzPts val="1400"/>
              <a:buFont typeface="Proxima Nova"/>
              <a:buChar char="●"/>
              <a:defRPr>
                <a:latin typeface="Proxima Nova"/>
                <a:ea typeface="Proxima Nova"/>
                <a:cs typeface="Proxima Nova"/>
                <a:sym typeface="Proxima Nova"/>
              </a:defRPr>
            </a:lvl4pPr>
            <a:lvl5pPr indent="-317500" lvl="4" marL="2286000" rtl="0">
              <a:lnSpc>
                <a:spcPct val="115000"/>
              </a:lnSpc>
              <a:spcBef>
                <a:spcPts val="1600"/>
              </a:spcBef>
              <a:spcAft>
                <a:spcPts val="0"/>
              </a:spcAft>
              <a:buSzPts val="1400"/>
              <a:buFont typeface="Proxima Nova"/>
              <a:buChar char="○"/>
              <a:defRPr>
                <a:latin typeface="Proxima Nova"/>
                <a:ea typeface="Proxima Nova"/>
                <a:cs typeface="Proxima Nova"/>
                <a:sym typeface="Proxima Nova"/>
              </a:defRPr>
            </a:lvl5pPr>
            <a:lvl6pPr indent="-317500" lvl="5" marL="2743200" rtl="0">
              <a:lnSpc>
                <a:spcPct val="115000"/>
              </a:lnSpc>
              <a:spcBef>
                <a:spcPts val="1600"/>
              </a:spcBef>
              <a:spcAft>
                <a:spcPts val="0"/>
              </a:spcAft>
              <a:buSzPts val="1400"/>
              <a:buFont typeface="Proxima Nova"/>
              <a:buChar char="■"/>
              <a:defRPr>
                <a:latin typeface="Proxima Nova"/>
                <a:ea typeface="Proxima Nova"/>
                <a:cs typeface="Proxima Nova"/>
                <a:sym typeface="Proxima Nova"/>
              </a:defRPr>
            </a:lvl6pPr>
            <a:lvl7pPr indent="-317500" lvl="6" marL="3200400" rtl="0">
              <a:lnSpc>
                <a:spcPct val="115000"/>
              </a:lnSpc>
              <a:spcBef>
                <a:spcPts val="1600"/>
              </a:spcBef>
              <a:spcAft>
                <a:spcPts val="0"/>
              </a:spcAft>
              <a:buSzPts val="1400"/>
              <a:buFont typeface="Proxima Nova"/>
              <a:buChar char="●"/>
              <a:defRPr>
                <a:latin typeface="Proxima Nova"/>
                <a:ea typeface="Proxima Nova"/>
                <a:cs typeface="Proxima Nova"/>
                <a:sym typeface="Proxima Nova"/>
              </a:defRPr>
            </a:lvl7pPr>
            <a:lvl8pPr indent="-317500" lvl="7" marL="3657600" rtl="0">
              <a:lnSpc>
                <a:spcPct val="115000"/>
              </a:lnSpc>
              <a:spcBef>
                <a:spcPts val="1600"/>
              </a:spcBef>
              <a:spcAft>
                <a:spcPts val="0"/>
              </a:spcAft>
              <a:buSzPts val="1400"/>
              <a:buFont typeface="Proxima Nova"/>
              <a:buChar char="○"/>
              <a:defRPr>
                <a:latin typeface="Proxima Nova"/>
                <a:ea typeface="Proxima Nova"/>
                <a:cs typeface="Proxima Nova"/>
                <a:sym typeface="Proxima Nova"/>
              </a:defRPr>
            </a:lvl8pPr>
            <a:lvl9pPr indent="-317500" lvl="8" marL="4114800" rtl="0">
              <a:lnSpc>
                <a:spcPct val="115000"/>
              </a:lnSpc>
              <a:spcBef>
                <a:spcPts val="1600"/>
              </a:spcBef>
              <a:spcAft>
                <a:spcPts val="1600"/>
              </a:spcAft>
              <a:buSzPts val="1400"/>
              <a:buFont typeface="Proxima Nova"/>
              <a:buChar char="■"/>
              <a:defRPr>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8" name="Shape 48"/>
        <p:cNvGrpSpPr/>
        <p:nvPr/>
      </p:nvGrpSpPr>
      <p:grpSpPr>
        <a:xfrm>
          <a:off x="0" y="0"/>
          <a:ext cx="0" cy="0"/>
          <a:chOff x="0" y="0"/>
          <a:chExt cx="0" cy="0"/>
        </a:xfrm>
      </p:grpSpPr>
      <p:sp>
        <p:nvSpPr>
          <p:cNvPr id="49" name="Google Shape;49;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0" name="Google Shape;50;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2" name="Shape 92"/>
        <p:cNvGrpSpPr/>
        <p:nvPr/>
      </p:nvGrpSpPr>
      <p:grpSpPr>
        <a:xfrm>
          <a:off x="0" y="0"/>
          <a:ext cx="0" cy="0"/>
          <a:chOff x="0" y="0"/>
          <a:chExt cx="0" cy="0"/>
        </a:xfrm>
      </p:grpSpPr>
      <p:sp>
        <p:nvSpPr>
          <p:cNvPr id="93" name="Google Shape;93;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94" name="Google Shape;94;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95" name="Google Shape;9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hyperlink" Target="https://studio.code.org/projects/applab/uBQBRCtOKt357C_9TbXWb6p1WTJVcz4XO5BDDHPG03s/embed?nosource" TargetMode="External"/><Relationship Id="rId5" Type="http://schemas.openxmlformats.org/officeDocument/2006/relationships/image" Target="../media/image11.png"/><Relationship Id="rId6" Type="http://schemas.openxmlformats.org/officeDocument/2006/relationships/hyperlink" Target="https://studio.code.org/projects/applab/uBQBRCtOKt357C_9TbXWb6p1WTJVcz4XO5BDDHPG03s/embed?nosourc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 Id="rId3"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9.xml"/><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20.jpg"/><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23.png"/><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37"/>
          <p:cNvSpPr txBox="1"/>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600">
                <a:solidFill>
                  <a:srgbClr val="FFFFFF"/>
                </a:solidFill>
                <a:latin typeface="Proxima Nova"/>
                <a:ea typeface="Proxima Nova"/>
                <a:cs typeface="Proxima Nova"/>
                <a:sym typeface="Proxima Nova"/>
              </a:rPr>
              <a:t>Unit 8</a:t>
            </a:r>
            <a:r>
              <a:rPr b="1" lang="en" sz="3600">
                <a:solidFill>
                  <a:srgbClr val="FFFFFF"/>
                </a:solidFill>
                <a:latin typeface="Proxima Nova"/>
                <a:ea typeface="Proxima Nova"/>
                <a:cs typeface="Proxima Nova"/>
                <a:sym typeface="Proxima Nova"/>
              </a:rPr>
              <a:t> - Lesson 2</a:t>
            </a:r>
            <a:endParaRPr b="1" sz="3600">
              <a:solidFill>
                <a:srgbClr val="FFFFFF"/>
              </a:solidFill>
              <a:latin typeface="Proxima Nova"/>
              <a:ea typeface="Proxima Nova"/>
              <a:cs typeface="Proxima Nova"/>
              <a:sym typeface="Proxima Nova"/>
            </a:endParaRPr>
          </a:p>
          <a:p>
            <a:pPr indent="0" lvl="0" marL="0" rtl="0" algn="ctr">
              <a:spcBef>
                <a:spcPts val="0"/>
              </a:spcBef>
              <a:spcAft>
                <a:spcPts val="0"/>
              </a:spcAft>
              <a:buNone/>
            </a:pPr>
            <a:r>
              <a:rPr b="1" lang="en" sz="3600">
                <a:solidFill>
                  <a:srgbClr val="FFFFFF"/>
                </a:solidFill>
                <a:latin typeface="Proxima Nova"/>
                <a:ea typeface="Proxima Nova"/>
                <a:cs typeface="Proxima Nova"/>
                <a:sym typeface="Proxima Nova"/>
              </a:rPr>
              <a:t>Algorithm Efficiency</a:t>
            </a:r>
            <a:endParaRPr b="1" sz="3600">
              <a:solidFill>
                <a:srgbClr val="FFFFFF"/>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38"/>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47" name="Google Shape;147;p38"/>
          <p:cNvPicPr preferRelativeResize="0"/>
          <p:nvPr/>
        </p:nvPicPr>
        <p:blipFill>
          <a:blip r:embed="rId4">
            <a:alphaModFix/>
          </a:blip>
          <a:stretch>
            <a:fillRect/>
          </a:stretch>
        </p:blipFill>
        <p:spPr>
          <a:xfrm>
            <a:off x="1143000" y="0"/>
            <a:ext cx="6857999" cy="5143500"/>
          </a:xfrm>
          <a:prstGeom prst="rect">
            <a:avLst/>
          </a:prstGeom>
          <a:noFill/>
          <a:ln>
            <a:noFill/>
          </a:ln>
        </p:spPr>
      </p:pic>
      <p:pic>
        <p:nvPicPr>
          <p:cNvPr id="148" name="Google Shape;148;p38"/>
          <p:cNvPicPr preferRelativeResize="0"/>
          <p:nvPr/>
        </p:nvPicPr>
        <p:blipFill>
          <a:blip r:embed="rId3">
            <a:alphaModFix/>
          </a:blip>
          <a:stretch>
            <a:fillRect/>
          </a:stretch>
        </p:blipFill>
        <p:spPr>
          <a:xfrm>
            <a:off x="1143000" y="871675"/>
            <a:ext cx="6857999"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39"/>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154" name="Google Shape;154;p39"/>
          <p:cNvSpPr txBox="1"/>
          <p:nvPr/>
        </p:nvSpPr>
        <p:spPr>
          <a:xfrm>
            <a:off x="455600" y="716950"/>
            <a:ext cx="8118600" cy="397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roxima Nova"/>
                <a:ea typeface="Proxima Nova"/>
                <a:cs typeface="Proxima Nova"/>
                <a:sym typeface="Proxima Nova"/>
              </a:rPr>
              <a:t>Everyone grab a whiteboard </a:t>
            </a:r>
            <a:endParaRPr b="1" sz="3000">
              <a:latin typeface="Proxima Nova"/>
              <a:ea typeface="Proxima Nova"/>
              <a:cs typeface="Proxima Nova"/>
              <a:sym typeface="Proxima Nova"/>
            </a:endParaRPr>
          </a:p>
          <a:p>
            <a:pPr indent="0" lvl="0" marL="0" rtl="0" algn="ctr">
              <a:spcBef>
                <a:spcPts val="0"/>
              </a:spcBef>
              <a:spcAft>
                <a:spcPts val="0"/>
              </a:spcAft>
              <a:buNone/>
            </a:pPr>
            <a:r>
              <a:rPr b="1" lang="en" sz="3000">
                <a:latin typeface="Proxima Nova"/>
                <a:ea typeface="Proxima Nova"/>
                <a:cs typeface="Proxima Nova"/>
                <a:sym typeface="Proxima Nova"/>
              </a:rPr>
              <a:t>and a dry erase marker.</a:t>
            </a:r>
            <a:endParaRPr sz="3000">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40"/>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160" name="Google Shape;160;p40"/>
          <p:cNvSpPr txBox="1"/>
          <p:nvPr/>
        </p:nvSpPr>
        <p:spPr>
          <a:xfrm>
            <a:off x="455600" y="716950"/>
            <a:ext cx="8118600" cy="397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3000">
                <a:latin typeface="Proxima Nova"/>
                <a:ea typeface="Proxima Nova"/>
                <a:cs typeface="Proxima Nova"/>
                <a:sym typeface="Proxima Nova"/>
              </a:rPr>
              <a:t>I need 3 volunteers.</a:t>
            </a:r>
            <a:endParaRPr sz="3000">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41"/>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pic>
        <p:nvPicPr>
          <p:cNvPr id="166" name="Google Shape;166;p41"/>
          <p:cNvPicPr preferRelativeResize="0"/>
          <p:nvPr/>
        </p:nvPicPr>
        <p:blipFill>
          <a:blip r:embed="rId4">
            <a:alphaModFix/>
          </a:blip>
          <a:stretch>
            <a:fillRect/>
          </a:stretch>
        </p:blipFill>
        <p:spPr>
          <a:xfrm rot="900000">
            <a:off x="7172827" y="1194451"/>
            <a:ext cx="1008447" cy="588275"/>
          </a:xfrm>
          <a:prstGeom prst="rect">
            <a:avLst/>
          </a:prstGeom>
          <a:noFill/>
          <a:ln>
            <a:noFill/>
          </a:ln>
        </p:spPr>
      </p:pic>
      <p:sp>
        <p:nvSpPr>
          <p:cNvPr id="167" name="Google Shape;167;p41"/>
          <p:cNvSpPr txBox="1"/>
          <p:nvPr/>
        </p:nvSpPr>
        <p:spPr>
          <a:xfrm>
            <a:off x="441300" y="623925"/>
            <a:ext cx="3796800" cy="39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roxima Nova"/>
                <a:ea typeface="Proxima Nova"/>
                <a:cs typeface="Proxima Nova"/>
                <a:sym typeface="Proxima Nova"/>
              </a:rPr>
              <a:t>3 Volunteers:</a:t>
            </a:r>
            <a:endParaRPr b="1" sz="1800">
              <a:latin typeface="Proxima Nova"/>
              <a:ea typeface="Proxima Nova"/>
              <a:cs typeface="Proxima Nova"/>
              <a:sym typeface="Proxima Nova"/>
            </a:endParaRPr>
          </a:p>
          <a:p>
            <a:pPr indent="0" lvl="0" marL="0" rtl="0" algn="l">
              <a:spcBef>
                <a:spcPts val="0"/>
              </a:spcBef>
              <a:spcAft>
                <a:spcPts val="0"/>
              </a:spcAft>
              <a:buNone/>
            </a:pPr>
            <a:r>
              <a:t/>
            </a:r>
            <a:endParaRPr b="1"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Char char="●"/>
            </a:pPr>
            <a:r>
              <a:rPr lang="en" sz="1800">
                <a:latin typeface="Proxima Nova"/>
                <a:ea typeface="Proxima Nova"/>
                <a:cs typeface="Proxima Nova"/>
                <a:sym typeface="Proxima Nova"/>
              </a:rPr>
              <a:t>We're going to have a raffle.</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Char char="●"/>
            </a:pPr>
            <a:r>
              <a:rPr lang="en" sz="1800">
                <a:latin typeface="Proxima Nova"/>
                <a:ea typeface="Proxima Nova"/>
                <a:cs typeface="Proxima Nova"/>
                <a:sym typeface="Proxima Nova"/>
              </a:rPr>
              <a:t>I'll pull up a QR Code - scan it with your phone to get your 'ticket'</a:t>
            </a:r>
            <a:endParaRPr sz="1800">
              <a:latin typeface="Proxima Nova"/>
              <a:ea typeface="Proxima Nova"/>
              <a:cs typeface="Proxima Nova"/>
              <a:sym typeface="Proxima Nova"/>
            </a:endParaRPr>
          </a:p>
        </p:txBody>
      </p:sp>
      <p:pic>
        <p:nvPicPr>
          <p:cNvPr id="168" name="Google Shape;168;p41"/>
          <p:cNvPicPr preferRelativeResize="0"/>
          <p:nvPr/>
        </p:nvPicPr>
        <p:blipFill>
          <a:blip r:embed="rId5">
            <a:alphaModFix/>
          </a:blip>
          <a:stretch>
            <a:fillRect/>
          </a:stretch>
        </p:blipFill>
        <p:spPr>
          <a:xfrm>
            <a:off x="4733956" y="921250"/>
            <a:ext cx="1641750" cy="2616826"/>
          </a:xfrm>
          <a:prstGeom prst="rect">
            <a:avLst/>
          </a:prstGeom>
          <a:noFill/>
          <a:ln>
            <a:noFill/>
          </a:ln>
        </p:spPr>
      </p:pic>
      <p:pic>
        <p:nvPicPr>
          <p:cNvPr id="169" name="Google Shape;169;p41"/>
          <p:cNvPicPr preferRelativeResize="0"/>
          <p:nvPr/>
        </p:nvPicPr>
        <p:blipFill>
          <a:blip r:embed="rId6">
            <a:alphaModFix/>
          </a:blip>
          <a:stretch>
            <a:fillRect/>
          </a:stretch>
        </p:blipFill>
        <p:spPr>
          <a:xfrm rot="-1670987">
            <a:off x="7804804" y="1705848"/>
            <a:ext cx="1008448" cy="585043"/>
          </a:xfrm>
          <a:prstGeom prst="rect">
            <a:avLst/>
          </a:prstGeom>
          <a:noFill/>
          <a:ln>
            <a:noFill/>
          </a:ln>
        </p:spPr>
      </p:pic>
      <p:pic>
        <p:nvPicPr>
          <p:cNvPr id="170" name="Google Shape;170;p41"/>
          <p:cNvPicPr preferRelativeResize="0"/>
          <p:nvPr/>
        </p:nvPicPr>
        <p:blipFill>
          <a:blip r:embed="rId7">
            <a:alphaModFix/>
          </a:blip>
          <a:stretch>
            <a:fillRect/>
          </a:stretch>
        </p:blipFill>
        <p:spPr>
          <a:xfrm>
            <a:off x="6848723" y="1707454"/>
            <a:ext cx="1014912" cy="5818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42"/>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pic>
        <p:nvPicPr>
          <p:cNvPr id="176" name="Google Shape;176;p42"/>
          <p:cNvPicPr preferRelativeResize="0"/>
          <p:nvPr/>
        </p:nvPicPr>
        <p:blipFill>
          <a:blip r:embed="rId4">
            <a:alphaModFix/>
          </a:blip>
          <a:stretch>
            <a:fillRect/>
          </a:stretch>
        </p:blipFill>
        <p:spPr>
          <a:xfrm rot="900000">
            <a:off x="7172827" y="1194451"/>
            <a:ext cx="1008447" cy="588275"/>
          </a:xfrm>
          <a:prstGeom prst="rect">
            <a:avLst/>
          </a:prstGeom>
          <a:noFill/>
          <a:ln>
            <a:noFill/>
          </a:ln>
        </p:spPr>
      </p:pic>
      <p:sp>
        <p:nvSpPr>
          <p:cNvPr id="177" name="Google Shape;177;p42"/>
          <p:cNvSpPr txBox="1"/>
          <p:nvPr/>
        </p:nvSpPr>
        <p:spPr>
          <a:xfrm>
            <a:off x="441300" y="623925"/>
            <a:ext cx="3796800" cy="39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roxima Nova"/>
                <a:ea typeface="Proxima Nova"/>
                <a:cs typeface="Proxima Nova"/>
                <a:sym typeface="Proxima Nova"/>
              </a:rPr>
              <a:t>Problem: </a:t>
            </a:r>
            <a:r>
              <a:rPr lang="en" sz="1800">
                <a:latin typeface="Proxima Nova"/>
                <a:ea typeface="Proxima Nova"/>
                <a:cs typeface="Proxima Nova"/>
                <a:sym typeface="Proxima Nova"/>
              </a:rPr>
              <a:t>Figure out if anyone has the winning raffle ticket</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0" lvl="0" marL="0" rtl="0" algn="l">
              <a:spcBef>
                <a:spcPts val="0"/>
              </a:spcBef>
              <a:spcAft>
                <a:spcPts val="0"/>
              </a:spcAft>
              <a:buNone/>
            </a:pPr>
            <a:r>
              <a:rPr b="1" lang="en" sz="1800">
                <a:latin typeface="Proxima Nova"/>
                <a:ea typeface="Proxima Nova"/>
                <a:cs typeface="Proxima Nova"/>
                <a:sym typeface="Proxima Nova"/>
              </a:rPr>
              <a:t>Instance: </a:t>
            </a:r>
            <a:r>
              <a:rPr lang="en" sz="1800">
                <a:latin typeface="Proxima Nova"/>
                <a:ea typeface="Proxima Nova"/>
                <a:cs typeface="Proxima Nova"/>
                <a:sym typeface="Proxima Nova"/>
              </a:rPr>
              <a:t>A list of tickets plus the winning number</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0" lvl="0" marL="0" rtl="0" algn="l">
              <a:spcBef>
                <a:spcPts val="0"/>
              </a:spcBef>
              <a:spcAft>
                <a:spcPts val="0"/>
              </a:spcAft>
              <a:buNone/>
            </a:pPr>
            <a:r>
              <a:rPr lang="en" sz="1800">
                <a:latin typeface="Proxima Nova"/>
                <a:ea typeface="Proxima Nova"/>
                <a:cs typeface="Proxima Nova"/>
                <a:sym typeface="Proxima Nova"/>
              </a:rPr>
              <a:t>Let's check if anyone has the winning number!</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p:txBody>
      </p:sp>
      <p:pic>
        <p:nvPicPr>
          <p:cNvPr id="178" name="Google Shape;178;p42"/>
          <p:cNvPicPr preferRelativeResize="0"/>
          <p:nvPr/>
        </p:nvPicPr>
        <p:blipFill>
          <a:blip r:embed="rId5">
            <a:alphaModFix/>
          </a:blip>
          <a:stretch>
            <a:fillRect/>
          </a:stretch>
        </p:blipFill>
        <p:spPr>
          <a:xfrm>
            <a:off x="4733956" y="921250"/>
            <a:ext cx="1641750" cy="2616826"/>
          </a:xfrm>
          <a:prstGeom prst="rect">
            <a:avLst/>
          </a:prstGeom>
          <a:noFill/>
          <a:ln>
            <a:noFill/>
          </a:ln>
        </p:spPr>
      </p:pic>
      <p:pic>
        <p:nvPicPr>
          <p:cNvPr id="179" name="Google Shape;179;p42"/>
          <p:cNvPicPr preferRelativeResize="0"/>
          <p:nvPr/>
        </p:nvPicPr>
        <p:blipFill>
          <a:blip r:embed="rId6">
            <a:alphaModFix/>
          </a:blip>
          <a:stretch>
            <a:fillRect/>
          </a:stretch>
        </p:blipFill>
        <p:spPr>
          <a:xfrm rot="-1670987">
            <a:off x="7804804" y="1705848"/>
            <a:ext cx="1008448" cy="585043"/>
          </a:xfrm>
          <a:prstGeom prst="rect">
            <a:avLst/>
          </a:prstGeom>
          <a:noFill/>
          <a:ln>
            <a:noFill/>
          </a:ln>
        </p:spPr>
      </p:pic>
      <p:pic>
        <p:nvPicPr>
          <p:cNvPr id="180" name="Google Shape;180;p42"/>
          <p:cNvPicPr preferRelativeResize="0"/>
          <p:nvPr/>
        </p:nvPicPr>
        <p:blipFill>
          <a:blip r:embed="rId7">
            <a:alphaModFix/>
          </a:blip>
          <a:stretch>
            <a:fillRect/>
          </a:stretch>
        </p:blipFill>
        <p:spPr>
          <a:xfrm>
            <a:off x="6848723" y="1707454"/>
            <a:ext cx="1014912" cy="58181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p43"/>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186" name="Google Shape;186;p43"/>
          <p:cNvSpPr txBox="1"/>
          <p:nvPr/>
        </p:nvSpPr>
        <p:spPr>
          <a:xfrm>
            <a:off x="455600" y="716950"/>
            <a:ext cx="8118600" cy="397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latin typeface="Proxima Nova"/>
                <a:ea typeface="Proxima Nova"/>
                <a:cs typeface="Proxima Nova"/>
                <a:sym typeface="Proxima Nova"/>
              </a:rPr>
              <a:t>Prompt: </a:t>
            </a:r>
            <a:endParaRPr b="1" sz="3000">
              <a:latin typeface="Proxima Nova"/>
              <a:ea typeface="Proxima Nova"/>
              <a:cs typeface="Proxima Nova"/>
              <a:sym typeface="Proxima Nova"/>
            </a:endParaRPr>
          </a:p>
          <a:p>
            <a:pPr indent="0" lvl="0" marL="0" rtl="0" algn="ctr">
              <a:spcBef>
                <a:spcPts val="0"/>
              </a:spcBef>
              <a:spcAft>
                <a:spcPts val="0"/>
              </a:spcAft>
              <a:buNone/>
            </a:pPr>
            <a:r>
              <a:rPr lang="en" sz="3000">
                <a:latin typeface="Proxima Nova"/>
                <a:ea typeface="Proxima Nova"/>
                <a:cs typeface="Proxima Nova"/>
                <a:sym typeface="Proxima Nova"/>
              </a:rPr>
              <a:t>How many steps did it take to find out if anyone had the winning ticket?</a:t>
            </a:r>
            <a:endParaRPr sz="3000">
              <a:latin typeface="Proxima Nova"/>
              <a:ea typeface="Proxima Nova"/>
              <a:cs typeface="Proxima Nova"/>
              <a:sym typeface="Proxima Nova"/>
            </a:endParaRPr>
          </a:p>
          <a:p>
            <a:pPr indent="0" lvl="0" marL="0" rtl="0" algn="ctr">
              <a:spcBef>
                <a:spcPts val="0"/>
              </a:spcBef>
              <a:spcAft>
                <a:spcPts val="0"/>
              </a:spcAft>
              <a:buNone/>
            </a:pPr>
            <a:r>
              <a:rPr lang="en" sz="1800">
                <a:latin typeface="Proxima Nova"/>
                <a:ea typeface="Proxima Nova"/>
                <a:cs typeface="Proxima Nova"/>
                <a:sym typeface="Proxima Nova"/>
              </a:rPr>
              <a:t>(How many times did I have to ask someone their number?) </a:t>
            </a:r>
            <a:endParaRPr sz="1800">
              <a:latin typeface="Proxima Nova"/>
              <a:ea typeface="Proxima Nova"/>
              <a:cs typeface="Proxima Nova"/>
              <a:sym typeface="Proxima Nova"/>
            </a:endParaRPr>
          </a:p>
          <a:p>
            <a:pPr indent="0" lvl="0" marL="0" rtl="0" algn="ctr">
              <a:spcBef>
                <a:spcPts val="0"/>
              </a:spcBef>
              <a:spcAft>
                <a:spcPts val="0"/>
              </a:spcAft>
              <a:buNone/>
            </a:pPr>
            <a:r>
              <a:t/>
            </a:r>
            <a:endParaRPr sz="3000">
              <a:latin typeface="Proxima Nova"/>
              <a:ea typeface="Proxima Nova"/>
              <a:cs typeface="Proxima Nova"/>
              <a:sym typeface="Proxima Nova"/>
            </a:endParaRPr>
          </a:p>
          <a:p>
            <a:pPr indent="0" lvl="0" marL="0" rtl="0" algn="ctr">
              <a:spcBef>
                <a:spcPts val="0"/>
              </a:spcBef>
              <a:spcAft>
                <a:spcPts val="0"/>
              </a:spcAft>
              <a:buNone/>
            </a:pPr>
            <a:r>
              <a:rPr lang="en" sz="3000">
                <a:latin typeface="Proxima Nova"/>
                <a:ea typeface="Proxima Nova"/>
                <a:cs typeface="Proxima Nova"/>
                <a:sym typeface="Proxima Nova"/>
              </a:rPr>
              <a:t>What is the greatest possible number of steps it could take for this?</a:t>
            </a:r>
            <a:endParaRPr sz="3000">
              <a:latin typeface="Proxima Nova"/>
              <a:ea typeface="Proxima Nova"/>
              <a:cs typeface="Proxima Nova"/>
              <a:sym typeface="Proxima Nova"/>
            </a:endParaRPr>
          </a:p>
          <a:p>
            <a:pPr indent="0" lvl="0" marL="0" rtl="0" algn="l">
              <a:spcBef>
                <a:spcPts val="0"/>
              </a:spcBef>
              <a:spcAft>
                <a:spcPts val="0"/>
              </a:spcAft>
              <a:buNone/>
            </a:pPr>
            <a:r>
              <a:t/>
            </a:r>
            <a:endParaRPr sz="3000">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sp>
        <p:nvSpPr>
          <p:cNvPr id="191" name="Google Shape;191;p44"/>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192" name="Google Shape;192;p44"/>
          <p:cNvSpPr txBox="1"/>
          <p:nvPr/>
        </p:nvSpPr>
        <p:spPr>
          <a:xfrm>
            <a:off x="441300" y="623925"/>
            <a:ext cx="8118600" cy="3979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latin typeface="Proxima Nova"/>
                <a:ea typeface="Proxima Nova"/>
                <a:cs typeface="Proxima Nova"/>
                <a:sym typeface="Proxima Nova"/>
              </a:rPr>
              <a:t>Prompt: </a:t>
            </a:r>
            <a:endParaRPr b="1" sz="3000">
              <a:latin typeface="Proxima Nova"/>
              <a:ea typeface="Proxima Nova"/>
              <a:cs typeface="Proxima Nova"/>
              <a:sym typeface="Proxima Nova"/>
            </a:endParaRPr>
          </a:p>
          <a:p>
            <a:pPr indent="0" lvl="0" marL="0" rtl="0" algn="ctr">
              <a:spcBef>
                <a:spcPts val="0"/>
              </a:spcBef>
              <a:spcAft>
                <a:spcPts val="0"/>
              </a:spcAft>
              <a:buNone/>
            </a:pPr>
            <a:r>
              <a:t/>
            </a:r>
            <a:endParaRPr sz="3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1100"/>
              <a:buFont typeface="Arial"/>
              <a:buNone/>
            </a:pPr>
            <a:r>
              <a:rPr lang="en" sz="3000">
                <a:solidFill>
                  <a:schemeClr val="dk1"/>
                </a:solidFill>
                <a:latin typeface="Proxima Nova"/>
                <a:ea typeface="Proxima Nova"/>
                <a:cs typeface="Proxima Nova"/>
                <a:sym typeface="Proxima Nova"/>
              </a:rPr>
              <a:t>What if we had six volunteers?</a:t>
            </a:r>
            <a:endParaRPr sz="3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1100"/>
              <a:buFont typeface="Arial"/>
              <a:buNone/>
            </a:pPr>
            <a:r>
              <a:rPr lang="en" sz="3000">
                <a:solidFill>
                  <a:schemeClr val="dk1"/>
                </a:solidFill>
                <a:latin typeface="Proxima Nova"/>
                <a:ea typeface="Proxima Nova"/>
                <a:cs typeface="Proxima Nova"/>
                <a:sym typeface="Proxima Nova"/>
              </a:rPr>
              <a:t>The whole class?</a:t>
            </a:r>
            <a:endParaRPr sz="3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1100"/>
              <a:buFont typeface="Arial"/>
              <a:buNone/>
            </a:pPr>
            <a:r>
              <a:rPr lang="en" sz="3000">
                <a:solidFill>
                  <a:schemeClr val="dk1"/>
                </a:solidFill>
                <a:latin typeface="Proxima Nova"/>
                <a:ea typeface="Proxima Nova"/>
                <a:cs typeface="Proxima Nova"/>
                <a:sym typeface="Proxima Nova"/>
              </a:rPr>
              <a:t>The whole school?</a:t>
            </a:r>
            <a:endParaRPr sz="3000">
              <a:latin typeface="Proxima Nova"/>
              <a:ea typeface="Proxima Nova"/>
              <a:cs typeface="Proxima Nova"/>
              <a:sym typeface="Proxima Nova"/>
            </a:endParaRPr>
          </a:p>
          <a:p>
            <a:pPr indent="0" lvl="0" marL="0" rtl="0" algn="ctr">
              <a:spcBef>
                <a:spcPts val="0"/>
              </a:spcBef>
              <a:spcAft>
                <a:spcPts val="0"/>
              </a:spcAft>
              <a:buNone/>
            </a:pPr>
            <a:r>
              <a:t/>
            </a:r>
            <a:endParaRPr sz="3000">
              <a:latin typeface="Proxima Nova"/>
              <a:ea typeface="Proxima Nova"/>
              <a:cs typeface="Proxima Nova"/>
              <a:sym typeface="Proxima Nova"/>
            </a:endParaRPr>
          </a:p>
          <a:p>
            <a:pPr indent="0" lvl="0" marL="0" rtl="0" algn="ctr">
              <a:spcBef>
                <a:spcPts val="0"/>
              </a:spcBef>
              <a:spcAft>
                <a:spcPts val="0"/>
              </a:spcAft>
              <a:buNone/>
            </a:pPr>
            <a:r>
              <a:rPr lang="en" sz="3000">
                <a:latin typeface="Proxima Nova"/>
                <a:ea typeface="Proxima Nova"/>
                <a:cs typeface="Proxima Nova"/>
                <a:sym typeface="Proxima Nova"/>
              </a:rPr>
              <a:t>What is the pattern here?</a:t>
            </a:r>
            <a:endParaRPr sz="3000">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45"/>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aphicFrame>
        <p:nvGraphicFramePr>
          <p:cNvPr id="198" name="Google Shape;198;p45"/>
          <p:cNvGraphicFramePr/>
          <p:nvPr/>
        </p:nvGraphicFramePr>
        <p:xfrm>
          <a:off x="457925" y="706200"/>
          <a:ext cx="3000000" cy="3000000"/>
        </p:xfrm>
        <a:graphic>
          <a:graphicData uri="http://schemas.openxmlformats.org/drawingml/2006/table">
            <a:tbl>
              <a:tblPr>
                <a:noFill/>
                <a:tableStyleId>{BF40959F-0CD0-4D21-BDE8-B8D928FC25E3}</a:tableStyleId>
              </a:tblPr>
              <a:tblGrid>
                <a:gridCol w="1472225"/>
                <a:gridCol w="1177725"/>
                <a:gridCol w="1200400"/>
              </a:tblGrid>
              <a:tr h="548600">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7987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3</a:t>
                      </a:r>
                      <a:endParaRPr sz="36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3</a:t>
                      </a:r>
                      <a:endParaRPr sz="3600">
                        <a:latin typeface="Proxima Nova"/>
                        <a:ea typeface="Proxima Nova"/>
                        <a:cs typeface="Proxima Nova"/>
                        <a:sym typeface="Proxima Nova"/>
                      </a:endParaRPr>
                    </a:p>
                  </a:txBody>
                  <a:tcPr marT="91425" marB="91425" marR="91425" marL="91425" anchor="ctr"/>
                </a:tc>
              </a:tr>
              <a:tr h="7987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36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6</a:t>
                      </a:r>
                      <a:endParaRPr sz="36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6</a:t>
                      </a:r>
                      <a:endParaRPr sz="3600">
                        <a:latin typeface="Proxima Nova"/>
                        <a:ea typeface="Proxima Nova"/>
                        <a:cs typeface="Proxima Nova"/>
                        <a:sym typeface="Proxima Nova"/>
                      </a:endParaRPr>
                    </a:p>
                  </a:txBody>
                  <a:tcPr marT="91425" marB="91425" marR="91425" marL="91425" anchor="ctr"/>
                </a:tc>
              </a:tr>
              <a:tr h="7987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36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10</a:t>
                      </a:r>
                      <a:endParaRPr sz="36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10</a:t>
                      </a:r>
                      <a:endParaRPr sz="3600">
                        <a:latin typeface="Proxima Nova"/>
                        <a:ea typeface="Proxima Nova"/>
                        <a:cs typeface="Proxima Nova"/>
                        <a:sym typeface="Proxima Nova"/>
                      </a:endParaRPr>
                    </a:p>
                  </a:txBody>
                  <a:tcPr marT="91425" marB="91425" marR="91425" marL="91425" anchor="ctr"/>
                </a:tc>
              </a:tr>
              <a:tr h="7987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36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100</a:t>
                      </a:r>
                      <a:endParaRPr sz="36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3600">
                          <a:latin typeface="Proxima Nova"/>
                          <a:ea typeface="Proxima Nova"/>
                          <a:cs typeface="Proxima Nova"/>
                          <a:sym typeface="Proxima Nova"/>
                        </a:rPr>
                        <a:t>100</a:t>
                      </a:r>
                      <a:endParaRPr sz="3600">
                        <a:latin typeface="Proxima Nova"/>
                        <a:ea typeface="Proxima Nova"/>
                        <a:cs typeface="Proxima Nova"/>
                        <a:sym typeface="Proxima Nova"/>
                      </a:endParaRPr>
                    </a:p>
                  </a:txBody>
                  <a:tcPr marT="91425" marB="91425" marR="91425" marL="91425" anchor="ctr"/>
                </a:tc>
              </a:tr>
            </a:tbl>
          </a:graphicData>
        </a:graphic>
      </p:graphicFrame>
      <p:cxnSp>
        <p:nvCxnSpPr>
          <p:cNvPr id="199" name="Google Shape;199;p45"/>
          <p:cNvCxnSpPr/>
          <p:nvPr/>
        </p:nvCxnSpPr>
        <p:spPr>
          <a:xfrm>
            <a:off x="5546750" y="1222938"/>
            <a:ext cx="0" cy="2564100"/>
          </a:xfrm>
          <a:prstGeom prst="straightConnector1">
            <a:avLst/>
          </a:prstGeom>
          <a:noFill/>
          <a:ln cap="flat" cmpd="sng" w="9525">
            <a:solidFill>
              <a:schemeClr val="dk2"/>
            </a:solidFill>
            <a:prstDash val="solid"/>
            <a:round/>
            <a:headEnd len="med" w="med" type="none"/>
            <a:tailEnd len="med" w="med" type="none"/>
          </a:ln>
        </p:spPr>
      </p:cxnSp>
      <p:cxnSp>
        <p:nvCxnSpPr>
          <p:cNvPr id="200" name="Google Shape;200;p45"/>
          <p:cNvCxnSpPr/>
          <p:nvPr/>
        </p:nvCxnSpPr>
        <p:spPr>
          <a:xfrm>
            <a:off x="6828800" y="2504988"/>
            <a:ext cx="0" cy="2564100"/>
          </a:xfrm>
          <a:prstGeom prst="straightConnector1">
            <a:avLst/>
          </a:prstGeom>
          <a:noFill/>
          <a:ln cap="flat" cmpd="sng" w="9525">
            <a:solidFill>
              <a:schemeClr val="dk2"/>
            </a:solidFill>
            <a:prstDash val="solid"/>
            <a:round/>
            <a:headEnd len="med" w="med" type="none"/>
            <a:tailEnd len="med" w="med" type="none"/>
          </a:ln>
        </p:spPr>
      </p:cxnSp>
      <p:cxnSp>
        <p:nvCxnSpPr>
          <p:cNvPr id="201" name="Google Shape;201;p45"/>
          <p:cNvCxnSpPr/>
          <p:nvPr/>
        </p:nvCxnSpPr>
        <p:spPr>
          <a:xfrm flipH="1">
            <a:off x="5546700" y="1312088"/>
            <a:ext cx="2475000" cy="2475000"/>
          </a:xfrm>
          <a:prstGeom prst="straightConnector1">
            <a:avLst/>
          </a:prstGeom>
          <a:noFill/>
          <a:ln cap="flat" cmpd="sng" w="76200">
            <a:solidFill>
              <a:srgbClr val="F1C232"/>
            </a:solidFill>
            <a:prstDash val="solid"/>
            <a:round/>
            <a:headEnd len="med" w="med" type="none"/>
            <a:tailEnd len="med" w="med" type="none"/>
          </a:ln>
        </p:spPr>
      </p:cxnSp>
      <p:sp>
        <p:nvSpPr>
          <p:cNvPr id="202" name="Google Shape;202;p45"/>
          <p:cNvSpPr txBox="1"/>
          <p:nvPr/>
        </p:nvSpPr>
        <p:spPr>
          <a:xfrm>
            <a:off x="5577175" y="3858888"/>
            <a:ext cx="2533800" cy="2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a:t>
            </a:r>
            <a:endParaRPr/>
          </a:p>
        </p:txBody>
      </p:sp>
      <p:sp>
        <p:nvSpPr>
          <p:cNvPr id="203" name="Google Shape;203;p45"/>
          <p:cNvSpPr txBox="1"/>
          <p:nvPr/>
        </p:nvSpPr>
        <p:spPr>
          <a:xfrm>
            <a:off x="5105700" y="1172163"/>
            <a:ext cx="441000" cy="247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  10  9  8  7  6  5  4  3  2  1</a:t>
            </a:r>
            <a:endParaRPr/>
          </a:p>
        </p:txBody>
      </p:sp>
      <p:sp>
        <p:nvSpPr>
          <p:cNvPr id="204" name="Google Shape;204;p45"/>
          <p:cNvSpPr txBox="1"/>
          <p:nvPr/>
        </p:nvSpPr>
        <p:spPr>
          <a:xfrm>
            <a:off x="6375050" y="4228575"/>
            <a:ext cx="1066200" cy="2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205" name="Google Shape;205;p45"/>
          <p:cNvSpPr txBox="1"/>
          <p:nvPr/>
        </p:nvSpPr>
        <p:spPr>
          <a:xfrm rot="-5400000">
            <a:off x="4500450" y="2193900"/>
            <a:ext cx="1066200" cy="2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sp>
        <p:nvSpPr>
          <p:cNvPr id="210" name="Google Shape;210;p46"/>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211" name="Google Shape;211;p46"/>
          <p:cNvSpPr txBox="1"/>
          <p:nvPr/>
        </p:nvSpPr>
        <p:spPr>
          <a:xfrm>
            <a:off x="441300" y="623925"/>
            <a:ext cx="4179900" cy="39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roxima Nova"/>
                <a:ea typeface="Proxima Nova"/>
                <a:cs typeface="Proxima Nova"/>
                <a:sym typeface="Proxima Nova"/>
              </a:rPr>
              <a:t>With a partner…</a:t>
            </a:r>
            <a:endParaRPr b="1"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0" lvl="0" marL="0" rtl="0" algn="l">
              <a:spcBef>
                <a:spcPts val="0"/>
              </a:spcBef>
              <a:spcAft>
                <a:spcPts val="0"/>
              </a:spcAft>
              <a:buNone/>
            </a:pPr>
            <a:r>
              <a:rPr b="1" lang="en" sz="1800">
                <a:latin typeface="Proxima Nova"/>
                <a:ea typeface="Proxima Nova"/>
                <a:cs typeface="Proxima Nova"/>
                <a:sym typeface="Proxima Nova"/>
              </a:rPr>
              <a:t>Do This:</a:t>
            </a:r>
            <a:endParaRPr b="1" sz="1800">
              <a:latin typeface="Proxima Nova"/>
              <a:ea typeface="Proxima Nova"/>
              <a:cs typeface="Proxima Nova"/>
              <a:sym typeface="Proxima Nova"/>
            </a:endParaRPr>
          </a:p>
          <a:p>
            <a:pPr indent="-330200" lvl="0" marL="457200" rtl="0" algn="l">
              <a:spcBef>
                <a:spcPts val="0"/>
              </a:spcBef>
              <a:spcAft>
                <a:spcPts val="0"/>
              </a:spcAft>
              <a:buSzPts val="1600"/>
              <a:buFont typeface="Proxima Nova"/>
              <a:buChar char="●"/>
            </a:pPr>
            <a:r>
              <a:rPr lang="en" sz="1600">
                <a:latin typeface="Proxima Nova"/>
                <a:ea typeface="Proxima Nova"/>
                <a:cs typeface="Proxima Nova"/>
                <a:sym typeface="Proxima Nova"/>
              </a:rPr>
              <a:t>Use the ticket generator to generate seven tickets. Write down the numbers on your whiteboard in </a:t>
            </a:r>
            <a:r>
              <a:rPr b="1" lang="en" sz="1600">
                <a:latin typeface="Proxima Nova"/>
                <a:ea typeface="Proxima Nova"/>
                <a:cs typeface="Proxima Nova"/>
                <a:sym typeface="Proxima Nova"/>
              </a:rPr>
              <a:t>numerical order</a:t>
            </a:r>
            <a:r>
              <a:rPr lang="en" sz="1600">
                <a:latin typeface="Proxima Nova"/>
                <a:ea typeface="Proxima Nova"/>
                <a:cs typeface="Proxima Nova"/>
                <a:sym typeface="Proxima Nova"/>
              </a:rPr>
              <a:t>. </a:t>
            </a:r>
            <a:endParaRPr sz="1600">
              <a:latin typeface="Proxima Nova"/>
              <a:ea typeface="Proxima Nova"/>
              <a:cs typeface="Proxima Nova"/>
              <a:sym typeface="Proxima Nova"/>
            </a:endParaRPr>
          </a:p>
          <a:p>
            <a:pPr indent="-330200" lvl="0" marL="457200" rtl="0" algn="l">
              <a:spcBef>
                <a:spcPts val="0"/>
              </a:spcBef>
              <a:spcAft>
                <a:spcPts val="0"/>
              </a:spcAft>
              <a:buSzPts val="1600"/>
              <a:buFont typeface="Proxima Nova"/>
              <a:buChar char="●"/>
            </a:pPr>
            <a:r>
              <a:rPr lang="en" sz="1600">
                <a:latin typeface="Proxima Nova"/>
                <a:ea typeface="Proxima Nova"/>
                <a:cs typeface="Proxima Nova"/>
                <a:sym typeface="Proxima Nova"/>
              </a:rPr>
              <a:t>Copy one of the numbers to the top of your whiteboard. This is the number you are searching for. </a:t>
            </a:r>
            <a:endParaRPr sz="1600">
              <a:latin typeface="Proxima Nova"/>
              <a:ea typeface="Proxima Nova"/>
              <a:cs typeface="Proxima Nova"/>
              <a:sym typeface="Proxima Nova"/>
            </a:endParaRPr>
          </a:p>
        </p:txBody>
      </p:sp>
      <p:pic>
        <p:nvPicPr>
          <p:cNvPr id="212" name="Google Shape;212;p46">
            <a:hlinkClick r:id="rId4"/>
          </p:cNvPr>
          <p:cNvPicPr preferRelativeResize="0"/>
          <p:nvPr/>
        </p:nvPicPr>
        <p:blipFill>
          <a:blip r:embed="rId5">
            <a:alphaModFix/>
          </a:blip>
          <a:stretch>
            <a:fillRect/>
          </a:stretch>
        </p:blipFill>
        <p:spPr>
          <a:xfrm>
            <a:off x="4696577" y="437600"/>
            <a:ext cx="1133600" cy="1806875"/>
          </a:xfrm>
          <a:prstGeom prst="rect">
            <a:avLst/>
          </a:prstGeom>
          <a:noFill/>
          <a:ln>
            <a:noFill/>
          </a:ln>
        </p:spPr>
      </p:pic>
      <p:grpSp>
        <p:nvGrpSpPr>
          <p:cNvPr id="213" name="Google Shape;213;p46"/>
          <p:cNvGrpSpPr/>
          <p:nvPr/>
        </p:nvGrpSpPr>
        <p:grpSpPr>
          <a:xfrm rot="-786144">
            <a:off x="4653614" y="1959103"/>
            <a:ext cx="4245446" cy="2648491"/>
            <a:chOff x="4619175" y="2304925"/>
            <a:chExt cx="4245300" cy="2648400"/>
          </a:xfrm>
        </p:grpSpPr>
        <p:sp>
          <p:nvSpPr>
            <p:cNvPr id="214" name="Google Shape;214;p46"/>
            <p:cNvSpPr/>
            <p:nvPr/>
          </p:nvSpPr>
          <p:spPr>
            <a:xfrm>
              <a:off x="4619175" y="2304925"/>
              <a:ext cx="4245300" cy="264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46"/>
            <p:cNvSpPr txBox="1"/>
            <p:nvPr/>
          </p:nvSpPr>
          <p:spPr>
            <a:xfrm>
              <a:off x="4724300" y="4141425"/>
              <a:ext cx="46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ming Soon"/>
                  <a:ea typeface="Coming Soon"/>
                  <a:cs typeface="Coming Soon"/>
                  <a:sym typeface="Coming Soon"/>
                </a:rPr>
                <a:t>117</a:t>
              </a:r>
              <a:endParaRPr sz="1800">
                <a:latin typeface="Coming Soon"/>
                <a:ea typeface="Coming Soon"/>
                <a:cs typeface="Coming Soon"/>
                <a:sym typeface="Coming Soon"/>
              </a:endParaRPr>
            </a:p>
          </p:txBody>
        </p:sp>
        <p:sp>
          <p:nvSpPr>
            <p:cNvPr id="216" name="Google Shape;216;p46"/>
            <p:cNvSpPr txBox="1"/>
            <p:nvPr/>
          </p:nvSpPr>
          <p:spPr>
            <a:xfrm>
              <a:off x="5171496" y="4141425"/>
              <a:ext cx="6711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ming Soon"/>
                  <a:ea typeface="Coming Soon"/>
                  <a:cs typeface="Coming Soon"/>
                  <a:sym typeface="Coming Soon"/>
                </a:rPr>
                <a:t>232</a:t>
              </a:r>
              <a:endParaRPr sz="1800">
                <a:latin typeface="Coming Soon"/>
                <a:ea typeface="Coming Soon"/>
                <a:cs typeface="Coming Soon"/>
                <a:sym typeface="Coming Soon"/>
              </a:endParaRPr>
            </a:p>
          </p:txBody>
        </p:sp>
        <p:sp>
          <p:nvSpPr>
            <p:cNvPr id="217" name="Google Shape;217;p46"/>
            <p:cNvSpPr txBox="1"/>
            <p:nvPr/>
          </p:nvSpPr>
          <p:spPr>
            <a:xfrm>
              <a:off x="5829292" y="4141425"/>
              <a:ext cx="64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ming Soon"/>
                  <a:ea typeface="Coming Soon"/>
                  <a:cs typeface="Coming Soon"/>
                  <a:sym typeface="Coming Soon"/>
                </a:rPr>
                <a:t>245</a:t>
              </a:r>
              <a:endParaRPr sz="1800">
                <a:latin typeface="Coming Soon"/>
                <a:ea typeface="Coming Soon"/>
                <a:cs typeface="Coming Soon"/>
                <a:sym typeface="Coming Soon"/>
              </a:endParaRPr>
            </a:p>
          </p:txBody>
        </p:sp>
        <p:sp>
          <p:nvSpPr>
            <p:cNvPr id="218" name="Google Shape;218;p46"/>
            <p:cNvSpPr txBox="1"/>
            <p:nvPr/>
          </p:nvSpPr>
          <p:spPr>
            <a:xfrm>
              <a:off x="6456488" y="4141425"/>
              <a:ext cx="514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ming Soon"/>
                  <a:ea typeface="Coming Soon"/>
                  <a:cs typeface="Coming Soon"/>
                  <a:sym typeface="Coming Soon"/>
                </a:rPr>
                <a:t>410</a:t>
              </a:r>
              <a:endParaRPr sz="1800">
                <a:latin typeface="Coming Soon"/>
                <a:ea typeface="Coming Soon"/>
                <a:cs typeface="Coming Soon"/>
                <a:sym typeface="Coming Soon"/>
              </a:endParaRPr>
            </a:p>
          </p:txBody>
        </p:sp>
        <p:sp>
          <p:nvSpPr>
            <p:cNvPr id="219" name="Google Shape;219;p46"/>
            <p:cNvSpPr txBox="1"/>
            <p:nvPr/>
          </p:nvSpPr>
          <p:spPr>
            <a:xfrm>
              <a:off x="6957983" y="4141425"/>
              <a:ext cx="562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ming Soon"/>
                  <a:ea typeface="Coming Soon"/>
                  <a:cs typeface="Coming Soon"/>
                  <a:sym typeface="Coming Soon"/>
                </a:rPr>
                <a:t>705</a:t>
              </a:r>
              <a:endParaRPr sz="1800"/>
            </a:p>
          </p:txBody>
        </p:sp>
        <p:sp>
          <p:nvSpPr>
            <p:cNvPr id="220" name="Google Shape;220;p46"/>
            <p:cNvSpPr txBox="1"/>
            <p:nvPr/>
          </p:nvSpPr>
          <p:spPr>
            <a:xfrm>
              <a:off x="7507479" y="4141425"/>
              <a:ext cx="709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ming Soon"/>
                  <a:ea typeface="Coming Soon"/>
                  <a:cs typeface="Coming Soon"/>
                  <a:sym typeface="Coming Soon"/>
                </a:rPr>
                <a:t>716</a:t>
              </a:r>
              <a:endParaRPr sz="1800"/>
            </a:p>
          </p:txBody>
        </p:sp>
        <p:sp>
          <p:nvSpPr>
            <p:cNvPr id="221" name="Google Shape;221;p46"/>
            <p:cNvSpPr txBox="1"/>
            <p:nvPr/>
          </p:nvSpPr>
          <p:spPr>
            <a:xfrm>
              <a:off x="8203975" y="4141425"/>
              <a:ext cx="64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Coming Soon"/>
                  <a:ea typeface="Coming Soon"/>
                  <a:cs typeface="Coming Soon"/>
                  <a:sym typeface="Coming Soon"/>
                </a:rPr>
                <a:t>833</a:t>
              </a:r>
              <a:endParaRPr sz="1800"/>
            </a:p>
          </p:txBody>
        </p:sp>
        <p:sp>
          <p:nvSpPr>
            <p:cNvPr id="222" name="Google Shape;222;p46"/>
            <p:cNvSpPr/>
            <p:nvPr/>
          </p:nvSpPr>
          <p:spPr>
            <a:xfrm>
              <a:off x="7779825" y="2517825"/>
              <a:ext cx="898200" cy="392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Coming Soon"/>
                  <a:ea typeface="Coming Soon"/>
                  <a:cs typeface="Coming Soon"/>
                  <a:sym typeface="Coming Soon"/>
                </a:rPr>
                <a:t>705</a:t>
              </a:r>
              <a:endParaRPr sz="1800">
                <a:latin typeface="Coming Soon"/>
                <a:ea typeface="Coming Soon"/>
                <a:cs typeface="Coming Soon"/>
                <a:sym typeface="Coming Soon"/>
              </a:endParaRPr>
            </a:p>
          </p:txBody>
        </p:sp>
      </p:grpSp>
      <p:cxnSp>
        <p:nvCxnSpPr>
          <p:cNvPr id="223" name="Google Shape;223;p46"/>
          <p:cNvCxnSpPr>
            <a:stCxn id="219" idx="0"/>
          </p:cNvCxnSpPr>
          <p:nvPr/>
        </p:nvCxnSpPr>
        <p:spPr>
          <a:xfrm rot="-5400000">
            <a:off x="7028198" y="2758732"/>
            <a:ext cx="1259700" cy="561900"/>
          </a:xfrm>
          <a:prstGeom prst="curvedConnector3">
            <a:avLst>
              <a:gd fmla="val 52532" name="adj1"/>
            </a:avLst>
          </a:prstGeom>
          <a:noFill/>
          <a:ln cap="flat" cmpd="sng" w="19050">
            <a:solidFill>
              <a:srgbClr val="0000FF"/>
            </a:solidFill>
            <a:prstDash val="dash"/>
            <a:round/>
            <a:headEnd len="med" w="med" type="stealth"/>
            <a:tailEnd len="med" w="med" type="stealth"/>
          </a:ln>
        </p:spPr>
      </p:cxnSp>
      <p:sp>
        <p:nvSpPr>
          <p:cNvPr id="224" name="Google Shape;224;p46">
            <a:hlinkClick r:id="rId6"/>
          </p:cNvPr>
          <p:cNvSpPr/>
          <p:nvPr/>
        </p:nvSpPr>
        <p:spPr>
          <a:xfrm>
            <a:off x="3467400" y="662913"/>
            <a:ext cx="1104600" cy="539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Click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sp>
        <p:nvSpPr>
          <p:cNvPr id="229" name="Google Shape;229;p47"/>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230" name="Google Shape;230;p47"/>
          <p:cNvSpPr txBox="1"/>
          <p:nvPr/>
        </p:nvSpPr>
        <p:spPr>
          <a:xfrm>
            <a:off x="513450" y="582150"/>
            <a:ext cx="8117100" cy="39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roxima Nova"/>
                <a:ea typeface="Proxima Nova"/>
                <a:cs typeface="Proxima Nova"/>
                <a:sym typeface="Proxima Nova"/>
              </a:rPr>
              <a:t>Challenge: With a partner </a:t>
            </a:r>
            <a:r>
              <a:rPr lang="en" sz="2400">
                <a:latin typeface="Proxima Nova"/>
                <a:ea typeface="Proxima Nova"/>
                <a:cs typeface="Proxima Nova"/>
                <a:sym typeface="Proxima Nova"/>
              </a:rPr>
              <a:t>Create an algorithm to determine if a given number is in a list of sorted numbers. </a:t>
            </a:r>
            <a:endParaRPr sz="2400">
              <a:latin typeface="Proxima Nova"/>
              <a:ea typeface="Proxima Nova"/>
              <a:cs typeface="Proxima Nova"/>
              <a:sym typeface="Proxima Nova"/>
            </a:endParaRPr>
          </a:p>
          <a:p>
            <a:pPr indent="0" lvl="0" marL="0" rtl="0" algn="l">
              <a:spcBef>
                <a:spcPts val="0"/>
              </a:spcBef>
              <a:spcAft>
                <a:spcPts val="0"/>
              </a:spcAft>
              <a:buNone/>
            </a:pPr>
            <a:r>
              <a:t/>
            </a:r>
            <a:endParaRPr sz="2400">
              <a:latin typeface="Proxima Nova"/>
              <a:ea typeface="Proxima Nova"/>
              <a:cs typeface="Proxima Nova"/>
              <a:sym typeface="Proxima Nova"/>
            </a:endParaRPr>
          </a:p>
          <a:p>
            <a:pPr indent="-317500" lvl="0" marL="457200" rtl="0" algn="l">
              <a:spcBef>
                <a:spcPts val="0"/>
              </a:spcBef>
              <a:spcAft>
                <a:spcPts val="0"/>
              </a:spcAft>
              <a:buClr>
                <a:schemeClr val="dk1"/>
              </a:buClr>
              <a:buSzPts val="1400"/>
              <a:buFont typeface="Proxima Nova"/>
              <a:buChar char="●"/>
            </a:pPr>
            <a:r>
              <a:rPr lang="en">
                <a:solidFill>
                  <a:schemeClr val="dk1"/>
                </a:solidFill>
                <a:latin typeface="Proxima Nova"/>
                <a:ea typeface="Proxima Nova"/>
                <a:cs typeface="Proxima Nova"/>
                <a:sym typeface="Proxima Nova"/>
              </a:rPr>
              <a:t>Pretend the numbers are hidden so you cannot see them unless you unhide them one at a time when comparing them. That is, you can only "see" one of the numbers in your list at a time.</a:t>
            </a:r>
            <a:endParaRPr>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The search can start at any of the numbers, but you can only compare one at a time. All other numbers are flipped over so you cannot see them.</a:t>
            </a:r>
            <a:endParaRPr>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You can "jump" over numbers. In other words, you don't need to search them in order. </a:t>
            </a:r>
            <a:endParaRPr>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You can determine which number to search next based on the current number you are checking. </a:t>
            </a:r>
            <a:endParaRPr>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The goal is to make the determination in the least steps possible, but don't forget your number could be anywhere in the list - what is the worst possible case? What is the greatest number of comparison steps it would take to find any number in your list using your current algorithm? </a:t>
            </a:r>
            <a:endParaRPr>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4" name="Shape 234"/>
        <p:cNvGrpSpPr/>
        <p:nvPr/>
      </p:nvGrpSpPr>
      <p:grpSpPr>
        <a:xfrm>
          <a:off x="0" y="0"/>
          <a:ext cx="0" cy="0"/>
          <a:chOff x="0" y="0"/>
          <a:chExt cx="0" cy="0"/>
        </a:xfrm>
      </p:grpSpPr>
      <p:sp>
        <p:nvSpPr>
          <p:cNvPr id="235" name="Google Shape;235;p48"/>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236" name="Google Shape;236;p48"/>
          <p:cNvSpPr txBox="1"/>
          <p:nvPr/>
        </p:nvSpPr>
        <p:spPr>
          <a:xfrm>
            <a:off x="815475" y="1238325"/>
            <a:ext cx="7505400" cy="3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roxima Nova"/>
                <a:ea typeface="Proxima Nova"/>
                <a:cs typeface="Proxima Nova"/>
                <a:sym typeface="Proxima Nova"/>
              </a:rPr>
              <a:t>Share &amp; Compare</a:t>
            </a:r>
            <a:r>
              <a:rPr b="1" lang="en" sz="2400">
                <a:latin typeface="Proxima Nova"/>
                <a:ea typeface="Proxima Nova"/>
                <a:cs typeface="Proxima Nova"/>
                <a:sym typeface="Proxima Nova"/>
              </a:rPr>
              <a:t>: </a:t>
            </a:r>
            <a:r>
              <a:rPr lang="en" sz="2400">
                <a:latin typeface="Proxima Nova"/>
                <a:ea typeface="Proxima Nova"/>
                <a:cs typeface="Proxima Nova"/>
                <a:sym typeface="Proxima Nova"/>
              </a:rPr>
              <a:t>Partner up with another group. Share your algorithms and practice running both fully. Determine which one is "faster" or takes the least amount of comparison steps. </a:t>
            </a:r>
            <a:endParaRPr>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49"/>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242" name="Google Shape;242;p49"/>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6" name="Shape 246"/>
        <p:cNvGrpSpPr/>
        <p:nvPr/>
      </p:nvGrpSpPr>
      <p:grpSpPr>
        <a:xfrm>
          <a:off x="0" y="0"/>
          <a:ext cx="0" cy="0"/>
          <a:chOff x="0" y="0"/>
          <a:chExt cx="0" cy="0"/>
        </a:xfrm>
      </p:grpSpPr>
      <p:sp>
        <p:nvSpPr>
          <p:cNvPr id="247" name="Google Shape;247;p50"/>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248" name="Google Shape;248;p50"/>
          <p:cNvSpPr txBox="1"/>
          <p:nvPr/>
        </p:nvSpPr>
        <p:spPr>
          <a:xfrm>
            <a:off x="513450" y="582150"/>
            <a:ext cx="8117100" cy="39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roxima Nova"/>
                <a:ea typeface="Proxima Nova"/>
                <a:cs typeface="Proxima Nova"/>
                <a:sym typeface="Proxima Nova"/>
              </a:rPr>
              <a:t> </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Find the middle number in the list. Compare that number to the given number. If the number is less than the given number, remove all of the cards to the right (including the middle number). If the number is more than the given number, remove all of the cards to the left (including the middle number).</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Find the middle number in this shorter list. Follow the instructions in Step #1 for comparing. </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Find the middle number in this new shorter list. Follow the instructions in Step #1 for comparing.</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0" lvl="0" marL="0" rtl="0" algn="l">
              <a:spcBef>
                <a:spcPts val="0"/>
              </a:spcBef>
              <a:spcAft>
                <a:spcPts val="0"/>
              </a:spcAft>
              <a:buNone/>
            </a:pPr>
            <a:r>
              <a:rPr lang="en" sz="1800">
                <a:latin typeface="Proxima Nova"/>
                <a:ea typeface="Proxima Nova"/>
                <a:cs typeface="Proxima Nova"/>
                <a:sym typeface="Proxima Nova"/>
              </a:rPr>
              <a:t>You have found your number! </a:t>
            </a:r>
            <a:endParaRPr sz="1800">
              <a:latin typeface="Proxima Nova"/>
              <a:ea typeface="Proxima Nova"/>
              <a:cs typeface="Proxima Nova"/>
              <a:sym typeface="Proxima Nova"/>
            </a:endParaRPr>
          </a:p>
        </p:txBody>
      </p:sp>
      <p:sp>
        <p:nvSpPr>
          <p:cNvPr id="249" name="Google Shape;249;p50"/>
          <p:cNvSpPr txBox="1"/>
          <p:nvPr/>
        </p:nvSpPr>
        <p:spPr>
          <a:xfrm>
            <a:off x="292925" y="582150"/>
            <a:ext cx="82890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Do This: </a:t>
            </a:r>
            <a:r>
              <a:rPr lang="en" sz="1800">
                <a:solidFill>
                  <a:schemeClr val="dk1"/>
                </a:solidFill>
                <a:latin typeface="Proxima Nova"/>
                <a:ea typeface="Proxima Nova"/>
                <a:cs typeface="Proxima Nova"/>
                <a:sym typeface="Proxima Nova"/>
              </a:rPr>
              <a:t>Now try this algorithm. See how it compares to your own. </a:t>
            </a:r>
            <a:endParaRPr sz="1800">
              <a:solidFill>
                <a:schemeClr val="dk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3" name="Shape 253"/>
        <p:cNvGrpSpPr/>
        <p:nvPr/>
      </p:nvGrpSpPr>
      <p:grpSpPr>
        <a:xfrm>
          <a:off x="0" y="0"/>
          <a:ext cx="0" cy="0"/>
          <a:chOff x="0" y="0"/>
          <a:chExt cx="0" cy="0"/>
        </a:xfrm>
      </p:grpSpPr>
      <p:sp>
        <p:nvSpPr>
          <p:cNvPr id="254" name="Google Shape;254;p51"/>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 Lesson 2 - Activity</a:t>
            </a:r>
            <a:endParaRPr>
              <a:solidFill>
                <a:srgbClr val="FFFFFF"/>
              </a:solidFill>
            </a:endParaRPr>
          </a:p>
        </p:txBody>
      </p:sp>
      <p:sp>
        <p:nvSpPr>
          <p:cNvPr id="255" name="Google Shape;255;p51"/>
          <p:cNvSpPr txBox="1"/>
          <p:nvPr/>
        </p:nvSpPr>
        <p:spPr>
          <a:xfrm>
            <a:off x="513450" y="1159950"/>
            <a:ext cx="8117100" cy="3401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Everybody</a:t>
            </a:r>
            <a:r>
              <a:rPr lang="en" sz="1800">
                <a:latin typeface="Proxima Nova"/>
                <a:ea typeface="Proxima Nova"/>
                <a:cs typeface="Proxima Nova"/>
                <a:sym typeface="Proxima Nova"/>
              </a:rPr>
              <a:t> scan the qr code to get your number.</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Line up across the front of the room IN NUMERICAL ORDER.</a:t>
            </a:r>
            <a:endParaRPr sz="1800">
              <a:latin typeface="Proxima Nova"/>
              <a:ea typeface="Proxima Nova"/>
              <a:cs typeface="Proxima Nova"/>
              <a:sym typeface="Proxima Nova"/>
            </a:endParaRPr>
          </a:p>
        </p:txBody>
      </p:sp>
      <p:sp>
        <p:nvSpPr>
          <p:cNvPr id="256" name="Google Shape;256;p51"/>
          <p:cNvSpPr txBox="1"/>
          <p:nvPr/>
        </p:nvSpPr>
        <p:spPr>
          <a:xfrm>
            <a:off x="292925" y="582150"/>
            <a:ext cx="82890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Do This: </a:t>
            </a:r>
            <a:r>
              <a:rPr lang="en" sz="1800">
                <a:solidFill>
                  <a:schemeClr val="dk1"/>
                </a:solidFill>
                <a:latin typeface="Proxima Nova"/>
                <a:ea typeface="Proxima Nova"/>
                <a:cs typeface="Proxima Nova"/>
                <a:sym typeface="Proxima Nova"/>
              </a:rPr>
              <a:t>Let's try out the algorithm with another raffle!</a:t>
            </a:r>
            <a:endParaRPr sz="1800">
              <a:solidFill>
                <a:schemeClr val="dk1"/>
              </a:solidFill>
              <a:latin typeface="Proxima Nova"/>
              <a:ea typeface="Proxima Nova"/>
              <a:cs typeface="Proxima Nova"/>
              <a:sym typeface="Proxima Nova"/>
            </a:endParaRPr>
          </a:p>
        </p:txBody>
      </p:sp>
      <p:cxnSp>
        <p:nvCxnSpPr>
          <p:cNvPr id="257" name="Google Shape;257;p51"/>
          <p:cNvCxnSpPr/>
          <p:nvPr/>
        </p:nvCxnSpPr>
        <p:spPr>
          <a:xfrm>
            <a:off x="1830600" y="3800875"/>
            <a:ext cx="5482800" cy="0"/>
          </a:xfrm>
          <a:prstGeom prst="straightConnector1">
            <a:avLst/>
          </a:prstGeom>
          <a:noFill/>
          <a:ln cap="flat" cmpd="sng" w="38100">
            <a:solidFill>
              <a:schemeClr val="dk2"/>
            </a:solidFill>
            <a:prstDash val="solid"/>
            <a:round/>
            <a:headEnd len="med" w="med" type="triangle"/>
            <a:tailEnd len="med" w="med" type="triangle"/>
          </a:ln>
        </p:spPr>
      </p:cxnSp>
      <p:sp>
        <p:nvSpPr>
          <p:cNvPr id="258" name="Google Shape;258;p51"/>
          <p:cNvSpPr txBox="1"/>
          <p:nvPr/>
        </p:nvSpPr>
        <p:spPr>
          <a:xfrm>
            <a:off x="780600" y="3431425"/>
            <a:ext cx="105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Smaller</a:t>
            </a:r>
            <a:endParaRPr sz="1800">
              <a:solidFill>
                <a:schemeClr val="dk2"/>
              </a:solidFill>
            </a:endParaRPr>
          </a:p>
          <a:p>
            <a:pPr indent="0" lvl="0" marL="0" rtl="0" algn="ctr">
              <a:spcBef>
                <a:spcPts val="0"/>
              </a:spcBef>
              <a:spcAft>
                <a:spcPts val="0"/>
              </a:spcAft>
              <a:buNone/>
            </a:pPr>
            <a:r>
              <a:rPr lang="en" sz="1800">
                <a:solidFill>
                  <a:schemeClr val="dk2"/>
                </a:solidFill>
              </a:rPr>
              <a:t>#s</a:t>
            </a:r>
            <a:endParaRPr sz="1800">
              <a:solidFill>
                <a:schemeClr val="dk2"/>
              </a:solidFill>
            </a:endParaRPr>
          </a:p>
        </p:txBody>
      </p:sp>
      <p:sp>
        <p:nvSpPr>
          <p:cNvPr id="259" name="Google Shape;259;p51"/>
          <p:cNvSpPr txBox="1"/>
          <p:nvPr/>
        </p:nvSpPr>
        <p:spPr>
          <a:xfrm>
            <a:off x="7313400" y="3431425"/>
            <a:ext cx="1050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Larger</a:t>
            </a:r>
            <a:endParaRPr sz="1800">
              <a:solidFill>
                <a:schemeClr val="dk2"/>
              </a:solidFill>
            </a:endParaRPr>
          </a:p>
          <a:p>
            <a:pPr indent="0" lvl="0" marL="0" rtl="0" algn="ctr">
              <a:spcBef>
                <a:spcPts val="0"/>
              </a:spcBef>
              <a:spcAft>
                <a:spcPts val="0"/>
              </a:spcAft>
              <a:buNone/>
            </a:pPr>
            <a:r>
              <a:rPr lang="en" sz="1800">
                <a:solidFill>
                  <a:schemeClr val="dk2"/>
                </a:solidFill>
              </a:rPr>
              <a:t>#s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p52"/>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b="1" lang="en" sz="3600">
                <a:latin typeface="Proxima Nova"/>
                <a:ea typeface="Proxima Nova"/>
                <a:cs typeface="Proxima Nova"/>
                <a:sym typeface="Proxima Nova"/>
              </a:rPr>
              <a:t>:</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265" name="Google Shape;265;p52"/>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266" name="Google Shape;266;p52"/>
          <p:cNvGrpSpPr/>
          <p:nvPr/>
        </p:nvGrpSpPr>
        <p:grpSpPr>
          <a:xfrm>
            <a:off x="8318125" y="86900"/>
            <a:ext cx="747550" cy="183300"/>
            <a:chOff x="7547375" y="86900"/>
            <a:chExt cx="747550" cy="183300"/>
          </a:xfrm>
        </p:grpSpPr>
        <p:sp>
          <p:nvSpPr>
            <p:cNvPr id="267" name="Google Shape;267;p52"/>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2"/>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2"/>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52"/>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271" name="Google Shape;271;p52"/>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272" name="Google Shape;272;p52"/>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273" name="Google Shape;273;p52"/>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274" name="Google Shape;274;p52"/>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275" name="Google Shape;275;p52"/>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276" name="Google Shape;276;p52"/>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277" name="Google Shape;277;p52"/>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grpSp>
        <p:nvGrpSpPr>
          <p:cNvPr id="278" name="Google Shape;278;p52"/>
          <p:cNvGrpSpPr/>
          <p:nvPr/>
        </p:nvGrpSpPr>
        <p:grpSpPr>
          <a:xfrm>
            <a:off x="89100" y="4739882"/>
            <a:ext cx="324008" cy="322851"/>
            <a:chOff x="0" y="3867912"/>
            <a:chExt cx="1280160" cy="1275588"/>
          </a:xfrm>
        </p:grpSpPr>
        <p:sp>
          <p:nvSpPr>
            <p:cNvPr id="279" name="Google Shape;279;p52"/>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2"/>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2"/>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52"/>
          <p:cNvSpPr/>
          <p:nvPr/>
        </p:nvSpPr>
        <p:spPr>
          <a:xfrm rot="-1108346">
            <a:off x="7921358" y="487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6" name="Shape 286"/>
        <p:cNvGrpSpPr/>
        <p:nvPr/>
      </p:nvGrpSpPr>
      <p:grpSpPr>
        <a:xfrm>
          <a:off x="0" y="0"/>
          <a:ext cx="0" cy="0"/>
          <a:chOff x="0" y="0"/>
          <a:chExt cx="0" cy="0"/>
        </a:xfrm>
      </p:grpSpPr>
      <p:sp>
        <p:nvSpPr>
          <p:cNvPr id="287" name="Google Shape;287;p53"/>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288" name="Google Shape;288;p53"/>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289" name="Google Shape;289;p53"/>
          <p:cNvGrpSpPr/>
          <p:nvPr/>
        </p:nvGrpSpPr>
        <p:grpSpPr>
          <a:xfrm>
            <a:off x="8318125" y="86900"/>
            <a:ext cx="747550" cy="183300"/>
            <a:chOff x="7547375" y="86900"/>
            <a:chExt cx="747550" cy="183300"/>
          </a:xfrm>
        </p:grpSpPr>
        <p:sp>
          <p:nvSpPr>
            <p:cNvPr id="290" name="Google Shape;290;p53"/>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3"/>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3"/>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3" name="Google Shape;293;p53"/>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294" name="Google Shape;294;p53"/>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295" name="Google Shape;295;p53"/>
          <p:cNvSpPr/>
          <p:nvPr/>
        </p:nvSpPr>
        <p:spPr>
          <a:xfrm>
            <a:off x="4012975" y="1294675"/>
            <a:ext cx="1284300" cy="3122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3"/>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297" name="Google Shape;297;p53"/>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298" name="Google Shape;298;p53"/>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299" name="Google Shape;299;p53"/>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300" name="Google Shape;300;p53"/>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301" name="Google Shape;301;p53"/>
          <p:cNvSpPr/>
          <p:nvPr/>
        </p:nvSpPr>
        <p:spPr>
          <a:xfrm rot="-1108346">
            <a:off x="4157683" y="1600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302" name="Google Shape;302;p53"/>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303" name="Google Shape;303;p53"/>
          <p:cNvSpPr txBox="1"/>
          <p:nvPr/>
        </p:nvSpPr>
        <p:spPr>
          <a:xfrm>
            <a:off x="4024075" y="2528150"/>
            <a:ext cx="1284300" cy="71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Proxima Nova Extrabold"/>
                <a:ea typeface="Proxima Nova Extrabold"/>
                <a:cs typeface="Proxima Nova Extrabold"/>
                <a:sym typeface="Proxima Nova Extrabold"/>
              </a:rPr>
              <a:t>compare</a:t>
            </a:r>
            <a:endParaRPr sz="1800">
              <a:latin typeface="Proxima Nova Extrabold"/>
              <a:ea typeface="Proxima Nova Extrabold"/>
              <a:cs typeface="Proxima Nova Extrabold"/>
              <a:sym typeface="Proxima Nova Extrabold"/>
            </a:endParaRPr>
          </a:p>
        </p:txBody>
      </p:sp>
      <p:sp>
        <p:nvSpPr>
          <p:cNvPr id="304" name="Google Shape;304;p53"/>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grpSp>
        <p:nvGrpSpPr>
          <p:cNvPr id="305" name="Google Shape;305;p53"/>
          <p:cNvGrpSpPr/>
          <p:nvPr/>
        </p:nvGrpSpPr>
        <p:grpSpPr>
          <a:xfrm>
            <a:off x="89100" y="4739882"/>
            <a:ext cx="324008" cy="322851"/>
            <a:chOff x="0" y="3867912"/>
            <a:chExt cx="1280160" cy="1275588"/>
          </a:xfrm>
        </p:grpSpPr>
        <p:sp>
          <p:nvSpPr>
            <p:cNvPr id="306" name="Google Shape;306;p53"/>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3"/>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3"/>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2" name="Shape 312"/>
        <p:cNvGrpSpPr/>
        <p:nvPr/>
      </p:nvGrpSpPr>
      <p:grpSpPr>
        <a:xfrm>
          <a:off x="0" y="0"/>
          <a:ext cx="0" cy="0"/>
          <a:chOff x="0" y="0"/>
          <a:chExt cx="0" cy="0"/>
        </a:xfrm>
      </p:grpSpPr>
      <p:sp>
        <p:nvSpPr>
          <p:cNvPr id="313" name="Google Shape;313;p54"/>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314" name="Google Shape;314;p54"/>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315" name="Google Shape;315;p54"/>
          <p:cNvGrpSpPr/>
          <p:nvPr/>
        </p:nvGrpSpPr>
        <p:grpSpPr>
          <a:xfrm>
            <a:off x="8318125" y="86900"/>
            <a:ext cx="747550" cy="183300"/>
            <a:chOff x="7547375" y="86900"/>
            <a:chExt cx="747550" cy="183300"/>
          </a:xfrm>
        </p:grpSpPr>
        <p:sp>
          <p:nvSpPr>
            <p:cNvPr id="316" name="Google Shape;316;p54"/>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4"/>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4"/>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9" name="Google Shape;319;p54"/>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320" name="Google Shape;320;p54"/>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321" name="Google Shape;321;p54"/>
          <p:cNvSpPr/>
          <p:nvPr/>
        </p:nvSpPr>
        <p:spPr>
          <a:xfrm>
            <a:off x="4012975" y="1294675"/>
            <a:ext cx="1284300" cy="3122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4"/>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323" name="Google Shape;323;p54"/>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324" name="Google Shape;324;p54"/>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325" name="Google Shape;325;p54"/>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326" name="Google Shape;326;p54"/>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327" name="Google Shape;327;p54"/>
          <p:cNvSpPr/>
          <p:nvPr/>
        </p:nvSpPr>
        <p:spPr>
          <a:xfrm rot="-1108346">
            <a:off x="4157683" y="1600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328" name="Google Shape;328;p54"/>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329" name="Google Shape;329;p54"/>
          <p:cNvSpPr txBox="1"/>
          <p:nvPr/>
        </p:nvSpPr>
        <p:spPr>
          <a:xfrm>
            <a:off x="4024075" y="2528150"/>
            <a:ext cx="1284300" cy="71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Proxima Nova Extrabold"/>
                <a:ea typeface="Proxima Nova Extrabold"/>
                <a:cs typeface="Proxima Nova Extrabold"/>
                <a:sym typeface="Proxima Nova Extrabold"/>
              </a:rPr>
              <a:t>compare</a:t>
            </a:r>
            <a:endParaRPr sz="1800">
              <a:latin typeface="Proxima Nova Extrabold"/>
              <a:ea typeface="Proxima Nova Extrabold"/>
              <a:cs typeface="Proxima Nova Extrabold"/>
              <a:sym typeface="Proxima Nova Extrabold"/>
            </a:endParaRPr>
          </a:p>
        </p:txBody>
      </p:sp>
      <p:sp>
        <p:nvSpPr>
          <p:cNvPr id="330" name="Google Shape;330;p54"/>
          <p:cNvSpPr txBox="1"/>
          <p:nvPr/>
        </p:nvSpPr>
        <p:spPr>
          <a:xfrm>
            <a:off x="4024075" y="2611975"/>
            <a:ext cx="1284300" cy="4875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Proxima Nova"/>
                <a:ea typeface="Proxima Nova"/>
                <a:cs typeface="Proxima Nova"/>
                <a:sym typeface="Proxima Nova"/>
              </a:rPr>
              <a:t>GREATER THAN</a:t>
            </a:r>
            <a:endParaRPr b="1">
              <a:solidFill>
                <a:srgbClr val="FFFFFF"/>
              </a:solidFill>
              <a:latin typeface="Proxima Nova"/>
              <a:ea typeface="Proxima Nova"/>
              <a:cs typeface="Proxima Nova"/>
              <a:sym typeface="Proxima Nova"/>
            </a:endParaRPr>
          </a:p>
        </p:txBody>
      </p:sp>
      <p:sp>
        <p:nvSpPr>
          <p:cNvPr id="331" name="Google Shape;331;p54"/>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grpSp>
        <p:nvGrpSpPr>
          <p:cNvPr id="332" name="Google Shape;332;p54"/>
          <p:cNvGrpSpPr/>
          <p:nvPr/>
        </p:nvGrpSpPr>
        <p:grpSpPr>
          <a:xfrm>
            <a:off x="89100" y="4739882"/>
            <a:ext cx="324008" cy="322851"/>
            <a:chOff x="0" y="3867912"/>
            <a:chExt cx="1280160" cy="1275588"/>
          </a:xfrm>
        </p:grpSpPr>
        <p:sp>
          <p:nvSpPr>
            <p:cNvPr id="333" name="Google Shape;333;p54"/>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4"/>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4"/>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9" name="Shape 339"/>
        <p:cNvGrpSpPr/>
        <p:nvPr/>
      </p:nvGrpSpPr>
      <p:grpSpPr>
        <a:xfrm>
          <a:off x="0" y="0"/>
          <a:ext cx="0" cy="0"/>
          <a:chOff x="0" y="0"/>
          <a:chExt cx="0" cy="0"/>
        </a:xfrm>
      </p:grpSpPr>
      <p:sp>
        <p:nvSpPr>
          <p:cNvPr id="340" name="Google Shape;340;p55"/>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341" name="Google Shape;341;p55"/>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342" name="Google Shape;342;p55"/>
          <p:cNvGrpSpPr/>
          <p:nvPr/>
        </p:nvGrpSpPr>
        <p:grpSpPr>
          <a:xfrm>
            <a:off x="8318125" y="86900"/>
            <a:ext cx="747550" cy="183300"/>
            <a:chOff x="7547375" y="86900"/>
            <a:chExt cx="747550" cy="183300"/>
          </a:xfrm>
        </p:grpSpPr>
        <p:sp>
          <p:nvSpPr>
            <p:cNvPr id="343" name="Google Shape;343;p55"/>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5"/>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5"/>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 name="Google Shape;346;p55"/>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347" name="Google Shape;347;p55"/>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348" name="Google Shape;348;p55"/>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349" name="Google Shape;349;p55"/>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350" name="Google Shape;350;p55"/>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351" name="Google Shape;351;p55"/>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352" name="Google Shape;352;p55"/>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353" name="Google Shape;353;p55"/>
          <p:cNvSpPr/>
          <p:nvPr/>
        </p:nvSpPr>
        <p:spPr>
          <a:xfrm rot="-350220">
            <a:off x="328749" y="3148537"/>
            <a:ext cx="1014761" cy="1014761"/>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54" name="Google Shape;354;p55"/>
          <p:cNvSpPr/>
          <p:nvPr/>
        </p:nvSpPr>
        <p:spPr>
          <a:xfrm>
            <a:off x="1627536" y="3072937"/>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55" name="Google Shape;355;p55"/>
          <p:cNvSpPr/>
          <p:nvPr/>
        </p:nvSpPr>
        <p:spPr>
          <a:xfrm rot="227763">
            <a:off x="2892552" y="3148390"/>
            <a:ext cx="1015027" cy="1015027"/>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56" name="Google Shape;356;p55"/>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357" name="Google Shape;357;p55"/>
          <p:cNvSpPr/>
          <p:nvPr/>
        </p:nvSpPr>
        <p:spPr>
          <a:xfrm>
            <a:off x="4157724" y="3110712"/>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58" name="Google Shape;358;p55"/>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grpSp>
        <p:nvGrpSpPr>
          <p:cNvPr id="359" name="Google Shape;359;p55"/>
          <p:cNvGrpSpPr/>
          <p:nvPr/>
        </p:nvGrpSpPr>
        <p:grpSpPr>
          <a:xfrm>
            <a:off x="89100" y="4739882"/>
            <a:ext cx="324008" cy="322851"/>
            <a:chOff x="0" y="3867912"/>
            <a:chExt cx="1280160" cy="1275588"/>
          </a:xfrm>
        </p:grpSpPr>
        <p:sp>
          <p:nvSpPr>
            <p:cNvPr id="360" name="Google Shape;360;p55"/>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5"/>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5"/>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6" name="Shape 366"/>
        <p:cNvGrpSpPr/>
        <p:nvPr/>
      </p:nvGrpSpPr>
      <p:grpSpPr>
        <a:xfrm>
          <a:off x="0" y="0"/>
          <a:ext cx="0" cy="0"/>
          <a:chOff x="0" y="0"/>
          <a:chExt cx="0" cy="0"/>
        </a:xfrm>
      </p:grpSpPr>
      <p:sp>
        <p:nvSpPr>
          <p:cNvPr id="367" name="Google Shape;367;p56"/>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368" name="Google Shape;368;p56"/>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369" name="Google Shape;369;p56"/>
          <p:cNvGrpSpPr/>
          <p:nvPr/>
        </p:nvGrpSpPr>
        <p:grpSpPr>
          <a:xfrm>
            <a:off x="8318125" y="86900"/>
            <a:ext cx="747550" cy="183300"/>
            <a:chOff x="7547375" y="86900"/>
            <a:chExt cx="747550" cy="183300"/>
          </a:xfrm>
        </p:grpSpPr>
        <p:sp>
          <p:nvSpPr>
            <p:cNvPr id="370" name="Google Shape;370;p56"/>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6"/>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6"/>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 name="Google Shape;373;p56"/>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374" name="Google Shape;374;p56"/>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375" name="Google Shape;375;p56"/>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376" name="Google Shape;376;p56"/>
          <p:cNvSpPr/>
          <p:nvPr/>
        </p:nvSpPr>
        <p:spPr>
          <a:xfrm>
            <a:off x="6502400" y="1294675"/>
            <a:ext cx="1284300" cy="3122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6"/>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378" name="Google Shape;378;p56"/>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379" name="Google Shape;379;p56"/>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380" name="Google Shape;380;p56"/>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381" name="Google Shape;381;p56"/>
          <p:cNvSpPr/>
          <p:nvPr/>
        </p:nvSpPr>
        <p:spPr>
          <a:xfrm rot="-1108346">
            <a:off x="6637058" y="1600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382" name="Google Shape;382;p56"/>
          <p:cNvSpPr/>
          <p:nvPr/>
        </p:nvSpPr>
        <p:spPr>
          <a:xfrm rot="-350220">
            <a:off x="328749" y="3148537"/>
            <a:ext cx="1014761" cy="1014761"/>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83" name="Google Shape;383;p56"/>
          <p:cNvSpPr/>
          <p:nvPr/>
        </p:nvSpPr>
        <p:spPr>
          <a:xfrm>
            <a:off x="1627536" y="3072937"/>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84" name="Google Shape;384;p56"/>
          <p:cNvSpPr/>
          <p:nvPr/>
        </p:nvSpPr>
        <p:spPr>
          <a:xfrm rot="227763">
            <a:off x="2892552" y="3148390"/>
            <a:ext cx="1015027" cy="1015027"/>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85" name="Google Shape;385;p56"/>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386" name="Google Shape;386;p56"/>
          <p:cNvSpPr txBox="1"/>
          <p:nvPr/>
        </p:nvSpPr>
        <p:spPr>
          <a:xfrm>
            <a:off x="6503449" y="2528150"/>
            <a:ext cx="1284300" cy="71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latin typeface="Proxima Nova Extrabold"/>
                <a:ea typeface="Proxima Nova Extrabold"/>
                <a:cs typeface="Proxima Nova Extrabold"/>
                <a:sym typeface="Proxima Nova Extrabold"/>
              </a:rPr>
              <a:t>compare</a:t>
            </a:r>
            <a:endParaRPr sz="6000">
              <a:latin typeface="Proxima Nova Extrabold"/>
              <a:ea typeface="Proxima Nova Extrabold"/>
              <a:cs typeface="Proxima Nova Extrabold"/>
              <a:sym typeface="Proxima Nova Extrabold"/>
            </a:endParaRPr>
          </a:p>
        </p:txBody>
      </p:sp>
      <p:sp>
        <p:nvSpPr>
          <p:cNvPr id="387" name="Google Shape;387;p56"/>
          <p:cNvSpPr/>
          <p:nvPr/>
        </p:nvSpPr>
        <p:spPr>
          <a:xfrm>
            <a:off x="4157724" y="3110712"/>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388" name="Google Shape;388;p56"/>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sp>
        <p:nvSpPr>
          <p:cNvPr id="389" name="Google Shape;389;p56"/>
          <p:cNvSpPr txBox="1"/>
          <p:nvPr/>
        </p:nvSpPr>
        <p:spPr>
          <a:xfrm>
            <a:off x="668285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2</a:t>
            </a:r>
            <a:endParaRPr b="1">
              <a:latin typeface="Proxima Nova"/>
              <a:ea typeface="Proxima Nova"/>
              <a:cs typeface="Proxima Nova"/>
              <a:sym typeface="Proxima Nova"/>
            </a:endParaRPr>
          </a:p>
        </p:txBody>
      </p:sp>
      <p:grpSp>
        <p:nvGrpSpPr>
          <p:cNvPr id="390" name="Google Shape;390;p56"/>
          <p:cNvGrpSpPr/>
          <p:nvPr/>
        </p:nvGrpSpPr>
        <p:grpSpPr>
          <a:xfrm>
            <a:off x="89100" y="4739882"/>
            <a:ext cx="324008" cy="322851"/>
            <a:chOff x="0" y="3867912"/>
            <a:chExt cx="1280160" cy="1275588"/>
          </a:xfrm>
        </p:grpSpPr>
        <p:sp>
          <p:nvSpPr>
            <p:cNvPr id="391" name="Google Shape;391;p56"/>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6"/>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6"/>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4" name="Google Shape;394;p56"/>
          <p:cNvSpPr/>
          <p:nvPr/>
        </p:nvSpPr>
        <p:spPr>
          <a:xfrm rot="-5400000">
            <a:off x="5589900" y="-539225"/>
            <a:ext cx="747600" cy="2783400"/>
          </a:xfrm>
          <a:prstGeom prst="curvedLef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8" name="Shape 398"/>
        <p:cNvGrpSpPr/>
        <p:nvPr/>
      </p:nvGrpSpPr>
      <p:grpSpPr>
        <a:xfrm>
          <a:off x="0" y="0"/>
          <a:ext cx="0" cy="0"/>
          <a:chOff x="0" y="0"/>
          <a:chExt cx="0" cy="0"/>
        </a:xfrm>
      </p:grpSpPr>
      <p:sp>
        <p:nvSpPr>
          <p:cNvPr id="399" name="Google Shape;399;p57"/>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400" name="Google Shape;400;p57"/>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401" name="Google Shape;401;p57"/>
          <p:cNvGrpSpPr/>
          <p:nvPr/>
        </p:nvGrpSpPr>
        <p:grpSpPr>
          <a:xfrm>
            <a:off x="8318125" y="86900"/>
            <a:ext cx="747550" cy="183300"/>
            <a:chOff x="7547375" y="86900"/>
            <a:chExt cx="747550" cy="183300"/>
          </a:xfrm>
        </p:grpSpPr>
        <p:sp>
          <p:nvSpPr>
            <p:cNvPr id="402" name="Google Shape;402;p57"/>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7"/>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7"/>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57"/>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406" name="Google Shape;406;p57"/>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407" name="Google Shape;407;p57"/>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408" name="Google Shape;408;p57"/>
          <p:cNvSpPr/>
          <p:nvPr/>
        </p:nvSpPr>
        <p:spPr>
          <a:xfrm>
            <a:off x="6502400" y="1294675"/>
            <a:ext cx="1284300" cy="3122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7"/>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410" name="Google Shape;410;p57"/>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411" name="Google Shape;411;p57"/>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412" name="Google Shape;412;p57"/>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413" name="Google Shape;413;p57"/>
          <p:cNvSpPr/>
          <p:nvPr/>
        </p:nvSpPr>
        <p:spPr>
          <a:xfrm rot="-1108346">
            <a:off x="6637058" y="1600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414" name="Google Shape;414;p57"/>
          <p:cNvSpPr/>
          <p:nvPr/>
        </p:nvSpPr>
        <p:spPr>
          <a:xfrm rot="-350220">
            <a:off x="328749" y="3148537"/>
            <a:ext cx="1014761" cy="1014761"/>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15" name="Google Shape;415;p57"/>
          <p:cNvSpPr/>
          <p:nvPr/>
        </p:nvSpPr>
        <p:spPr>
          <a:xfrm>
            <a:off x="1627536" y="3072937"/>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16" name="Google Shape;416;p57"/>
          <p:cNvSpPr/>
          <p:nvPr/>
        </p:nvSpPr>
        <p:spPr>
          <a:xfrm rot="227763">
            <a:off x="2892552" y="3148390"/>
            <a:ext cx="1015027" cy="1015027"/>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17" name="Google Shape;417;p57"/>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418" name="Google Shape;418;p57"/>
          <p:cNvSpPr txBox="1"/>
          <p:nvPr/>
        </p:nvSpPr>
        <p:spPr>
          <a:xfrm>
            <a:off x="6503449" y="2528150"/>
            <a:ext cx="1284300" cy="71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latin typeface="Proxima Nova Extrabold"/>
                <a:ea typeface="Proxima Nova Extrabold"/>
                <a:cs typeface="Proxima Nova Extrabold"/>
                <a:sym typeface="Proxima Nova Extrabold"/>
              </a:rPr>
              <a:t>compare</a:t>
            </a:r>
            <a:endParaRPr sz="6000">
              <a:latin typeface="Proxima Nova Extrabold"/>
              <a:ea typeface="Proxima Nova Extrabold"/>
              <a:cs typeface="Proxima Nova Extrabold"/>
              <a:sym typeface="Proxima Nova Extrabold"/>
            </a:endParaRPr>
          </a:p>
        </p:txBody>
      </p:sp>
      <p:sp>
        <p:nvSpPr>
          <p:cNvPr id="419" name="Google Shape;419;p57"/>
          <p:cNvSpPr/>
          <p:nvPr/>
        </p:nvSpPr>
        <p:spPr>
          <a:xfrm>
            <a:off x="4157724" y="3110712"/>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20" name="Google Shape;420;p57"/>
          <p:cNvSpPr txBox="1"/>
          <p:nvPr/>
        </p:nvSpPr>
        <p:spPr>
          <a:xfrm>
            <a:off x="6503450" y="2611975"/>
            <a:ext cx="1284300" cy="4875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Proxima Nova"/>
                <a:ea typeface="Proxima Nova"/>
                <a:cs typeface="Proxima Nova"/>
                <a:sym typeface="Proxima Nova"/>
              </a:rPr>
              <a:t>LESS</a:t>
            </a:r>
            <a:endParaRPr b="1">
              <a:solidFill>
                <a:srgbClr val="FFFFFF"/>
              </a:solidFill>
              <a:latin typeface="Proxima Nova"/>
              <a:ea typeface="Proxima Nova"/>
              <a:cs typeface="Proxima Nova"/>
              <a:sym typeface="Proxima Nova"/>
            </a:endParaRPr>
          </a:p>
          <a:p>
            <a:pPr indent="0" lvl="0" marL="0" rtl="0" algn="ctr">
              <a:spcBef>
                <a:spcPts val="0"/>
              </a:spcBef>
              <a:spcAft>
                <a:spcPts val="0"/>
              </a:spcAft>
              <a:buNone/>
            </a:pPr>
            <a:r>
              <a:rPr b="1" lang="en">
                <a:solidFill>
                  <a:srgbClr val="FFFFFF"/>
                </a:solidFill>
                <a:latin typeface="Proxima Nova"/>
                <a:ea typeface="Proxima Nova"/>
                <a:cs typeface="Proxima Nova"/>
                <a:sym typeface="Proxima Nova"/>
              </a:rPr>
              <a:t>THAN</a:t>
            </a:r>
            <a:endParaRPr b="1">
              <a:solidFill>
                <a:srgbClr val="FFFFFF"/>
              </a:solidFill>
              <a:latin typeface="Proxima Nova"/>
              <a:ea typeface="Proxima Nova"/>
              <a:cs typeface="Proxima Nova"/>
              <a:sym typeface="Proxima Nova"/>
            </a:endParaRPr>
          </a:p>
        </p:txBody>
      </p:sp>
      <p:sp>
        <p:nvSpPr>
          <p:cNvPr id="421" name="Google Shape;421;p57"/>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sp>
        <p:nvSpPr>
          <p:cNvPr id="422" name="Google Shape;422;p57"/>
          <p:cNvSpPr txBox="1"/>
          <p:nvPr/>
        </p:nvSpPr>
        <p:spPr>
          <a:xfrm>
            <a:off x="668285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2</a:t>
            </a:r>
            <a:endParaRPr b="1">
              <a:latin typeface="Proxima Nova"/>
              <a:ea typeface="Proxima Nova"/>
              <a:cs typeface="Proxima Nova"/>
              <a:sym typeface="Proxima Nova"/>
            </a:endParaRPr>
          </a:p>
        </p:txBody>
      </p:sp>
      <p:grpSp>
        <p:nvGrpSpPr>
          <p:cNvPr id="423" name="Google Shape;423;p57"/>
          <p:cNvGrpSpPr/>
          <p:nvPr/>
        </p:nvGrpSpPr>
        <p:grpSpPr>
          <a:xfrm>
            <a:off x="89100" y="4739882"/>
            <a:ext cx="324008" cy="322851"/>
            <a:chOff x="0" y="3867912"/>
            <a:chExt cx="1280160" cy="1275588"/>
          </a:xfrm>
        </p:grpSpPr>
        <p:sp>
          <p:nvSpPr>
            <p:cNvPr id="424" name="Google Shape;424;p57"/>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7"/>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7"/>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58"/>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432" name="Google Shape;432;p58"/>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433" name="Google Shape;433;p58"/>
          <p:cNvGrpSpPr/>
          <p:nvPr/>
        </p:nvGrpSpPr>
        <p:grpSpPr>
          <a:xfrm>
            <a:off x="8318125" y="86900"/>
            <a:ext cx="747550" cy="183300"/>
            <a:chOff x="7547375" y="86900"/>
            <a:chExt cx="747550" cy="183300"/>
          </a:xfrm>
        </p:grpSpPr>
        <p:sp>
          <p:nvSpPr>
            <p:cNvPr id="434" name="Google Shape;434;p58"/>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58"/>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58"/>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7" name="Google Shape;437;p58"/>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438" name="Google Shape;438;p58"/>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439" name="Google Shape;439;p58"/>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440" name="Google Shape;440;p58"/>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441" name="Google Shape;441;p58"/>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442" name="Google Shape;442;p58"/>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443" name="Google Shape;443;p58"/>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444" name="Google Shape;444;p58"/>
          <p:cNvSpPr/>
          <p:nvPr/>
        </p:nvSpPr>
        <p:spPr>
          <a:xfrm rot="-350220">
            <a:off x="328749" y="3148537"/>
            <a:ext cx="1014761" cy="1014761"/>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45" name="Google Shape;445;p58"/>
          <p:cNvSpPr/>
          <p:nvPr/>
        </p:nvSpPr>
        <p:spPr>
          <a:xfrm>
            <a:off x="1627536" y="3072937"/>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46" name="Google Shape;446;p58"/>
          <p:cNvSpPr/>
          <p:nvPr/>
        </p:nvSpPr>
        <p:spPr>
          <a:xfrm rot="227763">
            <a:off x="2892552" y="3148390"/>
            <a:ext cx="1015027" cy="1015027"/>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47" name="Google Shape;447;p58"/>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448" name="Google Shape;448;p58"/>
          <p:cNvSpPr/>
          <p:nvPr/>
        </p:nvSpPr>
        <p:spPr>
          <a:xfrm>
            <a:off x="4157724" y="3110712"/>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49" name="Google Shape;449;p58"/>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sp>
        <p:nvSpPr>
          <p:cNvPr id="450" name="Google Shape;450;p58"/>
          <p:cNvSpPr txBox="1"/>
          <p:nvPr/>
        </p:nvSpPr>
        <p:spPr>
          <a:xfrm>
            <a:off x="668285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2</a:t>
            </a:r>
            <a:endParaRPr b="1">
              <a:latin typeface="Proxima Nova"/>
              <a:ea typeface="Proxima Nova"/>
              <a:cs typeface="Proxima Nova"/>
              <a:sym typeface="Proxima Nova"/>
            </a:endParaRPr>
          </a:p>
        </p:txBody>
      </p:sp>
      <p:grpSp>
        <p:nvGrpSpPr>
          <p:cNvPr id="451" name="Google Shape;451;p58"/>
          <p:cNvGrpSpPr/>
          <p:nvPr/>
        </p:nvGrpSpPr>
        <p:grpSpPr>
          <a:xfrm>
            <a:off x="89100" y="4739882"/>
            <a:ext cx="324008" cy="322851"/>
            <a:chOff x="0" y="3867912"/>
            <a:chExt cx="1280160" cy="1275588"/>
          </a:xfrm>
        </p:grpSpPr>
        <p:sp>
          <p:nvSpPr>
            <p:cNvPr id="452" name="Google Shape;452;p58"/>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8"/>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8"/>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5" name="Google Shape;455;p58"/>
          <p:cNvSpPr/>
          <p:nvPr/>
        </p:nvSpPr>
        <p:spPr>
          <a:xfrm rot="432920">
            <a:off x="6625123" y="3073053"/>
            <a:ext cx="1015139" cy="1015139"/>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56" name="Google Shape;456;p58"/>
          <p:cNvSpPr/>
          <p:nvPr/>
        </p:nvSpPr>
        <p:spPr>
          <a:xfrm rot="-245065">
            <a:off x="7953508" y="2974781"/>
            <a:ext cx="1015078" cy="1015078"/>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59"/>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462" name="Google Shape;462;p59"/>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463" name="Google Shape;463;p59"/>
          <p:cNvGrpSpPr/>
          <p:nvPr/>
        </p:nvGrpSpPr>
        <p:grpSpPr>
          <a:xfrm>
            <a:off x="8318125" y="86900"/>
            <a:ext cx="747550" cy="183300"/>
            <a:chOff x="7547375" y="86900"/>
            <a:chExt cx="747550" cy="183300"/>
          </a:xfrm>
        </p:grpSpPr>
        <p:sp>
          <p:nvSpPr>
            <p:cNvPr id="464" name="Google Shape;464;p59"/>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9"/>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9"/>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7" name="Google Shape;467;p59"/>
          <p:cNvSpPr/>
          <p:nvPr/>
        </p:nvSpPr>
        <p:spPr>
          <a:xfrm>
            <a:off x="5314413" y="1294675"/>
            <a:ext cx="1284300" cy="3122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9"/>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469" name="Google Shape;469;p59"/>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470" name="Google Shape;470;p59"/>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471" name="Google Shape;471;p59"/>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472" name="Google Shape;472;p59"/>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473" name="Google Shape;473;p59"/>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474" name="Google Shape;474;p59"/>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475" name="Google Shape;475;p59"/>
          <p:cNvSpPr/>
          <p:nvPr/>
        </p:nvSpPr>
        <p:spPr>
          <a:xfrm rot="-1108346">
            <a:off x="5427608" y="1600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476" name="Google Shape;476;p59"/>
          <p:cNvSpPr/>
          <p:nvPr/>
        </p:nvSpPr>
        <p:spPr>
          <a:xfrm rot="-350220">
            <a:off x="328749" y="3148537"/>
            <a:ext cx="1014761" cy="1014761"/>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77" name="Google Shape;477;p59"/>
          <p:cNvSpPr/>
          <p:nvPr/>
        </p:nvSpPr>
        <p:spPr>
          <a:xfrm>
            <a:off x="1627536" y="3072937"/>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78" name="Google Shape;478;p59"/>
          <p:cNvSpPr/>
          <p:nvPr/>
        </p:nvSpPr>
        <p:spPr>
          <a:xfrm rot="227763">
            <a:off x="2892552" y="3148390"/>
            <a:ext cx="1015027" cy="1015027"/>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79" name="Google Shape;479;p59"/>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480" name="Google Shape;480;p59"/>
          <p:cNvSpPr txBox="1"/>
          <p:nvPr/>
        </p:nvSpPr>
        <p:spPr>
          <a:xfrm>
            <a:off x="5304550" y="2528150"/>
            <a:ext cx="1260900" cy="71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latin typeface="Proxima Nova Extrabold"/>
                <a:ea typeface="Proxima Nova Extrabold"/>
                <a:cs typeface="Proxima Nova Extrabold"/>
                <a:sym typeface="Proxima Nova Extrabold"/>
              </a:rPr>
              <a:t>compare</a:t>
            </a:r>
            <a:endParaRPr sz="6000">
              <a:latin typeface="Proxima Nova Extrabold"/>
              <a:ea typeface="Proxima Nova Extrabold"/>
              <a:cs typeface="Proxima Nova Extrabold"/>
              <a:sym typeface="Proxima Nova Extrabold"/>
            </a:endParaRPr>
          </a:p>
        </p:txBody>
      </p:sp>
      <p:sp>
        <p:nvSpPr>
          <p:cNvPr id="481" name="Google Shape;481;p59"/>
          <p:cNvSpPr/>
          <p:nvPr/>
        </p:nvSpPr>
        <p:spPr>
          <a:xfrm>
            <a:off x="4157724" y="3110712"/>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82" name="Google Shape;482;p59"/>
          <p:cNvSpPr/>
          <p:nvPr/>
        </p:nvSpPr>
        <p:spPr>
          <a:xfrm rot="432920">
            <a:off x="6625123" y="3073053"/>
            <a:ext cx="1015139" cy="1015139"/>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83" name="Google Shape;483;p59"/>
          <p:cNvSpPr/>
          <p:nvPr/>
        </p:nvSpPr>
        <p:spPr>
          <a:xfrm rot="-245065">
            <a:off x="7953508" y="2974781"/>
            <a:ext cx="1015078" cy="1015078"/>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484" name="Google Shape;484;p59"/>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sp>
        <p:nvSpPr>
          <p:cNvPr id="485" name="Google Shape;485;p59"/>
          <p:cNvSpPr txBox="1"/>
          <p:nvPr/>
        </p:nvSpPr>
        <p:spPr>
          <a:xfrm>
            <a:off x="54734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3</a:t>
            </a:r>
            <a:endParaRPr b="1">
              <a:latin typeface="Proxima Nova"/>
              <a:ea typeface="Proxima Nova"/>
              <a:cs typeface="Proxima Nova"/>
              <a:sym typeface="Proxima Nova"/>
            </a:endParaRPr>
          </a:p>
        </p:txBody>
      </p:sp>
      <p:sp>
        <p:nvSpPr>
          <p:cNvPr id="486" name="Google Shape;486;p59"/>
          <p:cNvSpPr txBox="1"/>
          <p:nvPr/>
        </p:nvSpPr>
        <p:spPr>
          <a:xfrm>
            <a:off x="668285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2</a:t>
            </a:r>
            <a:endParaRPr b="1">
              <a:latin typeface="Proxima Nova"/>
              <a:ea typeface="Proxima Nova"/>
              <a:cs typeface="Proxima Nova"/>
              <a:sym typeface="Proxima Nova"/>
            </a:endParaRPr>
          </a:p>
        </p:txBody>
      </p:sp>
      <p:grpSp>
        <p:nvGrpSpPr>
          <p:cNvPr id="487" name="Google Shape;487;p59"/>
          <p:cNvGrpSpPr/>
          <p:nvPr/>
        </p:nvGrpSpPr>
        <p:grpSpPr>
          <a:xfrm>
            <a:off x="89100" y="4739882"/>
            <a:ext cx="324008" cy="322851"/>
            <a:chOff x="0" y="3867912"/>
            <a:chExt cx="1280160" cy="1275588"/>
          </a:xfrm>
        </p:grpSpPr>
        <p:sp>
          <p:nvSpPr>
            <p:cNvPr id="488" name="Google Shape;488;p59"/>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9"/>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9"/>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59"/>
          <p:cNvSpPr/>
          <p:nvPr/>
        </p:nvSpPr>
        <p:spPr>
          <a:xfrm rot="5400000">
            <a:off x="6311150" y="275350"/>
            <a:ext cx="456600" cy="14451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5" name="Shape 495"/>
        <p:cNvGrpSpPr/>
        <p:nvPr/>
      </p:nvGrpSpPr>
      <p:grpSpPr>
        <a:xfrm>
          <a:off x="0" y="0"/>
          <a:ext cx="0" cy="0"/>
          <a:chOff x="0" y="0"/>
          <a:chExt cx="0" cy="0"/>
        </a:xfrm>
      </p:grpSpPr>
      <p:sp>
        <p:nvSpPr>
          <p:cNvPr id="496" name="Google Shape;496;p60"/>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497" name="Google Shape;497;p60"/>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498" name="Google Shape;498;p60"/>
          <p:cNvGrpSpPr/>
          <p:nvPr/>
        </p:nvGrpSpPr>
        <p:grpSpPr>
          <a:xfrm>
            <a:off x="8318125" y="86900"/>
            <a:ext cx="747550" cy="183300"/>
            <a:chOff x="7547375" y="86900"/>
            <a:chExt cx="747550" cy="183300"/>
          </a:xfrm>
        </p:grpSpPr>
        <p:sp>
          <p:nvSpPr>
            <p:cNvPr id="499" name="Google Shape;499;p60"/>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0"/>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0"/>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2" name="Google Shape;502;p60"/>
          <p:cNvSpPr/>
          <p:nvPr/>
        </p:nvSpPr>
        <p:spPr>
          <a:xfrm>
            <a:off x="5314413" y="1294675"/>
            <a:ext cx="1284300" cy="3122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0"/>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504" name="Google Shape;504;p60"/>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505" name="Google Shape;505;p60"/>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506" name="Google Shape;506;p60"/>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507" name="Google Shape;507;p60"/>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508" name="Google Shape;508;p60"/>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509" name="Google Shape;509;p60"/>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510" name="Google Shape;510;p60"/>
          <p:cNvSpPr/>
          <p:nvPr/>
        </p:nvSpPr>
        <p:spPr>
          <a:xfrm rot="-1108346">
            <a:off x="5427608" y="1600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511" name="Google Shape;511;p60"/>
          <p:cNvSpPr/>
          <p:nvPr/>
        </p:nvSpPr>
        <p:spPr>
          <a:xfrm rot="-350220">
            <a:off x="328749" y="3148537"/>
            <a:ext cx="1014761" cy="1014761"/>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12" name="Google Shape;512;p60"/>
          <p:cNvSpPr/>
          <p:nvPr/>
        </p:nvSpPr>
        <p:spPr>
          <a:xfrm>
            <a:off x="1627536" y="3072937"/>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13" name="Google Shape;513;p60"/>
          <p:cNvSpPr/>
          <p:nvPr/>
        </p:nvSpPr>
        <p:spPr>
          <a:xfrm rot="227763">
            <a:off x="2892552" y="3148390"/>
            <a:ext cx="1015027" cy="1015027"/>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14" name="Google Shape;514;p60"/>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515" name="Google Shape;515;p60"/>
          <p:cNvSpPr txBox="1"/>
          <p:nvPr/>
        </p:nvSpPr>
        <p:spPr>
          <a:xfrm>
            <a:off x="5304550" y="2528150"/>
            <a:ext cx="1260900" cy="71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latin typeface="Proxima Nova Extrabold"/>
                <a:ea typeface="Proxima Nova Extrabold"/>
                <a:cs typeface="Proxima Nova Extrabold"/>
                <a:sym typeface="Proxima Nova Extrabold"/>
              </a:rPr>
              <a:t>compare</a:t>
            </a:r>
            <a:endParaRPr sz="6000">
              <a:latin typeface="Proxima Nova Extrabold"/>
              <a:ea typeface="Proxima Nova Extrabold"/>
              <a:cs typeface="Proxima Nova Extrabold"/>
              <a:sym typeface="Proxima Nova Extrabold"/>
            </a:endParaRPr>
          </a:p>
        </p:txBody>
      </p:sp>
      <p:sp>
        <p:nvSpPr>
          <p:cNvPr id="516" name="Google Shape;516;p60"/>
          <p:cNvSpPr/>
          <p:nvPr/>
        </p:nvSpPr>
        <p:spPr>
          <a:xfrm>
            <a:off x="4157724" y="3110712"/>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17" name="Google Shape;517;p60"/>
          <p:cNvSpPr/>
          <p:nvPr/>
        </p:nvSpPr>
        <p:spPr>
          <a:xfrm rot="432920">
            <a:off x="6625123" y="3073053"/>
            <a:ext cx="1015139" cy="1015139"/>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18" name="Google Shape;518;p60"/>
          <p:cNvSpPr/>
          <p:nvPr/>
        </p:nvSpPr>
        <p:spPr>
          <a:xfrm rot="-245065">
            <a:off x="7953508" y="2974781"/>
            <a:ext cx="1015078" cy="1015078"/>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19" name="Google Shape;519;p60"/>
          <p:cNvSpPr txBox="1"/>
          <p:nvPr/>
        </p:nvSpPr>
        <p:spPr>
          <a:xfrm>
            <a:off x="5314413" y="2611975"/>
            <a:ext cx="1284300" cy="4875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Proxima Nova"/>
                <a:ea typeface="Proxima Nova"/>
                <a:cs typeface="Proxima Nova"/>
                <a:sym typeface="Proxima Nova"/>
              </a:rPr>
              <a:t>EQUAL TO!</a:t>
            </a:r>
            <a:endParaRPr b="1">
              <a:solidFill>
                <a:srgbClr val="FFFFFF"/>
              </a:solidFill>
              <a:latin typeface="Proxima Nova"/>
              <a:ea typeface="Proxima Nova"/>
              <a:cs typeface="Proxima Nova"/>
              <a:sym typeface="Proxima Nova"/>
            </a:endParaRPr>
          </a:p>
        </p:txBody>
      </p:sp>
      <p:sp>
        <p:nvSpPr>
          <p:cNvPr id="520" name="Google Shape;520;p60"/>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sp>
        <p:nvSpPr>
          <p:cNvPr id="521" name="Google Shape;521;p60"/>
          <p:cNvSpPr txBox="1"/>
          <p:nvPr/>
        </p:nvSpPr>
        <p:spPr>
          <a:xfrm>
            <a:off x="54734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3</a:t>
            </a:r>
            <a:endParaRPr b="1">
              <a:latin typeface="Proxima Nova"/>
              <a:ea typeface="Proxima Nova"/>
              <a:cs typeface="Proxima Nova"/>
              <a:sym typeface="Proxima Nova"/>
            </a:endParaRPr>
          </a:p>
        </p:txBody>
      </p:sp>
      <p:sp>
        <p:nvSpPr>
          <p:cNvPr id="522" name="Google Shape;522;p60"/>
          <p:cNvSpPr txBox="1"/>
          <p:nvPr/>
        </p:nvSpPr>
        <p:spPr>
          <a:xfrm>
            <a:off x="668285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2</a:t>
            </a:r>
            <a:endParaRPr b="1">
              <a:latin typeface="Proxima Nova"/>
              <a:ea typeface="Proxima Nova"/>
              <a:cs typeface="Proxima Nova"/>
              <a:sym typeface="Proxima Nova"/>
            </a:endParaRPr>
          </a:p>
        </p:txBody>
      </p:sp>
      <p:grpSp>
        <p:nvGrpSpPr>
          <p:cNvPr id="523" name="Google Shape;523;p60"/>
          <p:cNvGrpSpPr/>
          <p:nvPr/>
        </p:nvGrpSpPr>
        <p:grpSpPr>
          <a:xfrm>
            <a:off x="89100" y="4739882"/>
            <a:ext cx="324008" cy="322851"/>
            <a:chOff x="0" y="3867912"/>
            <a:chExt cx="1280160" cy="1275588"/>
          </a:xfrm>
        </p:grpSpPr>
        <p:sp>
          <p:nvSpPr>
            <p:cNvPr id="524" name="Google Shape;524;p60"/>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0"/>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60"/>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 name="Google Shape;527;p60"/>
          <p:cNvSpPr/>
          <p:nvPr/>
        </p:nvSpPr>
        <p:spPr>
          <a:xfrm rot="5400000">
            <a:off x="6311150" y="275350"/>
            <a:ext cx="456600" cy="14451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1" name="Shape 531"/>
        <p:cNvGrpSpPr/>
        <p:nvPr/>
      </p:nvGrpSpPr>
      <p:grpSpPr>
        <a:xfrm>
          <a:off x="0" y="0"/>
          <a:ext cx="0" cy="0"/>
          <a:chOff x="0" y="0"/>
          <a:chExt cx="0" cy="0"/>
        </a:xfrm>
      </p:grpSpPr>
      <p:sp>
        <p:nvSpPr>
          <p:cNvPr id="532" name="Google Shape;532;p61"/>
          <p:cNvSpPr txBox="1"/>
          <p:nvPr/>
        </p:nvSpPr>
        <p:spPr>
          <a:xfrm>
            <a:off x="523500" y="493675"/>
            <a:ext cx="8097000" cy="8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latin typeface="Proxima Nova"/>
                <a:ea typeface="Proxima Nova"/>
                <a:cs typeface="Proxima Nova"/>
                <a:sym typeface="Proxima Nova"/>
              </a:rPr>
              <a:t>Binary Search:</a:t>
            </a:r>
            <a:r>
              <a:rPr lang="en" sz="3600">
                <a:latin typeface="Proxima Nova"/>
                <a:ea typeface="Proxima Nova"/>
                <a:cs typeface="Proxima Nova"/>
                <a:sym typeface="Proxima Nova"/>
              </a:rPr>
              <a:t> </a:t>
            </a:r>
            <a:endParaRPr sz="3600">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3600">
              <a:solidFill>
                <a:schemeClr val="dk1"/>
              </a:solidFill>
              <a:latin typeface="Proxima Nova"/>
              <a:ea typeface="Proxima Nova"/>
              <a:cs typeface="Proxima Nova"/>
              <a:sym typeface="Proxima Nova"/>
            </a:endParaRPr>
          </a:p>
        </p:txBody>
      </p:sp>
      <p:sp>
        <p:nvSpPr>
          <p:cNvPr id="533" name="Google Shape;533;p61"/>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pSp>
        <p:nvGrpSpPr>
          <p:cNvPr id="534" name="Google Shape;534;p61"/>
          <p:cNvGrpSpPr/>
          <p:nvPr/>
        </p:nvGrpSpPr>
        <p:grpSpPr>
          <a:xfrm>
            <a:off x="8318125" y="86900"/>
            <a:ext cx="747550" cy="183300"/>
            <a:chOff x="7547375" y="86900"/>
            <a:chExt cx="747550" cy="183300"/>
          </a:xfrm>
        </p:grpSpPr>
        <p:sp>
          <p:nvSpPr>
            <p:cNvPr id="535" name="Google Shape;535;p61"/>
            <p:cNvSpPr/>
            <p:nvPr/>
          </p:nvSpPr>
          <p:spPr>
            <a:xfrm>
              <a:off x="7547375"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1"/>
            <p:cNvSpPr/>
            <p:nvPr/>
          </p:nvSpPr>
          <p:spPr>
            <a:xfrm>
              <a:off x="7829500" y="86900"/>
              <a:ext cx="183300" cy="183300"/>
            </a:xfrm>
            <a:prstGeom prst="ellipse">
              <a:avLst/>
            </a:prstGeom>
            <a:solidFill>
              <a:srgbClr val="FFFFFF"/>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1"/>
            <p:cNvSpPr/>
            <p:nvPr/>
          </p:nvSpPr>
          <p:spPr>
            <a:xfrm>
              <a:off x="8111625" y="86900"/>
              <a:ext cx="183300" cy="183300"/>
            </a:xfrm>
            <a:prstGeom prst="ellipse">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61"/>
          <p:cNvSpPr/>
          <p:nvPr/>
        </p:nvSpPr>
        <p:spPr>
          <a:xfrm>
            <a:off x="5314413" y="1294675"/>
            <a:ext cx="1284300" cy="3122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1"/>
          <p:cNvSpPr/>
          <p:nvPr/>
        </p:nvSpPr>
        <p:spPr>
          <a:xfrm rot="-350220">
            <a:off x="347974" y="3148512"/>
            <a:ext cx="1014761" cy="1014761"/>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117</a:t>
            </a:r>
            <a:endParaRPr sz="3000">
              <a:latin typeface="Coming Soon"/>
              <a:ea typeface="Coming Soon"/>
              <a:cs typeface="Coming Soon"/>
              <a:sym typeface="Coming Soon"/>
            </a:endParaRPr>
          </a:p>
        </p:txBody>
      </p:sp>
      <p:sp>
        <p:nvSpPr>
          <p:cNvPr id="540" name="Google Shape;540;p61"/>
          <p:cNvSpPr/>
          <p:nvPr/>
        </p:nvSpPr>
        <p:spPr>
          <a:xfrm>
            <a:off x="1617925" y="307295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232</a:t>
            </a:r>
            <a:endParaRPr sz="3000">
              <a:latin typeface="Coming Soon"/>
              <a:ea typeface="Coming Soon"/>
              <a:cs typeface="Coming Soon"/>
              <a:sym typeface="Coming Soon"/>
            </a:endParaRPr>
          </a:p>
        </p:txBody>
      </p:sp>
      <p:sp>
        <p:nvSpPr>
          <p:cNvPr id="541" name="Google Shape;541;p61"/>
          <p:cNvSpPr/>
          <p:nvPr/>
        </p:nvSpPr>
        <p:spPr>
          <a:xfrm rot="206403">
            <a:off x="2887819" y="3148455"/>
            <a:ext cx="1014929" cy="1014929"/>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245</a:t>
            </a:r>
            <a:endParaRPr sz="3000">
              <a:latin typeface="Coming Soon"/>
              <a:ea typeface="Coming Soon"/>
              <a:cs typeface="Coming Soon"/>
              <a:sym typeface="Coming Soon"/>
            </a:endParaRPr>
          </a:p>
        </p:txBody>
      </p:sp>
      <p:sp>
        <p:nvSpPr>
          <p:cNvPr id="542" name="Google Shape;542;p61"/>
          <p:cNvSpPr/>
          <p:nvPr/>
        </p:nvSpPr>
        <p:spPr>
          <a:xfrm>
            <a:off x="4157725" y="3110700"/>
            <a:ext cx="1014900" cy="1014900"/>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410</a:t>
            </a:r>
            <a:endParaRPr sz="3000">
              <a:latin typeface="Coming Soon"/>
              <a:ea typeface="Coming Soon"/>
              <a:cs typeface="Coming Soon"/>
              <a:sym typeface="Coming Soon"/>
            </a:endParaRPr>
          </a:p>
        </p:txBody>
      </p:sp>
      <p:sp>
        <p:nvSpPr>
          <p:cNvPr id="543" name="Google Shape;543;p61"/>
          <p:cNvSpPr/>
          <p:nvPr/>
        </p:nvSpPr>
        <p:spPr>
          <a:xfrm rot="-1108346">
            <a:off x="5427608" y="2974816"/>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544" name="Google Shape;544;p61"/>
          <p:cNvSpPr/>
          <p:nvPr/>
        </p:nvSpPr>
        <p:spPr>
          <a:xfrm rot="381870">
            <a:off x="6637112" y="3072960"/>
            <a:ext cx="1014855" cy="1014855"/>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716</a:t>
            </a:r>
            <a:endParaRPr sz="3000">
              <a:latin typeface="Coming Soon"/>
              <a:ea typeface="Coming Soon"/>
              <a:cs typeface="Coming Soon"/>
              <a:sym typeface="Coming Soon"/>
            </a:endParaRPr>
          </a:p>
        </p:txBody>
      </p:sp>
      <p:sp>
        <p:nvSpPr>
          <p:cNvPr id="545" name="Google Shape;545;p61"/>
          <p:cNvSpPr/>
          <p:nvPr/>
        </p:nvSpPr>
        <p:spPr>
          <a:xfrm rot="-281768">
            <a:off x="7958485" y="2974823"/>
            <a:ext cx="1015007" cy="1015007"/>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833</a:t>
            </a:r>
            <a:endParaRPr sz="3000">
              <a:latin typeface="Coming Soon"/>
              <a:ea typeface="Coming Soon"/>
              <a:cs typeface="Coming Soon"/>
              <a:sym typeface="Coming Soon"/>
            </a:endParaRPr>
          </a:p>
        </p:txBody>
      </p:sp>
      <p:sp>
        <p:nvSpPr>
          <p:cNvPr id="546" name="Google Shape;546;p61"/>
          <p:cNvSpPr/>
          <p:nvPr/>
        </p:nvSpPr>
        <p:spPr>
          <a:xfrm rot="-1108346">
            <a:off x="5427608" y="1600191"/>
            <a:ext cx="1014996" cy="1014996"/>
          </a:xfrm>
          <a:prstGeom prst="foldedCorner">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Coming Soon"/>
                <a:ea typeface="Coming Soon"/>
                <a:cs typeface="Coming Soon"/>
                <a:sym typeface="Coming Soon"/>
              </a:rPr>
              <a:t>705</a:t>
            </a:r>
            <a:endParaRPr sz="3000">
              <a:latin typeface="Coming Soon"/>
              <a:ea typeface="Coming Soon"/>
              <a:cs typeface="Coming Soon"/>
              <a:sym typeface="Coming Soon"/>
            </a:endParaRPr>
          </a:p>
        </p:txBody>
      </p:sp>
      <p:sp>
        <p:nvSpPr>
          <p:cNvPr id="547" name="Google Shape;547;p61"/>
          <p:cNvSpPr/>
          <p:nvPr/>
        </p:nvSpPr>
        <p:spPr>
          <a:xfrm rot="-350220">
            <a:off x="328749" y="3148537"/>
            <a:ext cx="1014761" cy="1014761"/>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48" name="Google Shape;548;p61"/>
          <p:cNvSpPr/>
          <p:nvPr/>
        </p:nvSpPr>
        <p:spPr>
          <a:xfrm>
            <a:off x="1627536" y="3072937"/>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49" name="Google Shape;549;p61"/>
          <p:cNvSpPr/>
          <p:nvPr/>
        </p:nvSpPr>
        <p:spPr>
          <a:xfrm rot="227763">
            <a:off x="2892552" y="3148390"/>
            <a:ext cx="1015027" cy="1015027"/>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50" name="Google Shape;550;p61"/>
          <p:cNvSpPr txBox="1"/>
          <p:nvPr/>
        </p:nvSpPr>
        <p:spPr>
          <a:xfrm>
            <a:off x="1442875" y="352550"/>
            <a:ext cx="1365000" cy="1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200">
                <a:latin typeface="Proxima Nova"/>
                <a:ea typeface="Proxima Nova"/>
                <a:cs typeface="Proxima Nova"/>
                <a:sym typeface="Proxima Nova"/>
              </a:rPr>
              <a:t>🔍</a:t>
            </a:r>
            <a:endParaRPr sz="7200">
              <a:latin typeface="Proxima Nova"/>
              <a:ea typeface="Proxima Nova"/>
              <a:cs typeface="Proxima Nova"/>
              <a:sym typeface="Proxima Nova"/>
            </a:endParaRPr>
          </a:p>
        </p:txBody>
      </p:sp>
      <p:sp>
        <p:nvSpPr>
          <p:cNvPr id="551" name="Google Shape;551;p61"/>
          <p:cNvSpPr txBox="1"/>
          <p:nvPr/>
        </p:nvSpPr>
        <p:spPr>
          <a:xfrm>
            <a:off x="5304550" y="2528150"/>
            <a:ext cx="1260900" cy="71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chemeClr val="dk1"/>
                </a:solidFill>
                <a:latin typeface="Proxima Nova Extrabold"/>
                <a:ea typeface="Proxima Nova Extrabold"/>
                <a:cs typeface="Proxima Nova Extrabold"/>
                <a:sym typeface="Proxima Nova Extrabold"/>
              </a:rPr>
              <a:t>compare</a:t>
            </a:r>
            <a:endParaRPr sz="6000">
              <a:latin typeface="Proxima Nova Extrabold"/>
              <a:ea typeface="Proxima Nova Extrabold"/>
              <a:cs typeface="Proxima Nova Extrabold"/>
              <a:sym typeface="Proxima Nova Extrabold"/>
            </a:endParaRPr>
          </a:p>
        </p:txBody>
      </p:sp>
      <p:sp>
        <p:nvSpPr>
          <p:cNvPr id="552" name="Google Shape;552;p61"/>
          <p:cNvSpPr/>
          <p:nvPr/>
        </p:nvSpPr>
        <p:spPr>
          <a:xfrm>
            <a:off x="4157724" y="3110712"/>
            <a:ext cx="1014900" cy="1014900"/>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53" name="Google Shape;553;p61"/>
          <p:cNvSpPr/>
          <p:nvPr/>
        </p:nvSpPr>
        <p:spPr>
          <a:xfrm rot="432920">
            <a:off x="6625123" y="3073053"/>
            <a:ext cx="1015139" cy="1015139"/>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54" name="Google Shape;554;p61"/>
          <p:cNvSpPr/>
          <p:nvPr/>
        </p:nvSpPr>
        <p:spPr>
          <a:xfrm rot="-245065">
            <a:off x="7953508" y="2974781"/>
            <a:ext cx="1015078" cy="1015078"/>
          </a:xfrm>
          <a:prstGeom prst="foldedCorner">
            <a:avLst>
              <a:gd fmla="val 16667" name="adj"/>
            </a:avLst>
          </a:prstGeom>
          <a:solidFill>
            <a:srgbClr val="000000">
              <a:alpha val="525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000">
              <a:latin typeface="Coming Soon"/>
              <a:ea typeface="Coming Soon"/>
              <a:cs typeface="Coming Soon"/>
              <a:sym typeface="Coming Soon"/>
            </a:endParaRPr>
          </a:p>
        </p:txBody>
      </p:sp>
      <p:sp>
        <p:nvSpPr>
          <p:cNvPr id="555" name="Google Shape;555;p61"/>
          <p:cNvSpPr txBox="1"/>
          <p:nvPr/>
        </p:nvSpPr>
        <p:spPr>
          <a:xfrm>
            <a:off x="5314413" y="2611975"/>
            <a:ext cx="1284300" cy="487500"/>
          </a:xfrm>
          <a:prstGeom prst="rect">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Proxima Nova"/>
                <a:ea typeface="Proxima Nova"/>
                <a:cs typeface="Proxima Nova"/>
                <a:sym typeface="Proxima Nova"/>
              </a:rPr>
              <a:t>EQUAL TO!</a:t>
            </a:r>
            <a:endParaRPr b="1">
              <a:solidFill>
                <a:srgbClr val="FFFFFF"/>
              </a:solidFill>
              <a:latin typeface="Proxima Nova"/>
              <a:ea typeface="Proxima Nova"/>
              <a:cs typeface="Proxima Nova"/>
              <a:sym typeface="Proxima Nova"/>
            </a:endParaRPr>
          </a:p>
        </p:txBody>
      </p:sp>
      <p:sp>
        <p:nvSpPr>
          <p:cNvPr id="556" name="Google Shape;556;p61"/>
          <p:cNvSpPr txBox="1"/>
          <p:nvPr/>
        </p:nvSpPr>
        <p:spPr>
          <a:xfrm>
            <a:off x="41956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1</a:t>
            </a:r>
            <a:endParaRPr b="1">
              <a:latin typeface="Proxima Nova"/>
              <a:ea typeface="Proxima Nova"/>
              <a:cs typeface="Proxima Nova"/>
              <a:sym typeface="Proxima Nova"/>
            </a:endParaRPr>
          </a:p>
        </p:txBody>
      </p:sp>
      <p:sp>
        <p:nvSpPr>
          <p:cNvPr id="557" name="Google Shape;557;p61"/>
          <p:cNvSpPr txBox="1"/>
          <p:nvPr/>
        </p:nvSpPr>
        <p:spPr>
          <a:xfrm>
            <a:off x="547340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3</a:t>
            </a:r>
            <a:endParaRPr b="1">
              <a:latin typeface="Proxima Nova"/>
              <a:ea typeface="Proxima Nova"/>
              <a:cs typeface="Proxima Nova"/>
              <a:sym typeface="Proxima Nova"/>
            </a:endParaRPr>
          </a:p>
        </p:txBody>
      </p:sp>
      <p:sp>
        <p:nvSpPr>
          <p:cNvPr id="558" name="Google Shape;558;p61"/>
          <p:cNvSpPr txBox="1"/>
          <p:nvPr/>
        </p:nvSpPr>
        <p:spPr>
          <a:xfrm>
            <a:off x="6682850" y="4542525"/>
            <a:ext cx="923400" cy="41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Proxima Nova"/>
                <a:ea typeface="Proxima Nova"/>
                <a:cs typeface="Proxima Nova"/>
                <a:sym typeface="Proxima Nova"/>
              </a:rPr>
              <a:t>STEP 2</a:t>
            </a:r>
            <a:endParaRPr b="1">
              <a:latin typeface="Proxima Nova"/>
              <a:ea typeface="Proxima Nova"/>
              <a:cs typeface="Proxima Nova"/>
              <a:sym typeface="Proxima Nova"/>
            </a:endParaRPr>
          </a:p>
        </p:txBody>
      </p:sp>
      <p:sp>
        <p:nvSpPr>
          <p:cNvPr id="559" name="Google Shape;559;p61"/>
          <p:cNvSpPr/>
          <p:nvPr/>
        </p:nvSpPr>
        <p:spPr>
          <a:xfrm rot="5400000">
            <a:off x="6311150" y="275350"/>
            <a:ext cx="456600" cy="1445100"/>
          </a:xfrm>
          <a:prstGeom prst="curvedRight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1"/>
          <p:cNvSpPr txBox="1"/>
          <p:nvPr/>
        </p:nvSpPr>
        <p:spPr>
          <a:xfrm>
            <a:off x="732725" y="1571475"/>
            <a:ext cx="2489100" cy="128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We found the number! 705 is in the list. </a:t>
            </a:r>
            <a:endParaRPr sz="2400">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4" name="Shape 564"/>
        <p:cNvGrpSpPr/>
        <p:nvPr/>
      </p:nvGrpSpPr>
      <p:grpSpPr>
        <a:xfrm>
          <a:off x="0" y="0"/>
          <a:ext cx="0" cy="0"/>
          <a:chOff x="0" y="0"/>
          <a:chExt cx="0" cy="0"/>
        </a:xfrm>
      </p:grpSpPr>
      <p:sp>
        <p:nvSpPr>
          <p:cNvPr id="565" name="Google Shape;565;p62"/>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566" name="Google Shape;566;p62"/>
          <p:cNvSpPr txBox="1"/>
          <p:nvPr/>
        </p:nvSpPr>
        <p:spPr>
          <a:xfrm>
            <a:off x="60225" y="467350"/>
            <a:ext cx="90438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Proxima Nova"/>
                <a:ea typeface="Proxima Nova"/>
                <a:cs typeface="Proxima Nova"/>
                <a:sym typeface="Proxima Nova"/>
              </a:rPr>
              <a:t>Do This: </a:t>
            </a:r>
            <a:r>
              <a:rPr lang="en" sz="1700">
                <a:solidFill>
                  <a:schemeClr val="dk1"/>
                </a:solidFill>
                <a:latin typeface="Proxima Nova"/>
                <a:ea typeface="Proxima Nova"/>
                <a:cs typeface="Proxima Nova"/>
                <a:sym typeface="Proxima Nova"/>
              </a:rPr>
              <a:t>Now try the Binary Search algorithm for different instances. We've done a few  for you! Copy this table and keep track of the number of steps it takes on your whiteboard.</a:t>
            </a:r>
            <a:endParaRPr sz="1700">
              <a:solidFill>
                <a:schemeClr val="dk1"/>
              </a:solidFill>
              <a:latin typeface="Proxima Nova"/>
              <a:ea typeface="Proxima Nova"/>
              <a:cs typeface="Proxima Nova"/>
              <a:sym typeface="Proxima Nova"/>
            </a:endParaRPr>
          </a:p>
        </p:txBody>
      </p:sp>
      <p:graphicFrame>
        <p:nvGraphicFramePr>
          <p:cNvPr id="567" name="Google Shape;567;p62"/>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cxnSp>
        <p:nvCxnSpPr>
          <p:cNvPr id="568" name="Google Shape;568;p62"/>
          <p:cNvCxnSpPr/>
          <p:nvPr/>
        </p:nvCxnSpPr>
        <p:spPr>
          <a:xfrm>
            <a:off x="5239079" y="122152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62"/>
          <p:cNvCxnSpPr/>
          <p:nvPr/>
        </p:nvCxnSpPr>
        <p:spPr>
          <a:xfrm rot="10800000">
            <a:off x="5239075" y="4597950"/>
            <a:ext cx="3463200" cy="0"/>
          </a:xfrm>
          <a:prstGeom prst="straightConnector1">
            <a:avLst/>
          </a:prstGeom>
          <a:noFill/>
          <a:ln cap="flat" cmpd="sng" w="9525">
            <a:solidFill>
              <a:schemeClr val="dk2"/>
            </a:solidFill>
            <a:prstDash val="solid"/>
            <a:round/>
            <a:headEnd len="med" w="med" type="none"/>
            <a:tailEnd len="med" w="med" type="none"/>
          </a:ln>
        </p:spPr>
      </p:cxnSp>
      <p:sp>
        <p:nvSpPr>
          <p:cNvPr id="570" name="Google Shape;570;p62"/>
          <p:cNvSpPr txBox="1"/>
          <p:nvPr/>
        </p:nvSpPr>
        <p:spPr>
          <a:xfrm>
            <a:off x="5239075" y="464895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571" name="Google Shape;571;p62"/>
          <p:cNvSpPr txBox="1"/>
          <p:nvPr/>
        </p:nvSpPr>
        <p:spPr>
          <a:xfrm>
            <a:off x="4817925" y="115995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a:t>
            </a:r>
            <a:r>
              <a:rPr lang="en"/>
              <a:t>  </a:t>
            </a:r>
            <a:endParaRPr/>
          </a:p>
          <a:p>
            <a:pPr indent="0" lvl="0" marL="0" rtl="0" algn="r">
              <a:lnSpc>
                <a:spcPct val="100000"/>
              </a:lnSpc>
              <a:spcBef>
                <a:spcPts val="0"/>
              </a:spcBef>
              <a:spcAft>
                <a:spcPts val="0"/>
              </a:spcAft>
              <a:buNone/>
            </a:pPr>
            <a:r>
              <a:rPr lang="en"/>
              <a:t>10  9  8  7  6  5  4  3  2  1</a:t>
            </a:r>
            <a:endParaRPr/>
          </a:p>
        </p:txBody>
      </p:sp>
      <p:sp>
        <p:nvSpPr>
          <p:cNvPr id="572" name="Google Shape;572;p62"/>
          <p:cNvSpPr/>
          <p:nvPr/>
        </p:nvSpPr>
        <p:spPr>
          <a:xfrm>
            <a:off x="8461475" y="36234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62"/>
          <p:cNvSpPr/>
          <p:nvPr/>
        </p:nvSpPr>
        <p:spPr>
          <a:xfrm>
            <a:off x="660007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4" name="Google Shape;574;p62"/>
          <p:cNvGrpSpPr/>
          <p:nvPr/>
        </p:nvGrpSpPr>
        <p:grpSpPr>
          <a:xfrm>
            <a:off x="89100" y="4739882"/>
            <a:ext cx="324008" cy="322851"/>
            <a:chOff x="0" y="3867912"/>
            <a:chExt cx="1280160" cy="1275588"/>
          </a:xfrm>
        </p:grpSpPr>
        <p:sp>
          <p:nvSpPr>
            <p:cNvPr id="575" name="Google Shape;575;p62"/>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2"/>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2"/>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8" name="Google Shape;578;p62"/>
          <p:cNvSpPr txBox="1"/>
          <p:nvPr/>
        </p:nvSpPr>
        <p:spPr>
          <a:xfrm>
            <a:off x="6726626" y="4827743"/>
            <a:ext cx="15660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579" name="Google Shape;579;p62"/>
          <p:cNvSpPr txBox="1"/>
          <p:nvPr/>
        </p:nvSpPr>
        <p:spPr>
          <a:xfrm rot="-5400000">
            <a:off x="4083750" y="2235963"/>
            <a:ext cx="13446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3" name="Shape 583"/>
        <p:cNvGrpSpPr/>
        <p:nvPr/>
      </p:nvGrpSpPr>
      <p:grpSpPr>
        <a:xfrm>
          <a:off x="0" y="0"/>
          <a:ext cx="0" cy="0"/>
          <a:chOff x="0" y="0"/>
          <a:chExt cx="0" cy="0"/>
        </a:xfrm>
      </p:grpSpPr>
      <p:sp>
        <p:nvSpPr>
          <p:cNvPr id="584" name="Google Shape;584;p63"/>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585" name="Google Shape;585;p63"/>
          <p:cNvSpPr txBox="1"/>
          <p:nvPr/>
        </p:nvSpPr>
        <p:spPr>
          <a:xfrm>
            <a:off x="513450" y="582150"/>
            <a:ext cx="8117100" cy="39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roxima Nova"/>
                <a:ea typeface="Proxima Nova"/>
                <a:cs typeface="Proxima Nova"/>
                <a:sym typeface="Proxima Nova"/>
              </a:rPr>
              <a:t> </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Find the middle number in the list. Compare that number to the given number. If the number is less than the given number, remove all of the cards to the right (including the middle number). If the number is more than the given number, remove all of the cards to the left (including the middle number).</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Find the middle number in this shorter list. Follow the instructions in Step #1 for comparing. </a:t>
            </a:r>
            <a:endParaRPr sz="1800">
              <a:latin typeface="Proxima Nova"/>
              <a:ea typeface="Proxima Nova"/>
              <a:cs typeface="Proxima Nova"/>
              <a:sym typeface="Proxima Nova"/>
            </a:endParaRPr>
          </a:p>
          <a:p>
            <a:pPr indent="-342900" lvl="0" marL="457200" rtl="0" algn="l">
              <a:spcBef>
                <a:spcPts val="0"/>
              </a:spcBef>
              <a:spcAft>
                <a:spcPts val="0"/>
              </a:spcAft>
              <a:buSzPts val="1800"/>
              <a:buFont typeface="Proxima Nova"/>
              <a:buAutoNum type="arabicPeriod"/>
            </a:pPr>
            <a:r>
              <a:rPr lang="en" sz="1800">
                <a:latin typeface="Proxima Nova"/>
                <a:ea typeface="Proxima Nova"/>
                <a:cs typeface="Proxima Nova"/>
                <a:sym typeface="Proxima Nova"/>
              </a:rPr>
              <a:t>Find the middle number in this new shorter list. Follow the instructions in Step #1 for comparing.</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latin typeface="Proxima Nova"/>
              <a:ea typeface="Proxima Nova"/>
              <a:cs typeface="Proxima Nova"/>
              <a:sym typeface="Proxima Nova"/>
            </a:endParaRPr>
          </a:p>
          <a:p>
            <a:pPr indent="0" lvl="0" marL="0" rtl="0" algn="l">
              <a:spcBef>
                <a:spcPts val="0"/>
              </a:spcBef>
              <a:spcAft>
                <a:spcPts val="0"/>
              </a:spcAft>
              <a:buNone/>
            </a:pPr>
            <a:r>
              <a:rPr lang="en" sz="1800">
                <a:latin typeface="Proxima Nova"/>
                <a:ea typeface="Proxima Nova"/>
                <a:cs typeface="Proxima Nova"/>
                <a:sym typeface="Proxima Nova"/>
              </a:rPr>
              <a:t>You have found your number! </a:t>
            </a:r>
            <a:endParaRPr sz="1800">
              <a:latin typeface="Proxima Nova"/>
              <a:ea typeface="Proxima Nova"/>
              <a:cs typeface="Proxima Nova"/>
              <a:sym typeface="Proxima Nova"/>
            </a:endParaRPr>
          </a:p>
        </p:txBody>
      </p:sp>
      <p:sp>
        <p:nvSpPr>
          <p:cNvPr id="586" name="Google Shape;586;p63"/>
          <p:cNvSpPr txBox="1"/>
          <p:nvPr/>
        </p:nvSpPr>
        <p:spPr>
          <a:xfrm>
            <a:off x="292925" y="582150"/>
            <a:ext cx="82890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Do This: </a:t>
            </a:r>
            <a:r>
              <a:rPr lang="en" sz="1800">
                <a:solidFill>
                  <a:schemeClr val="dk1"/>
                </a:solidFill>
                <a:latin typeface="Proxima Nova"/>
                <a:ea typeface="Proxima Nova"/>
                <a:cs typeface="Proxima Nova"/>
                <a:sym typeface="Proxima Nova"/>
              </a:rPr>
              <a:t>Now try this algorithm. See how it compares to your own. </a:t>
            </a:r>
            <a:endParaRPr sz="1800">
              <a:solidFill>
                <a:schemeClr val="dk1"/>
              </a:solidFill>
              <a:latin typeface="Proxima Nova"/>
              <a:ea typeface="Proxima Nova"/>
              <a:cs typeface="Proxima Nova"/>
              <a:sym typeface="Proxima Nova"/>
            </a:endParaRPr>
          </a:p>
        </p:txBody>
      </p:sp>
      <p:pic>
        <p:nvPicPr>
          <p:cNvPr id="587" name="Google Shape;587;p63"/>
          <p:cNvPicPr preferRelativeResize="0"/>
          <p:nvPr/>
        </p:nvPicPr>
        <p:blipFill>
          <a:blip r:embed="rId4">
            <a:alphaModFix/>
          </a:blip>
          <a:stretch>
            <a:fillRect/>
          </a:stretch>
        </p:blipFill>
        <p:spPr>
          <a:xfrm>
            <a:off x="4892450" y="3606751"/>
            <a:ext cx="2834101" cy="1354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1" name="Shape 591"/>
        <p:cNvGrpSpPr/>
        <p:nvPr/>
      </p:nvGrpSpPr>
      <p:grpSpPr>
        <a:xfrm>
          <a:off x="0" y="0"/>
          <a:ext cx="0" cy="0"/>
          <a:chOff x="0" y="0"/>
          <a:chExt cx="0" cy="0"/>
        </a:xfrm>
      </p:grpSpPr>
      <p:sp>
        <p:nvSpPr>
          <p:cNvPr id="592" name="Google Shape;592;p64"/>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aphicFrame>
        <p:nvGraphicFramePr>
          <p:cNvPr id="593" name="Google Shape;593;p64"/>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cxnSp>
        <p:nvCxnSpPr>
          <p:cNvPr id="594" name="Google Shape;594;p64"/>
          <p:cNvCxnSpPr/>
          <p:nvPr/>
        </p:nvCxnSpPr>
        <p:spPr>
          <a:xfrm>
            <a:off x="5239079" y="122152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64"/>
          <p:cNvCxnSpPr/>
          <p:nvPr/>
        </p:nvCxnSpPr>
        <p:spPr>
          <a:xfrm rot="10800000">
            <a:off x="5239075" y="4597950"/>
            <a:ext cx="3463200" cy="0"/>
          </a:xfrm>
          <a:prstGeom prst="straightConnector1">
            <a:avLst/>
          </a:prstGeom>
          <a:noFill/>
          <a:ln cap="flat" cmpd="sng" w="9525">
            <a:solidFill>
              <a:schemeClr val="dk2"/>
            </a:solidFill>
            <a:prstDash val="solid"/>
            <a:round/>
            <a:headEnd len="med" w="med" type="none"/>
            <a:tailEnd len="med" w="med" type="none"/>
          </a:ln>
        </p:spPr>
      </p:cxnSp>
      <p:sp>
        <p:nvSpPr>
          <p:cNvPr id="596" name="Google Shape;596;p64"/>
          <p:cNvSpPr txBox="1"/>
          <p:nvPr/>
        </p:nvSpPr>
        <p:spPr>
          <a:xfrm>
            <a:off x="5239075" y="464895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597" name="Google Shape;597;p64"/>
          <p:cNvSpPr txBox="1"/>
          <p:nvPr/>
        </p:nvSpPr>
        <p:spPr>
          <a:xfrm>
            <a:off x="4817925" y="115995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sp>
        <p:nvSpPr>
          <p:cNvPr id="598" name="Google Shape;598;p64"/>
          <p:cNvSpPr/>
          <p:nvPr/>
        </p:nvSpPr>
        <p:spPr>
          <a:xfrm>
            <a:off x="660007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9" name="Google Shape;599;p64"/>
          <p:cNvGrpSpPr/>
          <p:nvPr/>
        </p:nvGrpSpPr>
        <p:grpSpPr>
          <a:xfrm>
            <a:off x="89100" y="4739882"/>
            <a:ext cx="324008" cy="322851"/>
            <a:chOff x="0" y="3867912"/>
            <a:chExt cx="1280160" cy="1275588"/>
          </a:xfrm>
        </p:grpSpPr>
        <p:sp>
          <p:nvSpPr>
            <p:cNvPr id="600" name="Google Shape;600;p64"/>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4"/>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4"/>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3" name="Google Shape;603;p64"/>
          <p:cNvSpPr txBox="1"/>
          <p:nvPr/>
        </p:nvSpPr>
        <p:spPr>
          <a:xfrm>
            <a:off x="6726626" y="4827743"/>
            <a:ext cx="15660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604" name="Google Shape;604;p64"/>
          <p:cNvSpPr txBox="1"/>
          <p:nvPr/>
        </p:nvSpPr>
        <p:spPr>
          <a:xfrm rot="-5400000">
            <a:off x="4083750" y="2235963"/>
            <a:ext cx="13446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
        <p:nvSpPr>
          <p:cNvPr id="605" name="Google Shape;605;p64"/>
          <p:cNvSpPr/>
          <p:nvPr/>
        </p:nvSpPr>
        <p:spPr>
          <a:xfrm>
            <a:off x="8461475" y="36234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4"/>
          <p:cNvSpPr txBox="1"/>
          <p:nvPr/>
        </p:nvSpPr>
        <p:spPr>
          <a:xfrm>
            <a:off x="60225" y="467350"/>
            <a:ext cx="90438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Proxima Nova"/>
                <a:ea typeface="Proxima Nova"/>
                <a:cs typeface="Proxima Nova"/>
                <a:sym typeface="Proxima Nova"/>
              </a:rPr>
              <a:t>Let's see what the most steps it took in the class to find the numbers.</a:t>
            </a:r>
            <a:endParaRPr sz="1700">
              <a:solidFill>
                <a:schemeClr val="dk1"/>
              </a:solidFill>
              <a:latin typeface="Proxima Nova"/>
              <a:ea typeface="Proxima Nova"/>
              <a:cs typeface="Proxima Nova"/>
              <a:sym typeface="Proxima Nov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0" name="Shape 610"/>
        <p:cNvGrpSpPr/>
        <p:nvPr/>
      </p:nvGrpSpPr>
      <p:grpSpPr>
        <a:xfrm>
          <a:off x="0" y="0"/>
          <a:ext cx="0" cy="0"/>
          <a:chOff x="0" y="0"/>
          <a:chExt cx="0" cy="0"/>
        </a:xfrm>
      </p:grpSpPr>
      <p:sp>
        <p:nvSpPr>
          <p:cNvPr id="611" name="Google Shape;611;p65"/>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aphicFrame>
        <p:nvGraphicFramePr>
          <p:cNvPr id="612" name="Google Shape;612;p65"/>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cxnSp>
        <p:nvCxnSpPr>
          <p:cNvPr id="613" name="Google Shape;613;p65"/>
          <p:cNvCxnSpPr/>
          <p:nvPr/>
        </p:nvCxnSpPr>
        <p:spPr>
          <a:xfrm>
            <a:off x="5239079" y="122152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614" name="Google Shape;614;p65"/>
          <p:cNvCxnSpPr/>
          <p:nvPr/>
        </p:nvCxnSpPr>
        <p:spPr>
          <a:xfrm rot="10800000">
            <a:off x="5239075" y="4597950"/>
            <a:ext cx="3463200" cy="0"/>
          </a:xfrm>
          <a:prstGeom prst="straightConnector1">
            <a:avLst/>
          </a:prstGeom>
          <a:noFill/>
          <a:ln cap="flat" cmpd="sng" w="9525">
            <a:solidFill>
              <a:schemeClr val="dk2"/>
            </a:solidFill>
            <a:prstDash val="solid"/>
            <a:round/>
            <a:headEnd len="med" w="med" type="none"/>
            <a:tailEnd len="med" w="med" type="none"/>
          </a:ln>
        </p:spPr>
      </p:cxnSp>
      <p:sp>
        <p:nvSpPr>
          <p:cNvPr id="615" name="Google Shape;615;p65"/>
          <p:cNvSpPr txBox="1"/>
          <p:nvPr/>
        </p:nvSpPr>
        <p:spPr>
          <a:xfrm>
            <a:off x="5239075" y="464895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616" name="Google Shape;616;p65"/>
          <p:cNvSpPr txBox="1"/>
          <p:nvPr/>
        </p:nvSpPr>
        <p:spPr>
          <a:xfrm>
            <a:off x="4817925" y="115995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sp>
        <p:nvSpPr>
          <p:cNvPr id="617" name="Google Shape;617;p65"/>
          <p:cNvSpPr/>
          <p:nvPr/>
        </p:nvSpPr>
        <p:spPr>
          <a:xfrm>
            <a:off x="5411975" y="422755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65"/>
          <p:cNvSpPr/>
          <p:nvPr/>
        </p:nvSpPr>
        <p:spPr>
          <a:xfrm>
            <a:off x="660007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65"/>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1</a:t>
            </a:r>
            <a:endParaRPr b="1" sz="2400">
              <a:solidFill>
                <a:srgbClr val="FF0000"/>
              </a:solidFill>
              <a:latin typeface="Coming Soon"/>
              <a:ea typeface="Coming Soon"/>
              <a:cs typeface="Coming Soon"/>
              <a:sym typeface="Coming Soon"/>
            </a:endParaRPr>
          </a:p>
        </p:txBody>
      </p:sp>
      <p:grpSp>
        <p:nvGrpSpPr>
          <p:cNvPr id="620" name="Google Shape;620;p65"/>
          <p:cNvGrpSpPr/>
          <p:nvPr/>
        </p:nvGrpSpPr>
        <p:grpSpPr>
          <a:xfrm>
            <a:off x="89100" y="4739882"/>
            <a:ext cx="324008" cy="322851"/>
            <a:chOff x="0" y="3867912"/>
            <a:chExt cx="1280160" cy="1275588"/>
          </a:xfrm>
        </p:grpSpPr>
        <p:sp>
          <p:nvSpPr>
            <p:cNvPr id="621" name="Google Shape;621;p65"/>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5"/>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5"/>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4" name="Google Shape;624;p65"/>
          <p:cNvSpPr txBox="1"/>
          <p:nvPr/>
        </p:nvSpPr>
        <p:spPr>
          <a:xfrm>
            <a:off x="6726626" y="4827743"/>
            <a:ext cx="15660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625" name="Google Shape;625;p65"/>
          <p:cNvSpPr txBox="1"/>
          <p:nvPr/>
        </p:nvSpPr>
        <p:spPr>
          <a:xfrm rot="-5400000">
            <a:off x="4083750" y="2235963"/>
            <a:ext cx="13446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
        <p:nvSpPr>
          <p:cNvPr id="626" name="Google Shape;626;p65"/>
          <p:cNvSpPr/>
          <p:nvPr/>
        </p:nvSpPr>
        <p:spPr>
          <a:xfrm>
            <a:off x="8461475" y="36234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66"/>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aphicFrame>
        <p:nvGraphicFramePr>
          <p:cNvPr id="632" name="Google Shape;632;p66"/>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cxnSp>
        <p:nvCxnSpPr>
          <p:cNvPr id="633" name="Google Shape;633;p66"/>
          <p:cNvCxnSpPr/>
          <p:nvPr/>
        </p:nvCxnSpPr>
        <p:spPr>
          <a:xfrm>
            <a:off x="5239079" y="122152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66"/>
          <p:cNvCxnSpPr/>
          <p:nvPr/>
        </p:nvCxnSpPr>
        <p:spPr>
          <a:xfrm rot="10800000">
            <a:off x="5239075" y="4597950"/>
            <a:ext cx="3463200" cy="0"/>
          </a:xfrm>
          <a:prstGeom prst="straightConnector1">
            <a:avLst/>
          </a:prstGeom>
          <a:noFill/>
          <a:ln cap="flat" cmpd="sng" w="9525">
            <a:solidFill>
              <a:schemeClr val="dk2"/>
            </a:solidFill>
            <a:prstDash val="solid"/>
            <a:round/>
            <a:headEnd len="med" w="med" type="none"/>
            <a:tailEnd len="med" w="med" type="none"/>
          </a:ln>
        </p:spPr>
      </p:cxnSp>
      <p:sp>
        <p:nvSpPr>
          <p:cNvPr id="635" name="Google Shape;635;p66"/>
          <p:cNvSpPr txBox="1"/>
          <p:nvPr/>
        </p:nvSpPr>
        <p:spPr>
          <a:xfrm>
            <a:off x="5239075" y="464895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636" name="Google Shape;636;p66"/>
          <p:cNvSpPr txBox="1"/>
          <p:nvPr/>
        </p:nvSpPr>
        <p:spPr>
          <a:xfrm>
            <a:off x="4817925" y="115995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sp>
        <p:nvSpPr>
          <p:cNvPr id="637" name="Google Shape;637;p66"/>
          <p:cNvSpPr/>
          <p:nvPr/>
        </p:nvSpPr>
        <p:spPr>
          <a:xfrm>
            <a:off x="8461475" y="36234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6"/>
          <p:cNvSpPr/>
          <p:nvPr/>
        </p:nvSpPr>
        <p:spPr>
          <a:xfrm>
            <a:off x="5411975" y="422755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6"/>
          <p:cNvSpPr/>
          <p:nvPr/>
        </p:nvSpPr>
        <p:spPr>
          <a:xfrm>
            <a:off x="5785175" y="402970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6"/>
          <p:cNvSpPr/>
          <p:nvPr/>
        </p:nvSpPr>
        <p:spPr>
          <a:xfrm>
            <a:off x="660007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6"/>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1</a:t>
            </a:r>
            <a:endParaRPr b="1" sz="2400">
              <a:solidFill>
                <a:srgbClr val="FF0000"/>
              </a:solidFill>
              <a:latin typeface="Coming Soon"/>
              <a:ea typeface="Coming Soon"/>
              <a:cs typeface="Coming Soon"/>
              <a:sym typeface="Coming Soon"/>
            </a:endParaRPr>
          </a:p>
        </p:txBody>
      </p:sp>
      <p:sp>
        <p:nvSpPr>
          <p:cNvPr id="642" name="Google Shape;642;p66"/>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2</a:t>
            </a:r>
            <a:endParaRPr b="1" sz="2400">
              <a:solidFill>
                <a:srgbClr val="FF0000"/>
              </a:solidFill>
              <a:latin typeface="Coming Soon"/>
              <a:ea typeface="Coming Soon"/>
              <a:cs typeface="Coming Soon"/>
              <a:sym typeface="Coming Soon"/>
            </a:endParaRPr>
          </a:p>
        </p:txBody>
      </p:sp>
      <p:grpSp>
        <p:nvGrpSpPr>
          <p:cNvPr id="643" name="Google Shape;643;p66"/>
          <p:cNvGrpSpPr/>
          <p:nvPr/>
        </p:nvGrpSpPr>
        <p:grpSpPr>
          <a:xfrm>
            <a:off x="89100" y="4739882"/>
            <a:ext cx="324008" cy="322851"/>
            <a:chOff x="0" y="3867912"/>
            <a:chExt cx="1280160" cy="1275588"/>
          </a:xfrm>
        </p:grpSpPr>
        <p:sp>
          <p:nvSpPr>
            <p:cNvPr id="644" name="Google Shape;644;p66"/>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6"/>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6"/>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7" name="Google Shape;647;p66"/>
          <p:cNvSpPr txBox="1"/>
          <p:nvPr/>
        </p:nvSpPr>
        <p:spPr>
          <a:xfrm>
            <a:off x="6726626" y="4827743"/>
            <a:ext cx="15660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648" name="Google Shape;648;p66"/>
          <p:cNvSpPr txBox="1"/>
          <p:nvPr/>
        </p:nvSpPr>
        <p:spPr>
          <a:xfrm rot="-5400000">
            <a:off x="4083750" y="2235963"/>
            <a:ext cx="13446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2" name="Shape 652"/>
        <p:cNvGrpSpPr/>
        <p:nvPr/>
      </p:nvGrpSpPr>
      <p:grpSpPr>
        <a:xfrm>
          <a:off x="0" y="0"/>
          <a:ext cx="0" cy="0"/>
          <a:chOff x="0" y="0"/>
          <a:chExt cx="0" cy="0"/>
        </a:xfrm>
      </p:grpSpPr>
      <p:sp>
        <p:nvSpPr>
          <p:cNvPr id="653" name="Google Shape;653;p67"/>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aphicFrame>
        <p:nvGraphicFramePr>
          <p:cNvPr id="654" name="Google Shape;654;p67"/>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cxnSp>
        <p:nvCxnSpPr>
          <p:cNvPr id="655" name="Google Shape;655;p67"/>
          <p:cNvCxnSpPr/>
          <p:nvPr/>
        </p:nvCxnSpPr>
        <p:spPr>
          <a:xfrm>
            <a:off x="5239079" y="122152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67"/>
          <p:cNvCxnSpPr/>
          <p:nvPr/>
        </p:nvCxnSpPr>
        <p:spPr>
          <a:xfrm rot="10800000">
            <a:off x="5239075" y="4597950"/>
            <a:ext cx="3463200" cy="0"/>
          </a:xfrm>
          <a:prstGeom prst="straightConnector1">
            <a:avLst/>
          </a:prstGeom>
          <a:noFill/>
          <a:ln cap="flat" cmpd="sng" w="9525">
            <a:solidFill>
              <a:schemeClr val="dk2"/>
            </a:solidFill>
            <a:prstDash val="solid"/>
            <a:round/>
            <a:headEnd len="med" w="med" type="none"/>
            <a:tailEnd len="med" w="med" type="none"/>
          </a:ln>
        </p:spPr>
      </p:cxnSp>
      <p:sp>
        <p:nvSpPr>
          <p:cNvPr id="657" name="Google Shape;657;p67"/>
          <p:cNvSpPr txBox="1"/>
          <p:nvPr/>
        </p:nvSpPr>
        <p:spPr>
          <a:xfrm>
            <a:off x="5239075" y="464895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658" name="Google Shape;658;p67"/>
          <p:cNvSpPr txBox="1"/>
          <p:nvPr/>
        </p:nvSpPr>
        <p:spPr>
          <a:xfrm>
            <a:off x="4817925" y="115995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sp>
        <p:nvSpPr>
          <p:cNvPr id="659" name="Google Shape;659;p67"/>
          <p:cNvSpPr/>
          <p:nvPr/>
        </p:nvSpPr>
        <p:spPr>
          <a:xfrm>
            <a:off x="8461475" y="36234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7"/>
          <p:cNvSpPr/>
          <p:nvPr/>
        </p:nvSpPr>
        <p:spPr>
          <a:xfrm>
            <a:off x="5411975" y="422755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7"/>
          <p:cNvSpPr/>
          <p:nvPr/>
        </p:nvSpPr>
        <p:spPr>
          <a:xfrm>
            <a:off x="5785175" y="402970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7"/>
          <p:cNvSpPr/>
          <p:nvPr/>
        </p:nvSpPr>
        <p:spPr>
          <a:xfrm>
            <a:off x="660007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7"/>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1</a:t>
            </a:r>
            <a:endParaRPr b="1" sz="2400">
              <a:solidFill>
                <a:srgbClr val="FF0000"/>
              </a:solidFill>
              <a:latin typeface="Coming Soon"/>
              <a:ea typeface="Coming Soon"/>
              <a:cs typeface="Coming Soon"/>
              <a:sym typeface="Coming Soon"/>
            </a:endParaRPr>
          </a:p>
        </p:txBody>
      </p:sp>
      <p:sp>
        <p:nvSpPr>
          <p:cNvPr id="664" name="Google Shape;664;p67"/>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2</a:t>
            </a:r>
            <a:endParaRPr b="1" sz="2400">
              <a:solidFill>
                <a:srgbClr val="FF0000"/>
              </a:solidFill>
              <a:latin typeface="Coming Soon"/>
              <a:ea typeface="Coming Soon"/>
              <a:cs typeface="Coming Soon"/>
              <a:sym typeface="Coming Soon"/>
            </a:endParaRPr>
          </a:p>
        </p:txBody>
      </p:sp>
      <p:sp>
        <p:nvSpPr>
          <p:cNvPr id="665" name="Google Shape;665;p67"/>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3</a:t>
            </a:r>
            <a:endParaRPr b="1" sz="2400">
              <a:solidFill>
                <a:srgbClr val="FF0000"/>
              </a:solidFill>
              <a:latin typeface="Coming Soon"/>
              <a:ea typeface="Coming Soon"/>
              <a:cs typeface="Coming Soon"/>
              <a:sym typeface="Coming Soon"/>
            </a:endParaRPr>
          </a:p>
        </p:txBody>
      </p:sp>
      <p:sp>
        <p:nvSpPr>
          <p:cNvPr id="666" name="Google Shape;666;p67"/>
          <p:cNvSpPr/>
          <p:nvPr/>
        </p:nvSpPr>
        <p:spPr>
          <a:xfrm>
            <a:off x="624692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7" name="Google Shape;667;p67"/>
          <p:cNvGrpSpPr/>
          <p:nvPr/>
        </p:nvGrpSpPr>
        <p:grpSpPr>
          <a:xfrm>
            <a:off x="89100" y="4739882"/>
            <a:ext cx="324008" cy="322851"/>
            <a:chOff x="0" y="3867912"/>
            <a:chExt cx="1280160" cy="1275588"/>
          </a:xfrm>
        </p:grpSpPr>
        <p:sp>
          <p:nvSpPr>
            <p:cNvPr id="668" name="Google Shape;668;p67"/>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7"/>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67"/>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1" name="Google Shape;671;p67"/>
          <p:cNvSpPr txBox="1"/>
          <p:nvPr/>
        </p:nvSpPr>
        <p:spPr>
          <a:xfrm>
            <a:off x="6726626" y="4827743"/>
            <a:ext cx="15660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672" name="Google Shape;672;p67"/>
          <p:cNvSpPr txBox="1"/>
          <p:nvPr/>
        </p:nvSpPr>
        <p:spPr>
          <a:xfrm rot="-5400000">
            <a:off x="4083750" y="2235963"/>
            <a:ext cx="13446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6" name="Shape 676"/>
        <p:cNvGrpSpPr/>
        <p:nvPr/>
      </p:nvGrpSpPr>
      <p:grpSpPr>
        <a:xfrm>
          <a:off x="0" y="0"/>
          <a:ext cx="0" cy="0"/>
          <a:chOff x="0" y="0"/>
          <a:chExt cx="0" cy="0"/>
        </a:xfrm>
      </p:grpSpPr>
      <p:sp>
        <p:nvSpPr>
          <p:cNvPr id="677" name="Google Shape;677;p68"/>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aphicFrame>
        <p:nvGraphicFramePr>
          <p:cNvPr id="678" name="Google Shape;678;p68"/>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cxnSp>
        <p:nvCxnSpPr>
          <p:cNvPr id="679" name="Google Shape;679;p68"/>
          <p:cNvCxnSpPr/>
          <p:nvPr/>
        </p:nvCxnSpPr>
        <p:spPr>
          <a:xfrm>
            <a:off x="5239079" y="122152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68"/>
          <p:cNvCxnSpPr/>
          <p:nvPr/>
        </p:nvCxnSpPr>
        <p:spPr>
          <a:xfrm rot="10800000">
            <a:off x="5239075" y="4597950"/>
            <a:ext cx="3463200" cy="0"/>
          </a:xfrm>
          <a:prstGeom prst="straightConnector1">
            <a:avLst/>
          </a:prstGeom>
          <a:noFill/>
          <a:ln cap="flat" cmpd="sng" w="9525">
            <a:solidFill>
              <a:schemeClr val="dk2"/>
            </a:solidFill>
            <a:prstDash val="solid"/>
            <a:round/>
            <a:headEnd len="med" w="med" type="none"/>
            <a:tailEnd len="med" w="med" type="none"/>
          </a:ln>
        </p:spPr>
      </p:cxnSp>
      <p:sp>
        <p:nvSpPr>
          <p:cNvPr id="681" name="Google Shape;681;p68"/>
          <p:cNvSpPr txBox="1"/>
          <p:nvPr/>
        </p:nvSpPr>
        <p:spPr>
          <a:xfrm>
            <a:off x="5239075" y="464895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682" name="Google Shape;682;p68"/>
          <p:cNvSpPr txBox="1"/>
          <p:nvPr/>
        </p:nvSpPr>
        <p:spPr>
          <a:xfrm>
            <a:off x="4817925" y="115995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sp>
        <p:nvSpPr>
          <p:cNvPr id="683" name="Google Shape;683;p68"/>
          <p:cNvSpPr/>
          <p:nvPr/>
        </p:nvSpPr>
        <p:spPr>
          <a:xfrm>
            <a:off x="8461475" y="36234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8"/>
          <p:cNvSpPr/>
          <p:nvPr/>
        </p:nvSpPr>
        <p:spPr>
          <a:xfrm>
            <a:off x="5411975" y="422755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8"/>
          <p:cNvSpPr/>
          <p:nvPr/>
        </p:nvSpPr>
        <p:spPr>
          <a:xfrm>
            <a:off x="5785175" y="402970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8"/>
          <p:cNvSpPr/>
          <p:nvPr/>
        </p:nvSpPr>
        <p:spPr>
          <a:xfrm>
            <a:off x="660007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8"/>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1</a:t>
            </a:r>
            <a:endParaRPr b="1" sz="2400">
              <a:solidFill>
                <a:srgbClr val="FF0000"/>
              </a:solidFill>
              <a:latin typeface="Coming Soon"/>
              <a:ea typeface="Coming Soon"/>
              <a:cs typeface="Coming Soon"/>
              <a:sym typeface="Coming Soon"/>
            </a:endParaRPr>
          </a:p>
        </p:txBody>
      </p:sp>
      <p:sp>
        <p:nvSpPr>
          <p:cNvPr id="688" name="Google Shape;688;p68"/>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2</a:t>
            </a:r>
            <a:endParaRPr b="1" sz="2400">
              <a:solidFill>
                <a:srgbClr val="FF0000"/>
              </a:solidFill>
              <a:latin typeface="Coming Soon"/>
              <a:ea typeface="Coming Soon"/>
              <a:cs typeface="Coming Soon"/>
              <a:sym typeface="Coming Soon"/>
            </a:endParaRPr>
          </a:p>
        </p:txBody>
      </p:sp>
      <p:sp>
        <p:nvSpPr>
          <p:cNvPr id="689" name="Google Shape;689;p68"/>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3</a:t>
            </a:r>
            <a:endParaRPr b="1" sz="2400">
              <a:solidFill>
                <a:srgbClr val="FF0000"/>
              </a:solidFill>
              <a:latin typeface="Coming Soon"/>
              <a:ea typeface="Coming Soon"/>
              <a:cs typeface="Coming Soon"/>
              <a:sym typeface="Coming Soon"/>
            </a:endParaRPr>
          </a:p>
        </p:txBody>
      </p:sp>
      <p:sp>
        <p:nvSpPr>
          <p:cNvPr id="690" name="Google Shape;690;p68"/>
          <p:cNvSpPr txBox="1"/>
          <p:nvPr/>
        </p:nvSpPr>
        <p:spPr>
          <a:xfrm>
            <a:off x="3372550" y="389910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4</a:t>
            </a:r>
            <a:endParaRPr b="1" sz="2400">
              <a:solidFill>
                <a:srgbClr val="FF0000"/>
              </a:solidFill>
              <a:latin typeface="Coming Soon"/>
              <a:ea typeface="Coming Soon"/>
              <a:cs typeface="Coming Soon"/>
              <a:sym typeface="Coming Soon"/>
            </a:endParaRPr>
          </a:p>
        </p:txBody>
      </p:sp>
      <p:sp>
        <p:nvSpPr>
          <p:cNvPr id="691" name="Google Shape;691;p68"/>
          <p:cNvSpPr/>
          <p:nvPr/>
        </p:nvSpPr>
        <p:spPr>
          <a:xfrm>
            <a:off x="624692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8"/>
          <p:cNvSpPr/>
          <p:nvPr/>
        </p:nvSpPr>
        <p:spPr>
          <a:xfrm>
            <a:off x="7017475" y="367365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3" name="Google Shape;693;p68"/>
          <p:cNvGrpSpPr/>
          <p:nvPr/>
        </p:nvGrpSpPr>
        <p:grpSpPr>
          <a:xfrm>
            <a:off x="89100" y="4739882"/>
            <a:ext cx="324008" cy="322851"/>
            <a:chOff x="0" y="3867912"/>
            <a:chExt cx="1280160" cy="1275588"/>
          </a:xfrm>
        </p:grpSpPr>
        <p:sp>
          <p:nvSpPr>
            <p:cNvPr id="694" name="Google Shape;694;p68"/>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8"/>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8"/>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7" name="Google Shape;697;p68"/>
          <p:cNvSpPr txBox="1"/>
          <p:nvPr/>
        </p:nvSpPr>
        <p:spPr>
          <a:xfrm>
            <a:off x="6726626" y="4827743"/>
            <a:ext cx="15660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698" name="Google Shape;698;p68"/>
          <p:cNvSpPr txBox="1"/>
          <p:nvPr/>
        </p:nvSpPr>
        <p:spPr>
          <a:xfrm rot="-5400000">
            <a:off x="4083750" y="2235963"/>
            <a:ext cx="13446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2" name="Shape 702"/>
        <p:cNvGrpSpPr/>
        <p:nvPr/>
      </p:nvGrpSpPr>
      <p:grpSpPr>
        <a:xfrm>
          <a:off x="0" y="0"/>
          <a:ext cx="0" cy="0"/>
          <a:chOff x="0" y="0"/>
          <a:chExt cx="0" cy="0"/>
        </a:xfrm>
      </p:grpSpPr>
      <p:sp>
        <p:nvSpPr>
          <p:cNvPr id="703" name="Google Shape;703;p69"/>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graphicFrame>
        <p:nvGraphicFramePr>
          <p:cNvPr id="704" name="Google Shape;704;p69"/>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cxnSp>
        <p:nvCxnSpPr>
          <p:cNvPr id="705" name="Google Shape;705;p69"/>
          <p:cNvCxnSpPr/>
          <p:nvPr/>
        </p:nvCxnSpPr>
        <p:spPr>
          <a:xfrm>
            <a:off x="5239079" y="122152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706" name="Google Shape;706;p69"/>
          <p:cNvCxnSpPr/>
          <p:nvPr/>
        </p:nvCxnSpPr>
        <p:spPr>
          <a:xfrm rot="10800000">
            <a:off x="5239075" y="4597950"/>
            <a:ext cx="3463200" cy="0"/>
          </a:xfrm>
          <a:prstGeom prst="straightConnector1">
            <a:avLst/>
          </a:prstGeom>
          <a:noFill/>
          <a:ln cap="flat" cmpd="sng" w="9525">
            <a:solidFill>
              <a:schemeClr val="dk2"/>
            </a:solidFill>
            <a:prstDash val="solid"/>
            <a:round/>
            <a:headEnd len="med" w="med" type="none"/>
            <a:tailEnd len="med" w="med" type="none"/>
          </a:ln>
        </p:spPr>
      </p:cxnSp>
      <p:sp>
        <p:nvSpPr>
          <p:cNvPr id="707" name="Google Shape;707;p69"/>
          <p:cNvSpPr txBox="1"/>
          <p:nvPr/>
        </p:nvSpPr>
        <p:spPr>
          <a:xfrm>
            <a:off x="5239075" y="464895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708" name="Google Shape;708;p69"/>
          <p:cNvSpPr/>
          <p:nvPr/>
        </p:nvSpPr>
        <p:spPr>
          <a:xfrm>
            <a:off x="5239475" y="3711447"/>
            <a:ext cx="3503025" cy="881250"/>
          </a:xfrm>
          <a:custGeom>
            <a:rect b="b" l="l" r="r" t="t"/>
            <a:pathLst>
              <a:path extrusionOk="0" h="35250" w="140121">
                <a:moveTo>
                  <a:pt x="0" y="35250"/>
                </a:moveTo>
                <a:cubicBezTo>
                  <a:pt x="26701" y="-4802"/>
                  <a:pt x="91985" y="320"/>
                  <a:pt x="140121" y="320"/>
                </a:cubicBezTo>
              </a:path>
            </a:pathLst>
          </a:custGeom>
          <a:noFill/>
          <a:ln cap="flat" cmpd="sng" w="76200">
            <a:solidFill>
              <a:srgbClr val="93C47D"/>
            </a:solidFill>
            <a:prstDash val="solid"/>
            <a:round/>
            <a:headEnd len="med" w="med" type="none"/>
            <a:tailEnd len="med" w="med" type="none"/>
          </a:ln>
        </p:spPr>
      </p:sp>
      <p:sp>
        <p:nvSpPr>
          <p:cNvPr id="709" name="Google Shape;709;p69"/>
          <p:cNvSpPr txBox="1"/>
          <p:nvPr/>
        </p:nvSpPr>
        <p:spPr>
          <a:xfrm>
            <a:off x="4817925" y="115995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sp>
        <p:nvSpPr>
          <p:cNvPr id="710" name="Google Shape;710;p69"/>
          <p:cNvSpPr/>
          <p:nvPr/>
        </p:nvSpPr>
        <p:spPr>
          <a:xfrm>
            <a:off x="8461475" y="36234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9"/>
          <p:cNvSpPr/>
          <p:nvPr/>
        </p:nvSpPr>
        <p:spPr>
          <a:xfrm>
            <a:off x="5411975" y="422755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9"/>
          <p:cNvSpPr/>
          <p:nvPr/>
        </p:nvSpPr>
        <p:spPr>
          <a:xfrm>
            <a:off x="5785175" y="402970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9"/>
          <p:cNvSpPr/>
          <p:nvPr/>
        </p:nvSpPr>
        <p:spPr>
          <a:xfrm>
            <a:off x="660007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9"/>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1</a:t>
            </a:r>
            <a:endParaRPr b="1" sz="2400">
              <a:solidFill>
                <a:srgbClr val="FF0000"/>
              </a:solidFill>
              <a:latin typeface="Coming Soon"/>
              <a:ea typeface="Coming Soon"/>
              <a:cs typeface="Coming Soon"/>
              <a:sym typeface="Coming Soon"/>
            </a:endParaRPr>
          </a:p>
        </p:txBody>
      </p:sp>
      <p:sp>
        <p:nvSpPr>
          <p:cNvPr id="715" name="Google Shape;715;p69"/>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2</a:t>
            </a:r>
            <a:endParaRPr b="1" sz="2400">
              <a:solidFill>
                <a:srgbClr val="FF0000"/>
              </a:solidFill>
              <a:latin typeface="Coming Soon"/>
              <a:ea typeface="Coming Soon"/>
              <a:cs typeface="Coming Soon"/>
              <a:sym typeface="Coming Soon"/>
            </a:endParaRPr>
          </a:p>
        </p:txBody>
      </p:sp>
      <p:sp>
        <p:nvSpPr>
          <p:cNvPr id="716" name="Google Shape;716;p69"/>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3</a:t>
            </a:r>
            <a:endParaRPr b="1" sz="2400">
              <a:solidFill>
                <a:srgbClr val="FF0000"/>
              </a:solidFill>
              <a:latin typeface="Coming Soon"/>
              <a:ea typeface="Coming Soon"/>
              <a:cs typeface="Coming Soon"/>
              <a:sym typeface="Coming Soon"/>
            </a:endParaRPr>
          </a:p>
        </p:txBody>
      </p:sp>
      <p:sp>
        <p:nvSpPr>
          <p:cNvPr id="717" name="Google Shape;717;p69"/>
          <p:cNvSpPr txBox="1"/>
          <p:nvPr/>
        </p:nvSpPr>
        <p:spPr>
          <a:xfrm>
            <a:off x="3372550" y="389910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0000"/>
                </a:solidFill>
                <a:latin typeface="Coming Soon"/>
                <a:ea typeface="Coming Soon"/>
                <a:cs typeface="Coming Soon"/>
                <a:sym typeface="Coming Soon"/>
              </a:rPr>
              <a:t>4</a:t>
            </a:r>
            <a:endParaRPr b="1" sz="2400">
              <a:solidFill>
                <a:srgbClr val="FF0000"/>
              </a:solidFill>
              <a:latin typeface="Coming Soon"/>
              <a:ea typeface="Coming Soon"/>
              <a:cs typeface="Coming Soon"/>
              <a:sym typeface="Coming Soon"/>
            </a:endParaRPr>
          </a:p>
        </p:txBody>
      </p:sp>
      <p:sp>
        <p:nvSpPr>
          <p:cNvPr id="718" name="Google Shape;718;p69"/>
          <p:cNvSpPr/>
          <p:nvPr/>
        </p:nvSpPr>
        <p:spPr>
          <a:xfrm>
            <a:off x="6246925" y="3839775"/>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69"/>
          <p:cNvSpPr/>
          <p:nvPr/>
        </p:nvSpPr>
        <p:spPr>
          <a:xfrm>
            <a:off x="7017475" y="3673650"/>
            <a:ext cx="130500" cy="1305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69"/>
          <p:cNvSpPr txBox="1"/>
          <p:nvPr/>
        </p:nvSpPr>
        <p:spPr>
          <a:xfrm>
            <a:off x="6726626" y="4827743"/>
            <a:ext cx="1566000" cy="3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inputs</a:t>
            </a:r>
            <a:endParaRPr b="1"/>
          </a:p>
        </p:txBody>
      </p:sp>
      <p:sp>
        <p:nvSpPr>
          <p:cNvPr id="721" name="Google Shape;721;p69"/>
          <p:cNvSpPr txBox="1"/>
          <p:nvPr/>
        </p:nvSpPr>
        <p:spPr>
          <a:xfrm rot="-5400000">
            <a:off x="4083750" y="2235963"/>
            <a:ext cx="1344600" cy="36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t>steps</a:t>
            </a:r>
            <a:endParaRPr b="1"/>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5" name="Shape 725"/>
        <p:cNvGrpSpPr/>
        <p:nvPr/>
      </p:nvGrpSpPr>
      <p:grpSpPr>
        <a:xfrm>
          <a:off x="0" y="0"/>
          <a:ext cx="0" cy="0"/>
          <a:chOff x="0" y="0"/>
          <a:chExt cx="0" cy="0"/>
        </a:xfrm>
      </p:grpSpPr>
      <p:sp>
        <p:nvSpPr>
          <p:cNvPr id="726" name="Google Shape;726;p70"/>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727" name="Google Shape;727;p70"/>
          <p:cNvSpPr txBox="1"/>
          <p:nvPr/>
        </p:nvSpPr>
        <p:spPr>
          <a:xfrm>
            <a:off x="60225" y="467350"/>
            <a:ext cx="90438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oxima Nova"/>
                <a:ea typeface="Proxima Nova"/>
                <a:cs typeface="Proxima Nova"/>
                <a:sym typeface="Proxima Nova"/>
              </a:rPr>
              <a:t>There's another way of thinking about this. Can you see the pattern? </a:t>
            </a:r>
            <a:endParaRPr sz="1800">
              <a:solidFill>
                <a:schemeClr val="dk1"/>
              </a:solidFill>
              <a:latin typeface="Proxima Nova"/>
              <a:ea typeface="Proxima Nova"/>
              <a:cs typeface="Proxima Nova"/>
              <a:sym typeface="Proxima Nova"/>
            </a:endParaRPr>
          </a:p>
        </p:txBody>
      </p:sp>
      <p:graphicFrame>
        <p:nvGraphicFramePr>
          <p:cNvPr id="728" name="Google Shape;728;p70"/>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sp>
        <p:nvSpPr>
          <p:cNvPr id="729" name="Google Shape;729;p70"/>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p:txBody>
      </p:sp>
      <p:sp>
        <p:nvSpPr>
          <p:cNvPr id="730" name="Google Shape;730;p70"/>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2</a:t>
            </a:r>
            <a:endParaRPr sz="2400">
              <a:latin typeface="Proxima Nova"/>
              <a:ea typeface="Proxima Nova"/>
              <a:cs typeface="Proxima Nova"/>
              <a:sym typeface="Proxima Nova"/>
            </a:endParaRPr>
          </a:p>
        </p:txBody>
      </p:sp>
      <p:sp>
        <p:nvSpPr>
          <p:cNvPr id="731" name="Google Shape;731;p70"/>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p:txBody>
      </p:sp>
      <p:sp>
        <p:nvSpPr>
          <p:cNvPr id="732" name="Google Shape;732;p70"/>
          <p:cNvSpPr txBox="1"/>
          <p:nvPr/>
        </p:nvSpPr>
        <p:spPr>
          <a:xfrm>
            <a:off x="3372550" y="389910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p:txBody>
      </p:sp>
      <p:sp>
        <p:nvSpPr>
          <p:cNvPr id="733" name="Google Shape;733;p70"/>
          <p:cNvSpPr/>
          <p:nvPr/>
        </p:nvSpPr>
        <p:spPr>
          <a:xfrm>
            <a:off x="2278450" y="173705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4" name="Google Shape;734;p70"/>
          <p:cNvCxnSpPr>
            <a:stCxn id="733" idx="6"/>
          </p:cNvCxnSpPr>
          <p:nvPr/>
        </p:nvCxnSpPr>
        <p:spPr>
          <a:xfrm flipH="1" rot="10800000">
            <a:off x="2770150" y="1334900"/>
            <a:ext cx="1977600" cy="648000"/>
          </a:xfrm>
          <a:prstGeom prst="straightConnector1">
            <a:avLst/>
          </a:prstGeom>
          <a:noFill/>
          <a:ln cap="flat" cmpd="sng" w="19050">
            <a:solidFill>
              <a:srgbClr val="FF0000"/>
            </a:solidFill>
            <a:prstDash val="dash"/>
            <a:round/>
            <a:headEnd len="med" w="med" type="none"/>
            <a:tailEnd len="med" w="med" type="triangle"/>
          </a:ln>
        </p:spPr>
      </p:cxnSp>
      <p:sp>
        <p:nvSpPr>
          <p:cNvPr id="735" name="Google Shape;735;p70"/>
          <p:cNvSpPr txBox="1"/>
          <p:nvPr/>
        </p:nvSpPr>
        <p:spPr>
          <a:xfrm>
            <a:off x="4747750" y="1114150"/>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many bits does it take to represent 1 in Binary?</a:t>
            </a:r>
            <a:endParaRPr/>
          </a:p>
        </p:txBody>
      </p:sp>
      <p:grpSp>
        <p:nvGrpSpPr>
          <p:cNvPr id="736" name="Google Shape;736;p70"/>
          <p:cNvGrpSpPr/>
          <p:nvPr/>
        </p:nvGrpSpPr>
        <p:grpSpPr>
          <a:xfrm>
            <a:off x="89100" y="4739882"/>
            <a:ext cx="324008" cy="322851"/>
            <a:chOff x="0" y="3867912"/>
            <a:chExt cx="1280160" cy="1275588"/>
          </a:xfrm>
        </p:grpSpPr>
        <p:sp>
          <p:nvSpPr>
            <p:cNvPr id="737" name="Google Shape;737;p70"/>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0"/>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0"/>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3" name="Shape 743"/>
        <p:cNvGrpSpPr/>
        <p:nvPr/>
      </p:nvGrpSpPr>
      <p:grpSpPr>
        <a:xfrm>
          <a:off x="0" y="0"/>
          <a:ext cx="0" cy="0"/>
          <a:chOff x="0" y="0"/>
          <a:chExt cx="0" cy="0"/>
        </a:xfrm>
      </p:grpSpPr>
      <p:sp>
        <p:nvSpPr>
          <p:cNvPr id="744" name="Google Shape;744;p71"/>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745" name="Google Shape;745;p71"/>
          <p:cNvSpPr txBox="1"/>
          <p:nvPr/>
        </p:nvSpPr>
        <p:spPr>
          <a:xfrm>
            <a:off x="60225" y="467350"/>
            <a:ext cx="90438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oxima Nova"/>
                <a:ea typeface="Proxima Nova"/>
                <a:cs typeface="Proxima Nova"/>
                <a:sym typeface="Proxima Nova"/>
              </a:rPr>
              <a:t>There's another way of thinking about this. Can you see the pattern? </a:t>
            </a:r>
            <a:endParaRPr sz="1800">
              <a:solidFill>
                <a:schemeClr val="dk1"/>
              </a:solidFill>
              <a:latin typeface="Proxima Nova"/>
              <a:ea typeface="Proxima Nova"/>
              <a:cs typeface="Proxima Nova"/>
              <a:sym typeface="Proxima Nova"/>
            </a:endParaRPr>
          </a:p>
        </p:txBody>
      </p:sp>
      <p:graphicFrame>
        <p:nvGraphicFramePr>
          <p:cNvPr id="746" name="Google Shape;746;p71"/>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sp>
        <p:nvSpPr>
          <p:cNvPr id="747" name="Google Shape;747;p71"/>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p:txBody>
      </p:sp>
      <p:sp>
        <p:nvSpPr>
          <p:cNvPr id="748" name="Google Shape;748;p71"/>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2</a:t>
            </a:r>
            <a:endParaRPr sz="2400">
              <a:latin typeface="Proxima Nova"/>
              <a:ea typeface="Proxima Nova"/>
              <a:cs typeface="Proxima Nova"/>
              <a:sym typeface="Proxima Nova"/>
            </a:endParaRPr>
          </a:p>
        </p:txBody>
      </p:sp>
      <p:sp>
        <p:nvSpPr>
          <p:cNvPr id="749" name="Google Shape;749;p71"/>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p:txBody>
      </p:sp>
      <p:sp>
        <p:nvSpPr>
          <p:cNvPr id="750" name="Google Shape;750;p71"/>
          <p:cNvSpPr txBox="1"/>
          <p:nvPr/>
        </p:nvSpPr>
        <p:spPr>
          <a:xfrm>
            <a:off x="3372550" y="389910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p:txBody>
      </p:sp>
      <p:sp>
        <p:nvSpPr>
          <p:cNvPr id="751" name="Google Shape;751;p71"/>
          <p:cNvSpPr/>
          <p:nvPr/>
        </p:nvSpPr>
        <p:spPr>
          <a:xfrm>
            <a:off x="2278450" y="173705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2" name="Google Shape;752;p71"/>
          <p:cNvCxnSpPr>
            <a:stCxn id="751" idx="6"/>
          </p:cNvCxnSpPr>
          <p:nvPr/>
        </p:nvCxnSpPr>
        <p:spPr>
          <a:xfrm flipH="1" rot="10800000">
            <a:off x="2770150" y="1334900"/>
            <a:ext cx="1977600" cy="648000"/>
          </a:xfrm>
          <a:prstGeom prst="straightConnector1">
            <a:avLst/>
          </a:prstGeom>
          <a:noFill/>
          <a:ln cap="flat" cmpd="sng" w="19050">
            <a:solidFill>
              <a:srgbClr val="FF0000"/>
            </a:solidFill>
            <a:prstDash val="dash"/>
            <a:round/>
            <a:headEnd len="med" w="med" type="none"/>
            <a:tailEnd len="med" w="med" type="triangle"/>
          </a:ln>
        </p:spPr>
      </p:cxnSp>
      <p:sp>
        <p:nvSpPr>
          <p:cNvPr id="753" name="Google Shape;753;p71"/>
          <p:cNvSpPr txBox="1"/>
          <p:nvPr/>
        </p:nvSpPr>
        <p:spPr>
          <a:xfrm>
            <a:off x="4747750" y="1114150"/>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many bits does it take to represent 1 in Binary?</a:t>
            </a:r>
            <a:endParaRPr/>
          </a:p>
        </p:txBody>
      </p:sp>
      <p:sp>
        <p:nvSpPr>
          <p:cNvPr id="754" name="Google Shape;754;p71"/>
          <p:cNvSpPr/>
          <p:nvPr/>
        </p:nvSpPr>
        <p:spPr>
          <a:xfrm>
            <a:off x="6862825" y="15613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1"/>
          <p:cNvSpPr/>
          <p:nvPr/>
        </p:nvSpPr>
        <p:spPr>
          <a:xfrm>
            <a:off x="6862825" y="16215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cxnSp>
        <p:nvCxnSpPr>
          <p:cNvPr id="756" name="Google Shape;756;p71"/>
          <p:cNvCxnSpPr>
            <a:stCxn id="755" idx="5"/>
            <a:endCxn id="747" idx="3"/>
          </p:cNvCxnSpPr>
          <p:nvPr/>
        </p:nvCxnSpPr>
        <p:spPr>
          <a:xfrm rot="10800000">
            <a:off x="4125301" y="1982875"/>
            <a:ext cx="2773800" cy="15000"/>
          </a:xfrm>
          <a:prstGeom prst="straightConnector1">
            <a:avLst/>
          </a:prstGeom>
          <a:noFill/>
          <a:ln cap="flat" cmpd="sng" w="19050">
            <a:solidFill>
              <a:srgbClr val="E69138"/>
            </a:solidFill>
            <a:prstDash val="dash"/>
            <a:round/>
            <a:headEnd len="med" w="med" type="none"/>
            <a:tailEnd len="med" w="med" type="triangle"/>
          </a:ln>
        </p:spPr>
      </p:cxnSp>
      <p:grpSp>
        <p:nvGrpSpPr>
          <p:cNvPr id="757" name="Google Shape;757;p71"/>
          <p:cNvGrpSpPr/>
          <p:nvPr/>
        </p:nvGrpSpPr>
        <p:grpSpPr>
          <a:xfrm>
            <a:off x="89100" y="4739882"/>
            <a:ext cx="324008" cy="322851"/>
            <a:chOff x="0" y="3867912"/>
            <a:chExt cx="1280160" cy="1275588"/>
          </a:xfrm>
        </p:grpSpPr>
        <p:sp>
          <p:nvSpPr>
            <p:cNvPr id="758" name="Google Shape;758;p71"/>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1"/>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1"/>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4" name="Shape 764"/>
        <p:cNvGrpSpPr/>
        <p:nvPr/>
      </p:nvGrpSpPr>
      <p:grpSpPr>
        <a:xfrm>
          <a:off x="0" y="0"/>
          <a:ext cx="0" cy="0"/>
          <a:chOff x="0" y="0"/>
          <a:chExt cx="0" cy="0"/>
        </a:xfrm>
      </p:grpSpPr>
      <p:sp>
        <p:nvSpPr>
          <p:cNvPr id="765" name="Google Shape;765;p72"/>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766" name="Google Shape;766;p72"/>
          <p:cNvSpPr txBox="1"/>
          <p:nvPr/>
        </p:nvSpPr>
        <p:spPr>
          <a:xfrm>
            <a:off x="60225" y="467350"/>
            <a:ext cx="90438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oxima Nova"/>
                <a:ea typeface="Proxima Nova"/>
                <a:cs typeface="Proxima Nova"/>
                <a:sym typeface="Proxima Nova"/>
              </a:rPr>
              <a:t>There's another way of thinking about this. Can you see the pattern? </a:t>
            </a:r>
            <a:endParaRPr sz="1800">
              <a:solidFill>
                <a:schemeClr val="dk1"/>
              </a:solidFill>
              <a:latin typeface="Proxima Nova"/>
              <a:ea typeface="Proxima Nova"/>
              <a:cs typeface="Proxima Nova"/>
              <a:sym typeface="Proxima Nova"/>
            </a:endParaRPr>
          </a:p>
        </p:txBody>
      </p:sp>
      <p:graphicFrame>
        <p:nvGraphicFramePr>
          <p:cNvPr id="767" name="Google Shape;767;p72"/>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sp>
        <p:nvSpPr>
          <p:cNvPr id="768" name="Google Shape;768;p72"/>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p:txBody>
      </p:sp>
      <p:sp>
        <p:nvSpPr>
          <p:cNvPr id="769" name="Google Shape;769;p72"/>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2</a:t>
            </a:r>
            <a:endParaRPr sz="2400">
              <a:latin typeface="Proxima Nova"/>
              <a:ea typeface="Proxima Nova"/>
              <a:cs typeface="Proxima Nova"/>
              <a:sym typeface="Proxima Nova"/>
            </a:endParaRPr>
          </a:p>
        </p:txBody>
      </p:sp>
      <p:sp>
        <p:nvSpPr>
          <p:cNvPr id="770" name="Google Shape;770;p72"/>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p:txBody>
      </p:sp>
      <p:sp>
        <p:nvSpPr>
          <p:cNvPr id="771" name="Google Shape;771;p72"/>
          <p:cNvSpPr txBox="1"/>
          <p:nvPr/>
        </p:nvSpPr>
        <p:spPr>
          <a:xfrm>
            <a:off x="3372550" y="389910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p:txBody>
      </p:sp>
      <p:sp>
        <p:nvSpPr>
          <p:cNvPr id="772" name="Google Shape;772;p72"/>
          <p:cNvSpPr/>
          <p:nvPr/>
        </p:nvSpPr>
        <p:spPr>
          <a:xfrm>
            <a:off x="2278450" y="173705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3" name="Google Shape;773;p72"/>
          <p:cNvCxnSpPr>
            <a:stCxn id="772" idx="6"/>
          </p:cNvCxnSpPr>
          <p:nvPr/>
        </p:nvCxnSpPr>
        <p:spPr>
          <a:xfrm flipH="1" rot="10800000">
            <a:off x="2770150" y="1334900"/>
            <a:ext cx="1977600" cy="648000"/>
          </a:xfrm>
          <a:prstGeom prst="straightConnector1">
            <a:avLst/>
          </a:prstGeom>
          <a:noFill/>
          <a:ln cap="flat" cmpd="sng" w="19050">
            <a:solidFill>
              <a:srgbClr val="FF0000"/>
            </a:solidFill>
            <a:prstDash val="dash"/>
            <a:round/>
            <a:headEnd len="med" w="med" type="none"/>
            <a:tailEnd len="med" w="med" type="triangle"/>
          </a:ln>
        </p:spPr>
      </p:cxnSp>
      <p:sp>
        <p:nvSpPr>
          <p:cNvPr id="774" name="Google Shape;774;p72"/>
          <p:cNvSpPr txBox="1"/>
          <p:nvPr/>
        </p:nvSpPr>
        <p:spPr>
          <a:xfrm>
            <a:off x="4747750" y="1114150"/>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many bits does it take to represent 1 in Binary?</a:t>
            </a:r>
            <a:endParaRPr/>
          </a:p>
        </p:txBody>
      </p:sp>
      <p:sp>
        <p:nvSpPr>
          <p:cNvPr id="775" name="Google Shape;775;p72"/>
          <p:cNvSpPr/>
          <p:nvPr/>
        </p:nvSpPr>
        <p:spPr>
          <a:xfrm>
            <a:off x="6862825" y="15613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72"/>
          <p:cNvSpPr/>
          <p:nvPr/>
        </p:nvSpPr>
        <p:spPr>
          <a:xfrm>
            <a:off x="6862825" y="16215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777" name="Google Shape;777;p72"/>
          <p:cNvSpPr/>
          <p:nvPr/>
        </p:nvSpPr>
        <p:spPr>
          <a:xfrm>
            <a:off x="2278450" y="340740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8" name="Google Shape;778;p72"/>
          <p:cNvCxnSpPr>
            <a:stCxn id="777" idx="6"/>
            <a:endCxn id="779" idx="1"/>
          </p:cNvCxnSpPr>
          <p:nvPr/>
        </p:nvCxnSpPr>
        <p:spPr>
          <a:xfrm flipH="1" rot="10800000">
            <a:off x="2770150" y="2474850"/>
            <a:ext cx="2097900" cy="1178400"/>
          </a:xfrm>
          <a:prstGeom prst="straightConnector1">
            <a:avLst/>
          </a:prstGeom>
          <a:noFill/>
          <a:ln cap="flat" cmpd="sng" w="19050">
            <a:solidFill>
              <a:srgbClr val="FF0000"/>
            </a:solidFill>
            <a:prstDash val="dash"/>
            <a:round/>
            <a:headEnd len="med" w="med" type="none"/>
            <a:tailEnd len="med" w="med" type="triangle"/>
          </a:ln>
        </p:spPr>
      </p:cxnSp>
      <p:sp>
        <p:nvSpPr>
          <p:cNvPr id="779" name="Google Shape;779;p72"/>
          <p:cNvSpPr txBox="1"/>
          <p:nvPr/>
        </p:nvSpPr>
        <p:spPr>
          <a:xfrm>
            <a:off x="4868050" y="2300838"/>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What about 7?</a:t>
            </a:r>
            <a:endParaRPr/>
          </a:p>
        </p:txBody>
      </p:sp>
      <p:cxnSp>
        <p:nvCxnSpPr>
          <p:cNvPr id="780" name="Google Shape;780;p72"/>
          <p:cNvCxnSpPr>
            <a:stCxn id="776" idx="5"/>
            <a:endCxn id="768" idx="3"/>
          </p:cNvCxnSpPr>
          <p:nvPr/>
        </p:nvCxnSpPr>
        <p:spPr>
          <a:xfrm rot="10800000">
            <a:off x="4125301" y="1982875"/>
            <a:ext cx="2773800" cy="15000"/>
          </a:xfrm>
          <a:prstGeom prst="straightConnector1">
            <a:avLst/>
          </a:prstGeom>
          <a:noFill/>
          <a:ln cap="flat" cmpd="sng" w="19050">
            <a:solidFill>
              <a:srgbClr val="E69138"/>
            </a:solidFill>
            <a:prstDash val="dash"/>
            <a:round/>
            <a:headEnd len="med" w="med" type="none"/>
            <a:tailEnd len="med" w="med" type="triangle"/>
          </a:ln>
        </p:spPr>
      </p:cxnSp>
      <p:grpSp>
        <p:nvGrpSpPr>
          <p:cNvPr id="781" name="Google Shape;781;p72"/>
          <p:cNvGrpSpPr/>
          <p:nvPr/>
        </p:nvGrpSpPr>
        <p:grpSpPr>
          <a:xfrm>
            <a:off x="89100" y="4739882"/>
            <a:ext cx="324008" cy="322851"/>
            <a:chOff x="0" y="3867912"/>
            <a:chExt cx="1280160" cy="1275588"/>
          </a:xfrm>
        </p:grpSpPr>
        <p:sp>
          <p:nvSpPr>
            <p:cNvPr id="782" name="Google Shape;782;p72"/>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2"/>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2"/>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8" name="Shape 788"/>
        <p:cNvGrpSpPr/>
        <p:nvPr/>
      </p:nvGrpSpPr>
      <p:grpSpPr>
        <a:xfrm>
          <a:off x="0" y="0"/>
          <a:ext cx="0" cy="0"/>
          <a:chOff x="0" y="0"/>
          <a:chExt cx="0" cy="0"/>
        </a:xfrm>
      </p:grpSpPr>
      <p:sp>
        <p:nvSpPr>
          <p:cNvPr id="789" name="Google Shape;789;p73"/>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790" name="Google Shape;790;p73"/>
          <p:cNvSpPr txBox="1"/>
          <p:nvPr/>
        </p:nvSpPr>
        <p:spPr>
          <a:xfrm>
            <a:off x="60225" y="467350"/>
            <a:ext cx="90438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oxima Nova"/>
                <a:ea typeface="Proxima Nova"/>
                <a:cs typeface="Proxima Nova"/>
                <a:sym typeface="Proxima Nova"/>
              </a:rPr>
              <a:t>There's another way of thinking about this. Can you see the pattern? </a:t>
            </a:r>
            <a:endParaRPr sz="1800">
              <a:solidFill>
                <a:schemeClr val="dk1"/>
              </a:solidFill>
              <a:latin typeface="Proxima Nova"/>
              <a:ea typeface="Proxima Nova"/>
              <a:cs typeface="Proxima Nova"/>
              <a:sym typeface="Proxima Nova"/>
            </a:endParaRPr>
          </a:p>
        </p:txBody>
      </p:sp>
      <p:graphicFrame>
        <p:nvGraphicFramePr>
          <p:cNvPr id="791" name="Google Shape;791;p73"/>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sp>
        <p:nvSpPr>
          <p:cNvPr id="792" name="Google Shape;792;p73"/>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p:txBody>
      </p:sp>
      <p:sp>
        <p:nvSpPr>
          <p:cNvPr id="793" name="Google Shape;793;p73"/>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2</a:t>
            </a:r>
            <a:endParaRPr sz="2400">
              <a:latin typeface="Proxima Nova"/>
              <a:ea typeface="Proxima Nova"/>
              <a:cs typeface="Proxima Nova"/>
              <a:sym typeface="Proxima Nova"/>
            </a:endParaRPr>
          </a:p>
        </p:txBody>
      </p:sp>
      <p:sp>
        <p:nvSpPr>
          <p:cNvPr id="794" name="Google Shape;794;p73"/>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p:txBody>
      </p:sp>
      <p:sp>
        <p:nvSpPr>
          <p:cNvPr id="795" name="Google Shape;795;p73"/>
          <p:cNvSpPr txBox="1"/>
          <p:nvPr/>
        </p:nvSpPr>
        <p:spPr>
          <a:xfrm>
            <a:off x="3372550" y="389910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p:txBody>
      </p:sp>
      <p:sp>
        <p:nvSpPr>
          <p:cNvPr id="796" name="Google Shape;796;p73"/>
          <p:cNvSpPr/>
          <p:nvPr/>
        </p:nvSpPr>
        <p:spPr>
          <a:xfrm>
            <a:off x="2278450" y="173705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7" name="Google Shape;797;p73"/>
          <p:cNvCxnSpPr>
            <a:stCxn id="796" idx="6"/>
          </p:cNvCxnSpPr>
          <p:nvPr/>
        </p:nvCxnSpPr>
        <p:spPr>
          <a:xfrm flipH="1" rot="10800000">
            <a:off x="2770150" y="1334900"/>
            <a:ext cx="1977600" cy="648000"/>
          </a:xfrm>
          <a:prstGeom prst="straightConnector1">
            <a:avLst/>
          </a:prstGeom>
          <a:noFill/>
          <a:ln cap="flat" cmpd="sng" w="19050">
            <a:solidFill>
              <a:srgbClr val="FF0000"/>
            </a:solidFill>
            <a:prstDash val="dash"/>
            <a:round/>
            <a:headEnd len="med" w="med" type="none"/>
            <a:tailEnd len="med" w="med" type="triangle"/>
          </a:ln>
        </p:spPr>
      </p:cxnSp>
      <p:sp>
        <p:nvSpPr>
          <p:cNvPr id="798" name="Google Shape;798;p73"/>
          <p:cNvSpPr txBox="1"/>
          <p:nvPr/>
        </p:nvSpPr>
        <p:spPr>
          <a:xfrm>
            <a:off x="4747750" y="1114150"/>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many bits does it take to represent 1 in Binary?</a:t>
            </a:r>
            <a:endParaRPr/>
          </a:p>
        </p:txBody>
      </p:sp>
      <p:sp>
        <p:nvSpPr>
          <p:cNvPr id="799" name="Google Shape;799;p73"/>
          <p:cNvSpPr/>
          <p:nvPr/>
        </p:nvSpPr>
        <p:spPr>
          <a:xfrm>
            <a:off x="6862825" y="15613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3"/>
          <p:cNvSpPr/>
          <p:nvPr/>
        </p:nvSpPr>
        <p:spPr>
          <a:xfrm>
            <a:off x="6862825" y="16215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01" name="Google Shape;801;p73"/>
          <p:cNvSpPr/>
          <p:nvPr/>
        </p:nvSpPr>
        <p:spPr>
          <a:xfrm>
            <a:off x="2278450" y="340740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2" name="Google Shape;802;p73"/>
          <p:cNvCxnSpPr>
            <a:stCxn id="801" idx="6"/>
            <a:endCxn id="803" idx="1"/>
          </p:cNvCxnSpPr>
          <p:nvPr/>
        </p:nvCxnSpPr>
        <p:spPr>
          <a:xfrm flipH="1" rot="10800000">
            <a:off x="2770150" y="2474850"/>
            <a:ext cx="2097900" cy="1178400"/>
          </a:xfrm>
          <a:prstGeom prst="straightConnector1">
            <a:avLst/>
          </a:prstGeom>
          <a:noFill/>
          <a:ln cap="flat" cmpd="sng" w="19050">
            <a:solidFill>
              <a:srgbClr val="FF0000"/>
            </a:solidFill>
            <a:prstDash val="dash"/>
            <a:round/>
            <a:headEnd len="med" w="med" type="none"/>
            <a:tailEnd len="med" w="med" type="triangle"/>
          </a:ln>
        </p:spPr>
      </p:cxnSp>
      <p:sp>
        <p:nvSpPr>
          <p:cNvPr id="803" name="Google Shape;803;p73"/>
          <p:cNvSpPr txBox="1"/>
          <p:nvPr/>
        </p:nvSpPr>
        <p:spPr>
          <a:xfrm>
            <a:off x="4868050" y="2300838"/>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What about 7?</a:t>
            </a:r>
            <a:endParaRPr/>
          </a:p>
        </p:txBody>
      </p:sp>
      <p:sp>
        <p:nvSpPr>
          <p:cNvPr id="804" name="Google Shape;804;p73"/>
          <p:cNvSpPr/>
          <p:nvPr/>
        </p:nvSpPr>
        <p:spPr>
          <a:xfrm>
            <a:off x="6865025" y="2811575"/>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3"/>
          <p:cNvSpPr/>
          <p:nvPr/>
        </p:nvSpPr>
        <p:spPr>
          <a:xfrm>
            <a:off x="6865025" y="2871800"/>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06" name="Google Shape;806;p73"/>
          <p:cNvSpPr/>
          <p:nvPr/>
        </p:nvSpPr>
        <p:spPr>
          <a:xfrm>
            <a:off x="6373075" y="2811575"/>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3"/>
          <p:cNvSpPr/>
          <p:nvPr/>
        </p:nvSpPr>
        <p:spPr>
          <a:xfrm>
            <a:off x="6373075" y="2871800"/>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08" name="Google Shape;808;p73"/>
          <p:cNvSpPr/>
          <p:nvPr/>
        </p:nvSpPr>
        <p:spPr>
          <a:xfrm>
            <a:off x="5876725" y="28115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73"/>
          <p:cNvSpPr/>
          <p:nvPr/>
        </p:nvSpPr>
        <p:spPr>
          <a:xfrm>
            <a:off x="5876725" y="28717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cxnSp>
        <p:nvCxnSpPr>
          <p:cNvPr id="810" name="Google Shape;810;p73"/>
          <p:cNvCxnSpPr>
            <a:stCxn id="800" idx="5"/>
            <a:endCxn id="792" idx="3"/>
          </p:cNvCxnSpPr>
          <p:nvPr/>
        </p:nvCxnSpPr>
        <p:spPr>
          <a:xfrm rot="10800000">
            <a:off x="4125301" y="1982875"/>
            <a:ext cx="2773800" cy="15000"/>
          </a:xfrm>
          <a:prstGeom prst="straightConnector1">
            <a:avLst/>
          </a:prstGeom>
          <a:noFill/>
          <a:ln cap="flat" cmpd="sng" w="19050">
            <a:solidFill>
              <a:srgbClr val="E69138"/>
            </a:solidFill>
            <a:prstDash val="dash"/>
            <a:round/>
            <a:headEnd len="med" w="med" type="none"/>
            <a:tailEnd len="med" w="med" type="triangle"/>
          </a:ln>
        </p:spPr>
      </p:cxnSp>
      <p:cxnSp>
        <p:nvCxnSpPr>
          <p:cNvPr id="811" name="Google Shape;811;p73"/>
          <p:cNvCxnSpPr>
            <a:stCxn id="809" idx="5"/>
          </p:cNvCxnSpPr>
          <p:nvPr/>
        </p:nvCxnSpPr>
        <p:spPr>
          <a:xfrm flipH="1">
            <a:off x="3924601" y="3248075"/>
            <a:ext cx="1988400" cy="350700"/>
          </a:xfrm>
          <a:prstGeom prst="straightConnector1">
            <a:avLst/>
          </a:prstGeom>
          <a:noFill/>
          <a:ln cap="flat" cmpd="sng" w="19050">
            <a:solidFill>
              <a:srgbClr val="E69138"/>
            </a:solidFill>
            <a:prstDash val="dash"/>
            <a:round/>
            <a:headEnd len="med" w="med" type="none"/>
            <a:tailEnd len="med" w="med" type="triangle"/>
          </a:ln>
        </p:spPr>
      </p:cxnSp>
      <p:grpSp>
        <p:nvGrpSpPr>
          <p:cNvPr id="812" name="Google Shape;812;p73"/>
          <p:cNvGrpSpPr/>
          <p:nvPr/>
        </p:nvGrpSpPr>
        <p:grpSpPr>
          <a:xfrm>
            <a:off x="89100" y="4739882"/>
            <a:ext cx="324008" cy="322851"/>
            <a:chOff x="0" y="3867912"/>
            <a:chExt cx="1280160" cy="1275588"/>
          </a:xfrm>
        </p:grpSpPr>
        <p:sp>
          <p:nvSpPr>
            <p:cNvPr id="813" name="Google Shape;813;p73"/>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73"/>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73"/>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6" name="Google Shape;816;p73"/>
          <p:cNvSpPr txBox="1"/>
          <p:nvPr/>
        </p:nvSpPr>
        <p:spPr>
          <a:xfrm>
            <a:off x="5954900" y="3690050"/>
            <a:ext cx="1319400" cy="2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4    +  2   +   1</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0" name="Shape 820"/>
        <p:cNvGrpSpPr/>
        <p:nvPr/>
      </p:nvGrpSpPr>
      <p:grpSpPr>
        <a:xfrm>
          <a:off x="0" y="0"/>
          <a:ext cx="0" cy="0"/>
          <a:chOff x="0" y="0"/>
          <a:chExt cx="0" cy="0"/>
        </a:xfrm>
      </p:grpSpPr>
      <p:sp>
        <p:nvSpPr>
          <p:cNvPr id="821" name="Google Shape;821;p74"/>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sp>
        <p:nvSpPr>
          <p:cNvPr id="822" name="Google Shape;822;p74"/>
          <p:cNvSpPr txBox="1"/>
          <p:nvPr/>
        </p:nvSpPr>
        <p:spPr>
          <a:xfrm>
            <a:off x="60225" y="467350"/>
            <a:ext cx="9043800" cy="5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Proxima Nova"/>
                <a:ea typeface="Proxima Nova"/>
                <a:cs typeface="Proxima Nova"/>
                <a:sym typeface="Proxima Nova"/>
              </a:rPr>
              <a:t>There's another way of thinking about this. Can you see the pattern? </a:t>
            </a:r>
            <a:endParaRPr sz="1800">
              <a:solidFill>
                <a:schemeClr val="dk1"/>
              </a:solidFill>
              <a:latin typeface="Proxima Nova"/>
              <a:ea typeface="Proxima Nova"/>
              <a:cs typeface="Proxima Nova"/>
              <a:sym typeface="Proxima Nova"/>
            </a:endParaRPr>
          </a:p>
        </p:txBody>
      </p:sp>
      <p:graphicFrame>
        <p:nvGraphicFramePr>
          <p:cNvPr id="823" name="Google Shape;823;p74"/>
          <p:cNvGraphicFramePr/>
          <p:nvPr/>
        </p:nvGraphicFramePr>
        <p:xfrm>
          <a:off x="467975" y="1159950"/>
          <a:ext cx="3000000" cy="3000000"/>
        </p:xfrm>
        <a:graphic>
          <a:graphicData uri="http://schemas.openxmlformats.org/drawingml/2006/table">
            <a:tbl>
              <a:tblPr>
                <a:noFill/>
                <a:tableStyleId>{BF40959F-0CD0-4D21-BDE8-B8D928FC25E3}</a:tableStyleId>
              </a:tblPr>
              <a:tblGrid>
                <a:gridCol w="1472225"/>
                <a:gridCol w="1177725"/>
                <a:gridCol w="1200400"/>
              </a:tblGrid>
              <a:tr h="535875">
                <a:tc>
                  <a:txBody>
                    <a:bodyPr/>
                    <a:lstStyle/>
                    <a:p>
                      <a:pPr indent="0" lvl="0" marL="0" rtl="0" algn="ctr">
                        <a:spcBef>
                          <a:spcPts val="0"/>
                        </a:spcBef>
                        <a:spcAft>
                          <a:spcPts val="0"/>
                        </a:spcAft>
                        <a:buNone/>
                      </a:pPr>
                      <a:r>
                        <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inputs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c>
                  <a:txBody>
                    <a:bodyPr/>
                    <a:lstStyle/>
                    <a:p>
                      <a:pPr indent="0" lvl="0" marL="0" rtl="0" algn="ctr">
                        <a:spcBef>
                          <a:spcPts val="0"/>
                        </a:spcBef>
                        <a:spcAft>
                          <a:spcPts val="0"/>
                        </a:spcAft>
                        <a:buNone/>
                      </a:pPr>
                      <a:r>
                        <a:rPr lang="en" sz="2400">
                          <a:solidFill>
                            <a:srgbClr val="FFFFFF"/>
                          </a:solidFill>
                          <a:latin typeface="Proxima Nova"/>
                          <a:ea typeface="Proxima Nova"/>
                          <a:cs typeface="Proxima Nova"/>
                          <a:sym typeface="Proxima Nova"/>
                        </a:rPr>
                        <a:t>steps</a:t>
                      </a:r>
                      <a:endParaRPr sz="2400">
                        <a:solidFill>
                          <a:srgbClr val="FFFFFF"/>
                        </a:solidFill>
                        <a:latin typeface="Proxima Nova"/>
                        <a:ea typeface="Proxima Nova"/>
                        <a:cs typeface="Proxima Nova"/>
                        <a:sym typeface="Proxima Nova"/>
                      </a:endParaRPr>
                    </a:p>
                  </a:txBody>
                  <a:tcPr marT="91425" marB="91425" marR="91425" marL="91425" anchor="ctr">
                    <a:solidFill>
                      <a:srgbClr val="00ADBC"/>
                    </a:solidFill>
                  </a:tcPr>
                </a:tc>
              </a:tr>
              <a:tr h="539825">
                <a:tc>
                  <a:txBody>
                    <a:bodyPr/>
                    <a:lstStyle/>
                    <a:p>
                      <a:pPr indent="0" lvl="0" marL="0" rtl="0" algn="ctr">
                        <a:spcBef>
                          <a:spcPts val="0"/>
                        </a:spcBef>
                        <a:spcAft>
                          <a:spcPts val="0"/>
                        </a:spcAft>
                        <a:buNone/>
                      </a:pPr>
                      <a:r>
                        <a:rPr lang="en" sz="2400">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7</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solidFill>
                          <a:schemeClr val="dk1"/>
                        </a:solidFill>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9</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t/>
                      </a:r>
                      <a:endParaRPr sz="2400">
                        <a:latin typeface="Proxima Nova"/>
                        <a:ea typeface="Proxima Nova"/>
                        <a:cs typeface="Proxima Nova"/>
                        <a:sym typeface="Proxima Nova"/>
                      </a:endParaRPr>
                    </a:p>
                  </a:txBody>
                  <a:tcPr marT="91425" marB="91425" marR="91425" marL="91425" anchor="ctr"/>
                </a:tc>
              </a:tr>
              <a:tr h="539825">
                <a:tc>
                  <a:txBody>
                    <a:bodyPr/>
                    <a:lstStyle/>
                    <a:p>
                      <a:pPr indent="0" lvl="0" marL="0" rtl="0" algn="ctr">
                        <a:spcBef>
                          <a:spcPts val="0"/>
                        </a:spcBef>
                        <a:spcAft>
                          <a:spcPts val="0"/>
                        </a:spcAft>
                        <a:buNone/>
                      </a:pPr>
                      <a:r>
                        <a:rPr lang="en" sz="2400">
                          <a:solidFill>
                            <a:schemeClr val="dk1"/>
                          </a:solidFill>
                          <a:latin typeface="Proxima Nova"/>
                          <a:ea typeface="Proxima Nova"/>
                          <a:cs typeface="Proxima Nova"/>
                          <a:sym typeface="Proxima Nova"/>
                        </a:rPr>
                        <a:t>Instance</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15</a:t>
                      </a:r>
                      <a:endParaRPr sz="2400">
                        <a:latin typeface="Proxima Nova"/>
                        <a:ea typeface="Proxima Nova"/>
                        <a:cs typeface="Proxima Nova"/>
                        <a:sym typeface="Proxima Nova"/>
                      </a:endParaRPr>
                    </a:p>
                  </a:txBody>
                  <a:tcPr marT="91425" marB="91425" marR="91425" marL="91425" anchor="ctr"/>
                </a:tc>
                <a:tc>
                  <a:txBody>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a:txBody>
                  <a:tcPr marT="91425" marB="91425" marR="91425" marL="91425" anchor="ctr"/>
                </a:tc>
              </a:tr>
            </a:tbl>
          </a:graphicData>
        </a:graphic>
      </p:graphicFrame>
      <p:sp>
        <p:nvSpPr>
          <p:cNvPr id="824" name="Google Shape;824;p74"/>
          <p:cNvSpPr txBox="1"/>
          <p:nvPr/>
        </p:nvSpPr>
        <p:spPr>
          <a:xfrm>
            <a:off x="3372550" y="170855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1</a:t>
            </a:r>
            <a:endParaRPr sz="2400">
              <a:latin typeface="Proxima Nova"/>
              <a:ea typeface="Proxima Nova"/>
              <a:cs typeface="Proxima Nova"/>
              <a:sym typeface="Proxima Nova"/>
            </a:endParaRPr>
          </a:p>
        </p:txBody>
      </p:sp>
      <p:sp>
        <p:nvSpPr>
          <p:cNvPr id="825" name="Google Shape;825;p74"/>
          <p:cNvSpPr txBox="1"/>
          <p:nvPr/>
        </p:nvSpPr>
        <p:spPr>
          <a:xfrm>
            <a:off x="3372550" y="225717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2</a:t>
            </a:r>
            <a:endParaRPr sz="2400">
              <a:latin typeface="Proxima Nova"/>
              <a:ea typeface="Proxima Nova"/>
              <a:cs typeface="Proxima Nova"/>
              <a:sym typeface="Proxima Nova"/>
            </a:endParaRPr>
          </a:p>
        </p:txBody>
      </p:sp>
      <p:sp>
        <p:nvSpPr>
          <p:cNvPr id="826" name="Google Shape;826;p74"/>
          <p:cNvSpPr txBox="1"/>
          <p:nvPr/>
        </p:nvSpPr>
        <p:spPr>
          <a:xfrm>
            <a:off x="3372550" y="2803825"/>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3</a:t>
            </a:r>
            <a:endParaRPr sz="2400">
              <a:latin typeface="Proxima Nova"/>
              <a:ea typeface="Proxima Nova"/>
              <a:cs typeface="Proxima Nova"/>
              <a:sym typeface="Proxima Nova"/>
            </a:endParaRPr>
          </a:p>
        </p:txBody>
      </p:sp>
      <p:sp>
        <p:nvSpPr>
          <p:cNvPr id="827" name="Google Shape;827;p74"/>
          <p:cNvSpPr txBox="1"/>
          <p:nvPr/>
        </p:nvSpPr>
        <p:spPr>
          <a:xfrm>
            <a:off x="3372550" y="3899100"/>
            <a:ext cx="752700" cy="54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Proxima Nova"/>
                <a:ea typeface="Proxima Nova"/>
                <a:cs typeface="Proxima Nova"/>
                <a:sym typeface="Proxima Nova"/>
              </a:rPr>
              <a:t>4</a:t>
            </a:r>
            <a:endParaRPr sz="2400">
              <a:latin typeface="Proxima Nova"/>
              <a:ea typeface="Proxima Nova"/>
              <a:cs typeface="Proxima Nova"/>
              <a:sym typeface="Proxima Nova"/>
            </a:endParaRPr>
          </a:p>
        </p:txBody>
      </p:sp>
      <p:sp>
        <p:nvSpPr>
          <p:cNvPr id="828" name="Google Shape;828;p74"/>
          <p:cNvSpPr/>
          <p:nvPr/>
        </p:nvSpPr>
        <p:spPr>
          <a:xfrm>
            <a:off x="2278450" y="173705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9" name="Google Shape;829;p74"/>
          <p:cNvCxnSpPr>
            <a:stCxn id="828" idx="6"/>
          </p:cNvCxnSpPr>
          <p:nvPr/>
        </p:nvCxnSpPr>
        <p:spPr>
          <a:xfrm flipH="1" rot="10800000">
            <a:off x="2770150" y="1334900"/>
            <a:ext cx="1977600" cy="648000"/>
          </a:xfrm>
          <a:prstGeom prst="straightConnector1">
            <a:avLst/>
          </a:prstGeom>
          <a:noFill/>
          <a:ln cap="flat" cmpd="sng" w="19050">
            <a:solidFill>
              <a:srgbClr val="FF0000"/>
            </a:solidFill>
            <a:prstDash val="dash"/>
            <a:round/>
            <a:headEnd len="med" w="med" type="none"/>
            <a:tailEnd len="med" w="med" type="triangle"/>
          </a:ln>
        </p:spPr>
      </p:cxnSp>
      <p:sp>
        <p:nvSpPr>
          <p:cNvPr id="830" name="Google Shape;830;p74"/>
          <p:cNvSpPr txBox="1"/>
          <p:nvPr/>
        </p:nvSpPr>
        <p:spPr>
          <a:xfrm>
            <a:off x="4747750" y="1114150"/>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many bits does it take to represent 1 in Binary?</a:t>
            </a:r>
            <a:endParaRPr/>
          </a:p>
        </p:txBody>
      </p:sp>
      <p:sp>
        <p:nvSpPr>
          <p:cNvPr id="831" name="Google Shape;831;p74"/>
          <p:cNvSpPr/>
          <p:nvPr/>
        </p:nvSpPr>
        <p:spPr>
          <a:xfrm>
            <a:off x="6862825" y="15613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74"/>
          <p:cNvSpPr/>
          <p:nvPr/>
        </p:nvSpPr>
        <p:spPr>
          <a:xfrm>
            <a:off x="6862825" y="16215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33" name="Google Shape;833;p74"/>
          <p:cNvSpPr/>
          <p:nvPr/>
        </p:nvSpPr>
        <p:spPr>
          <a:xfrm>
            <a:off x="2278450" y="340740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4" name="Google Shape;834;p74"/>
          <p:cNvCxnSpPr>
            <a:stCxn id="833" idx="6"/>
            <a:endCxn id="835" idx="1"/>
          </p:cNvCxnSpPr>
          <p:nvPr/>
        </p:nvCxnSpPr>
        <p:spPr>
          <a:xfrm flipH="1" rot="10800000">
            <a:off x="2770150" y="2474850"/>
            <a:ext cx="2097900" cy="1178400"/>
          </a:xfrm>
          <a:prstGeom prst="straightConnector1">
            <a:avLst/>
          </a:prstGeom>
          <a:noFill/>
          <a:ln cap="flat" cmpd="sng" w="19050">
            <a:solidFill>
              <a:srgbClr val="FF0000"/>
            </a:solidFill>
            <a:prstDash val="dash"/>
            <a:round/>
            <a:headEnd len="med" w="med" type="none"/>
            <a:tailEnd len="med" w="med" type="triangle"/>
          </a:ln>
        </p:spPr>
      </p:cxnSp>
      <p:sp>
        <p:nvSpPr>
          <p:cNvPr id="835" name="Google Shape;835;p74"/>
          <p:cNvSpPr txBox="1"/>
          <p:nvPr/>
        </p:nvSpPr>
        <p:spPr>
          <a:xfrm>
            <a:off x="4868050" y="2300838"/>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What about 7?</a:t>
            </a:r>
            <a:endParaRPr/>
          </a:p>
        </p:txBody>
      </p:sp>
      <p:sp>
        <p:nvSpPr>
          <p:cNvPr id="836" name="Google Shape;836;p74"/>
          <p:cNvSpPr/>
          <p:nvPr/>
        </p:nvSpPr>
        <p:spPr>
          <a:xfrm>
            <a:off x="6865025" y="2811575"/>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4"/>
          <p:cNvSpPr/>
          <p:nvPr/>
        </p:nvSpPr>
        <p:spPr>
          <a:xfrm>
            <a:off x="6865025" y="2871800"/>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38" name="Google Shape;838;p74"/>
          <p:cNvSpPr/>
          <p:nvPr/>
        </p:nvSpPr>
        <p:spPr>
          <a:xfrm>
            <a:off x="6373075" y="2811575"/>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74"/>
          <p:cNvSpPr/>
          <p:nvPr/>
        </p:nvSpPr>
        <p:spPr>
          <a:xfrm>
            <a:off x="6373075" y="2871800"/>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40" name="Google Shape;840;p74"/>
          <p:cNvSpPr/>
          <p:nvPr/>
        </p:nvSpPr>
        <p:spPr>
          <a:xfrm>
            <a:off x="5876725" y="28115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4"/>
          <p:cNvSpPr/>
          <p:nvPr/>
        </p:nvSpPr>
        <p:spPr>
          <a:xfrm>
            <a:off x="5876725" y="28717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42" name="Google Shape;842;p74"/>
          <p:cNvSpPr/>
          <p:nvPr/>
        </p:nvSpPr>
        <p:spPr>
          <a:xfrm>
            <a:off x="2278450" y="4489100"/>
            <a:ext cx="491700" cy="4917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3" name="Google Shape;843;p74"/>
          <p:cNvCxnSpPr>
            <a:stCxn id="842" idx="6"/>
            <a:endCxn id="844" idx="1"/>
          </p:cNvCxnSpPr>
          <p:nvPr/>
        </p:nvCxnSpPr>
        <p:spPr>
          <a:xfrm flipH="1" rot="10800000">
            <a:off x="2770150" y="3904550"/>
            <a:ext cx="2097900" cy="830400"/>
          </a:xfrm>
          <a:prstGeom prst="straightConnector1">
            <a:avLst/>
          </a:prstGeom>
          <a:noFill/>
          <a:ln cap="flat" cmpd="sng" w="19050">
            <a:solidFill>
              <a:srgbClr val="FF0000"/>
            </a:solidFill>
            <a:prstDash val="dash"/>
            <a:round/>
            <a:headEnd len="med" w="med" type="none"/>
            <a:tailEnd len="med" w="med" type="triangle"/>
          </a:ln>
        </p:spPr>
      </p:cxnSp>
      <p:sp>
        <p:nvSpPr>
          <p:cNvPr id="844" name="Google Shape;844;p74"/>
          <p:cNvSpPr txBox="1"/>
          <p:nvPr/>
        </p:nvSpPr>
        <p:spPr>
          <a:xfrm>
            <a:off x="4868050" y="3730538"/>
            <a:ext cx="4296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And 15?</a:t>
            </a:r>
            <a:endParaRPr/>
          </a:p>
        </p:txBody>
      </p:sp>
      <p:sp>
        <p:nvSpPr>
          <p:cNvPr id="845" name="Google Shape;845;p74"/>
          <p:cNvSpPr/>
          <p:nvPr/>
        </p:nvSpPr>
        <p:spPr>
          <a:xfrm>
            <a:off x="6898075" y="41896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4"/>
          <p:cNvSpPr/>
          <p:nvPr/>
        </p:nvSpPr>
        <p:spPr>
          <a:xfrm>
            <a:off x="6898075" y="42498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47" name="Google Shape;847;p74"/>
          <p:cNvSpPr/>
          <p:nvPr/>
        </p:nvSpPr>
        <p:spPr>
          <a:xfrm>
            <a:off x="6406125" y="41896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74"/>
          <p:cNvSpPr/>
          <p:nvPr/>
        </p:nvSpPr>
        <p:spPr>
          <a:xfrm>
            <a:off x="6406125" y="42498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49" name="Google Shape;849;p74"/>
          <p:cNvSpPr/>
          <p:nvPr/>
        </p:nvSpPr>
        <p:spPr>
          <a:xfrm>
            <a:off x="5909775" y="4189525"/>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4"/>
          <p:cNvSpPr/>
          <p:nvPr/>
        </p:nvSpPr>
        <p:spPr>
          <a:xfrm>
            <a:off x="5909775" y="4249750"/>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sp>
        <p:nvSpPr>
          <p:cNvPr id="851" name="Google Shape;851;p74"/>
          <p:cNvSpPr/>
          <p:nvPr/>
        </p:nvSpPr>
        <p:spPr>
          <a:xfrm>
            <a:off x="5429325" y="4184600"/>
            <a:ext cx="491700" cy="813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74"/>
          <p:cNvSpPr/>
          <p:nvPr/>
        </p:nvSpPr>
        <p:spPr>
          <a:xfrm>
            <a:off x="5429325" y="4244825"/>
            <a:ext cx="562200" cy="752700"/>
          </a:xfrm>
          <a:prstGeom prst="parallelogram">
            <a:avLst>
              <a:gd fmla="val 12905" name="adj"/>
            </a:avLst>
          </a:prstGeom>
          <a:solidFill>
            <a:srgbClr val="FFFFF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600">
                <a:latin typeface="Coming Soon"/>
                <a:ea typeface="Coming Soon"/>
                <a:cs typeface="Coming Soon"/>
                <a:sym typeface="Coming Soon"/>
              </a:rPr>
              <a:t>1</a:t>
            </a:r>
            <a:endParaRPr sz="3600">
              <a:latin typeface="Coming Soon"/>
              <a:ea typeface="Coming Soon"/>
              <a:cs typeface="Coming Soon"/>
              <a:sym typeface="Coming Soon"/>
            </a:endParaRPr>
          </a:p>
        </p:txBody>
      </p:sp>
      <p:cxnSp>
        <p:nvCxnSpPr>
          <p:cNvPr id="853" name="Google Shape;853;p74"/>
          <p:cNvCxnSpPr>
            <a:stCxn id="832" idx="5"/>
            <a:endCxn id="824" idx="3"/>
          </p:cNvCxnSpPr>
          <p:nvPr/>
        </p:nvCxnSpPr>
        <p:spPr>
          <a:xfrm rot="10800000">
            <a:off x="4125301" y="1982875"/>
            <a:ext cx="2773800" cy="15000"/>
          </a:xfrm>
          <a:prstGeom prst="straightConnector1">
            <a:avLst/>
          </a:prstGeom>
          <a:noFill/>
          <a:ln cap="flat" cmpd="sng" w="19050">
            <a:solidFill>
              <a:srgbClr val="E69138"/>
            </a:solidFill>
            <a:prstDash val="dash"/>
            <a:round/>
            <a:headEnd len="med" w="med" type="none"/>
            <a:tailEnd len="med" w="med" type="triangle"/>
          </a:ln>
        </p:spPr>
      </p:cxnSp>
      <p:cxnSp>
        <p:nvCxnSpPr>
          <p:cNvPr id="854" name="Google Shape;854;p74"/>
          <p:cNvCxnSpPr>
            <a:stCxn id="841" idx="5"/>
          </p:cNvCxnSpPr>
          <p:nvPr/>
        </p:nvCxnSpPr>
        <p:spPr>
          <a:xfrm flipH="1">
            <a:off x="3924601" y="3248075"/>
            <a:ext cx="1988400" cy="350700"/>
          </a:xfrm>
          <a:prstGeom prst="straightConnector1">
            <a:avLst/>
          </a:prstGeom>
          <a:noFill/>
          <a:ln cap="flat" cmpd="sng" w="19050">
            <a:solidFill>
              <a:srgbClr val="E69138"/>
            </a:solidFill>
            <a:prstDash val="dash"/>
            <a:round/>
            <a:headEnd len="med" w="med" type="none"/>
            <a:tailEnd len="med" w="med" type="triangle"/>
          </a:ln>
        </p:spPr>
      </p:cxnSp>
      <p:cxnSp>
        <p:nvCxnSpPr>
          <p:cNvPr id="855" name="Google Shape;855;p74"/>
          <p:cNvCxnSpPr>
            <a:stCxn id="852" idx="5"/>
          </p:cNvCxnSpPr>
          <p:nvPr/>
        </p:nvCxnSpPr>
        <p:spPr>
          <a:xfrm flipH="1">
            <a:off x="3914601" y="4621175"/>
            <a:ext cx="1551000" cy="102300"/>
          </a:xfrm>
          <a:prstGeom prst="straightConnector1">
            <a:avLst/>
          </a:prstGeom>
          <a:noFill/>
          <a:ln cap="flat" cmpd="sng" w="19050">
            <a:solidFill>
              <a:srgbClr val="E69138"/>
            </a:solidFill>
            <a:prstDash val="dash"/>
            <a:round/>
            <a:headEnd len="med" w="med" type="none"/>
            <a:tailEnd len="med" w="med" type="triangle"/>
          </a:ln>
        </p:spPr>
      </p:cxnSp>
      <p:grpSp>
        <p:nvGrpSpPr>
          <p:cNvPr id="856" name="Google Shape;856;p74"/>
          <p:cNvGrpSpPr/>
          <p:nvPr/>
        </p:nvGrpSpPr>
        <p:grpSpPr>
          <a:xfrm>
            <a:off x="89100" y="4739882"/>
            <a:ext cx="324008" cy="322851"/>
            <a:chOff x="0" y="3867912"/>
            <a:chExt cx="1280160" cy="1275588"/>
          </a:xfrm>
        </p:grpSpPr>
        <p:sp>
          <p:nvSpPr>
            <p:cNvPr id="857" name="Google Shape;857;p74"/>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74"/>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4"/>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0" name="Google Shape;860;p74"/>
          <p:cNvSpPr txBox="1"/>
          <p:nvPr/>
        </p:nvSpPr>
        <p:spPr>
          <a:xfrm>
            <a:off x="5429325" y="3852400"/>
            <a:ext cx="1977600" cy="2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8   +   </a:t>
            </a:r>
            <a:r>
              <a:rPr lang="en"/>
              <a:t>4    +  2   +   1</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4" name="Shape 864"/>
        <p:cNvGrpSpPr/>
        <p:nvPr/>
      </p:nvGrpSpPr>
      <p:grpSpPr>
        <a:xfrm>
          <a:off x="0" y="0"/>
          <a:ext cx="0" cy="0"/>
          <a:chOff x="0" y="0"/>
          <a:chExt cx="0" cy="0"/>
        </a:xfrm>
      </p:grpSpPr>
      <p:sp>
        <p:nvSpPr>
          <p:cNvPr id="865" name="Google Shape;865;p75"/>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Activity</a:t>
            </a:r>
            <a:endParaRPr>
              <a:solidFill>
                <a:srgbClr val="FFFFFF"/>
              </a:solidFill>
            </a:endParaRPr>
          </a:p>
        </p:txBody>
      </p:sp>
      <p:cxnSp>
        <p:nvCxnSpPr>
          <p:cNvPr id="866" name="Google Shape;866;p75"/>
          <p:cNvCxnSpPr/>
          <p:nvPr/>
        </p:nvCxnSpPr>
        <p:spPr>
          <a:xfrm>
            <a:off x="2087379" y="952752"/>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75"/>
          <p:cNvCxnSpPr/>
          <p:nvPr/>
        </p:nvCxnSpPr>
        <p:spPr>
          <a:xfrm rot="10800000">
            <a:off x="2087375" y="4329175"/>
            <a:ext cx="3463200" cy="0"/>
          </a:xfrm>
          <a:prstGeom prst="straightConnector1">
            <a:avLst/>
          </a:prstGeom>
          <a:noFill/>
          <a:ln cap="flat" cmpd="sng" w="9525">
            <a:solidFill>
              <a:schemeClr val="dk2"/>
            </a:solidFill>
            <a:prstDash val="solid"/>
            <a:round/>
            <a:headEnd len="med" w="med" type="none"/>
            <a:tailEnd len="med" w="med" type="none"/>
          </a:ln>
        </p:spPr>
      </p:cxnSp>
      <p:sp>
        <p:nvSpPr>
          <p:cNvPr id="868" name="Google Shape;868;p75"/>
          <p:cNvSpPr txBox="1"/>
          <p:nvPr/>
        </p:nvSpPr>
        <p:spPr>
          <a:xfrm>
            <a:off x="2087375" y="4380175"/>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869" name="Google Shape;869;p75"/>
          <p:cNvSpPr/>
          <p:nvPr/>
        </p:nvSpPr>
        <p:spPr>
          <a:xfrm>
            <a:off x="2087775" y="3442672"/>
            <a:ext cx="3503025" cy="881250"/>
          </a:xfrm>
          <a:custGeom>
            <a:rect b="b" l="l" r="r" t="t"/>
            <a:pathLst>
              <a:path extrusionOk="0" h="35250" w="140121">
                <a:moveTo>
                  <a:pt x="0" y="35250"/>
                </a:moveTo>
                <a:cubicBezTo>
                  <a:pt x="26701" y="-4802"/>
                  <a:pt x="91985" y="320"/>
                  <a:pt x="140121" y="320"/>
                </a:cubicBezTo>
              </a:path>
            </a:pathLst>
          </a:custGeom>
          <a:noFill/>
          <a:ln cap="flat" cmpd="sng" w="76200">
            <a:solidFill>
              <a:srgbClr val="93C47D"/>
            </a:solidFill>
            <a:prstDash val="solid"/>
            <a:round/>
            <a:headEnd len="med" w="med" type="none"/>
            <a:tailEnd len="med" w="med" type="none"/>
          </a:ln>
        </p:spPr>
      </p:sp>
      <p:sp>
        <p:nvSpPr>
          <p:cNvPr id="870" name="Google Shape;870;p75"/>
          <p:cNvSpPr txBox="1"/>
          <p:nvPr/>
        </p:nvSpPr>
        <p:spPr>
          <a:xfrm>
            <a:off x="1666225" y="891175"/>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grpSp>
        <p:nvGrpSpPr>
          <p:cNvPr id="871" name="Google Shape;871;p75"/>
          <p:cNvGrpSpPr/>
          <p:nvPr/>
        </p:nvGrpSpPr>
        <p:grpSpPr>
          <a:xfrm>
            <a:off x="89100" y="4739882"/>
            <a:ext cx="324008" cy="322851"/>
            <a:chOff x="0" y="3867912"/>
            <a:chExt cx="1280160" cy="1275588"/>
          </a:xfrm>
        </p:grpSpPr>
        <p:sp>
          <p:nvSpPr>
            <p:cNvPr id="872" name="Google Shape;872;p75"/>
            <p:cNvSpPr/>
            <p:nvPr/>
          </p:nvSpPr>
          <p:spPr>
            <a:xfrm>
              <a:off x="0" y="4229100"/>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75"/>
            <p:cNvSpPr/>
            <p:nvPr/>
          </p:nvSpPr>
          <p:spPr>
            <a:xfrm>
              <a:off x="182880" y="405079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75"/>
            <p:cNvSpPr/>
            <p:nvPr/>
          </p:nvSpPr>
          <p:spPr>
            <a:xfrm>
              <a:off x="365760" y="3867912"/>
              <a:ext cx="914400" cy="914400"/>
            </a:xfrm>
            <a:prstGeom prst="ellipse">
              <a:avLst/>
            </a:prstGeom>
            <a:solidFill>
              <a:srgbClr val="FFFFFF"/>
            </a:solidFill>
            <a:ln cap="flat" cmpd="sng" w="19050">
              <a:solidFill>
                <a:srgbClr val="FFA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75" name="Google Shape;875;p75"/>
          <p:cNvCxnSpPr/>
          <p:nvPr/>
        </p:nvCxnSpPr>
        <p:spPr>
          <a:xfrm flipH="1">
            <a:off x="2087375" y="1165675"/>
            <a:ext cx="3163500" cy="3163500"/>
          </a:xfrm>
          <a:prstGeom prst="straightConnector1">
            <a:avLst/>
          </a:prstGeom>
          <a:noFill/>
          <a:ln cap="flat" cmpd="sng" w="76200">
            <a:solidFill>
              <a:srgbClr val="F1C232"/>
            </a:solidFill>
            <a:prstDash val="solid"/>
            <a:round/>
            <a:headEnd len="med" w="med" type="none"/>
            <a:tailEnd len="med" w="med" type="none"/>
          </a:ln>
        </p:spPr>
      </p:cxnSp>
      <p:sp>
        <p:nvSpPr>
          <p:cNvPr id="876" name="Google Shape;876;p75"/>
          <p:cNvSpPr txBox="1"/>
          <p:nvPr/>
        </p:nvSpPr>
        <p:spPr>
          <a:xfrm>
            <a:off x="5630925" y="672500"/>
            <a:ext cx="3262200" cy="10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Here's our two search algorithms we've explored. The first is </a:t>
            </a:r>
            <a:r>
              <a:rPr b="1" lang="en">
                <a:latin typeface="Proxima Nova"/>
                <a:ea typeface="Proxima Nova"/>
                <a:cs typeface="Proxima Nova"/>
                <a:sym typeface="Proxima Nova"/>
              </a:rPr>
              <a:t>linear</a:t>
            </a:r>
            <a:r>
              <a:rPr lang="en">
                <a:latin typeface="Proxima Nova"/>
                <a:ea typeface="Proxima Nova"/>
                <a:cs typeface="Proxima Nova"/>
                <a:sym typeface="Proxima Nova"/>
              </a:rPr>
              <a:t>. As we add more inputs, the number of steps grows at the same rate. </a:t>
            </a:r>
            <a:endParaRPr>
              <a:latin typeface="Proxima Nova"/>
              <a:ea typeface="Proxima Nova"/>
              <a:cs typeface="Proxima Nova"/>
              <a:sym typeface="Proxima Nova"/>
            </a:endParaRPr>
          </a:p>
          <a:p>
            <a:pPr indent="0" lvl="0" marL="0" rtl="0" algn="l">
              <a:spcBef>
                <a:spcPts val="0"/>
              </a:spcBef>
              <a:spcAft>
                <a:spcPts val="0"/>
              </a:spcAft>
              <a:buNone/>
            </a:pPr>
            <a:r>
              <a:t/>
            </a:r>
            <a:endParaRPr>
              <a:latin typeface="Proxima Nova"/>
              <a:ea typeface="Proxima Nova"/>
              <a:cs typeface="Proxima Nova"/>
              <a:sym typeface="Proxima Nova"/>
            </a:endParaRPr>
          </a:p>
          <a:p>
            <a:pPr indent="0" lvl="0" marL="0" rtl="0" algn="l">
              <a:spcBef>
                <a:spcPts val="0"/>
              </a:spcBef>
              <a:spcAft>
                <a:spcPts val="0"/>
              </a:spcAft>
              <a:buNone/>
            </a:pPr>
            <a:r>
              <a:t/>
            </a:r>
            <a:endParaRPr>
              <a:latin typeface="Proxima Nova"/>
              <a:ea typeface="Proxima Nova"/>
              <a:cs typeface="Proxima Nova"/>
              <a:sym typeface="Proxima Nova"/>
            </a:endParaRPr>
          </a:p>
        </p:txBody>
      </p:sp>
      <p:sp>
        <p:nvSpPr>
          <p:cNvPr id="877" name="Google Shape;877;p75"/>
          <p:cNvSpPr txBox="1"/>
          <p:nvPr/>
        </p:nvSpPr>
        <p:spPr>
          <a:xfrm>
            <a:off x="5682950" y="1878825"/>
            <a:ext cx="3000000" cy="15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roxima Nova"/>
                <a:ea typeface="Proxima Nova"/>
                <a:cs typeface="Proxima Nova"/>
                <a:sym typeface="Proxima Nova"/>
              </a:rPr>
              <a:t>The second represents what happens with Binary Search. Notice how it grows at a much slower rate! Binary Search is faster than Linear search, BUT the data must be sorted. </a:t>
            </a:r>
            <a:endParaRPr>
              <a:solidFill>
                <a:schemeClr val="dk1"/>
              </a:solidFill>
              <a:latin typeface="Proxima Nova"/>
              <a:ea typeface="Proxima Nova"/>
              <a:cs typeface="Proxima Nova"/>
              <a:sym typeface="Proxima Nova"/>
            </a:endParaRPr>
          </a:p>
        </p:txBody>
      </p:sp>
      <p:sp>
        <p:nvSpPr>
          <p:cNvPr id="878" name="Google Shape;878;p75"/>
          <p:cNvSpPr txBox="1"/>
          <p:nvPr/>
        </p:nvSpPr>
        <p:spPr>
          <a:xfrm rot="-2700000">
            <a:off x="2660445" y="2027593"/>
            <a:ext cx="2017376" cy="50190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F1C232"/>
                </a:solidFill>
                <a:latin typeface="Proxima Nova Extrabold"/>
                <a:ea typeface="Proxima Nova Extrabold"/>
                <a:cs typeface="Proxima Nova Extrabold"/>
                <a:sym typeface="Proxima Nova Extrabold"/>
              </a:rPr>
              <a:t>LINEAR</a:t>
            </a:r>
            <a:endParaRPr sz="3000">
              <a:solidFill>
                <a:srgbClr val="F1C232"/>
              </a:solidFill>
              <a:latin typeface="Proxima Nova Extrabold"/>
              <a:ea typeface="Proxima Nova Extrabold"/>
              <a:cs typeface="Proxima Nova Extrabold"/>
              <a:sym typeface="Proxima Nova Extrabold"/>
            </a:endParaRPr>
          </a:p>
        </p:txBody>
      </p:sp>
      <p:sp>
        <p:nvSpPr>
          <p:cNvPr id="879" name="Google Shape;879;p75"/>
          <p:cNvSpPr txBox="1"/>
          <p:nvPr/>
        </p:nvSpPr>
        <p:spPr>
          <a:xfrm>
            <a:off x="2717625" y="3632350"/>
            <a:ext cx="2913300" cy="5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6AA84F"/>
                </a:solidFill>
                <a:latin typeface="Proxima Nova Extrabold"/>
                <a:ea typeface="Proxima Nova Extrabold"/>
                <a:cs typeface="Proxima Nova Extrabold"/>
                <a:sym typeface="Proxima Nova Extrabold"/>
              </a:rPr>
              <a:t>Binary Search</a:t>
            </a:r>
            <a:endParaRPr sz="3000">
              <a:solidFill>
                <a:srgbClr val="6AA84F"/>
              </a:solidFill>
              <a:latin typeface="Proxima Nova Extrabold"/>
              <a:ea typeface="Proxima Nova Extrabold"/>
              <a:cs typeface="Proxima Nova Extrabold"/>
              <a:sym typeface="Proxima Nova Extra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1000"/>
                                        <p:tgtEl>
                                          <p:spTgt spid="8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pic>
        <p:nvPicPr>
          <p:cNvPr id="884" name="Google Shape;884;p76"/>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885" name="Google Shape;885;p76"/>
          <p:cNvPicPr preferRelativeResize="0"/>
          <p:nvPr/>
        </p:nvPicPr>
        <p:blipFill>
          <a:blip r:embed="rId4">
            <a:alphaModFix/>
          </a:blip>
          <a:stretch>
            <a:fillRect/>
          </a:stretch>
        </p:blipFill>
        <p:spPr>
          <a:xfrm>
            <a:off x="1143000" y="1450550"/>
            <a:ext cx="6857999" cy="5143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9" name="Shape 889"/>
        <p:cNvGrpSpPr/>
        <p:nvPr/>
      </p:nvGrpSpPr>
      <p:grpSpPr>
        <a:xfrm>
          <a:off x="0" y="0"/>
          <a:ext cx="0" cy="0"/>
          <a:chOff x="0" y="0"/>
          <a:chExt cx="0" cy="0"/>
        </a:xfrm>
      </p:grpSpPr>
      <p:sp>
        <p:nvSpPr>
          <p:cNvPr id="890" name="Google Shape;890;p77"/>
          <p:cNvSpPr txBox="1"/>
          <p:nvPr/>
        </p:nvSpPr>
        <p:spPr>
          <a:xfrm>
            <a:off x="303900" y="557700"/>
            <a:ext cx="4484100" cy="43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Proxima Nova"/>
                <a:ea typeface="Proxima Nova"/>
                <a:cs typeface="Proxima Nova"/>
                <a:sym typeface="Proxima Nova"/>
              </a:rPr>
              <a:t>Efficiency</a:t>
            </a:r>
            <a:r>
              <a:rPr b="1" lang="en" sz="1800">
                <a:latin typeface="Proxima Nova"/>
                <a:ea typeface="Proxima Nova"/>
                <a:cs typeface="Proxima Nova"/>
                <a:sym typeface="Proxima Nova"/>
              </a:rPr>
              <a:t>:</a:t>
            </a:r>
            <a:r>
              <a:rPr lang="en" sz="1800">
                <a:latin typeface="Proxima Nova"/>
                <a:ea typeface="Proxima Nova"/>
                <a:cs typeface="Proxima Nova"/>
                <a:sym typeface="Proxima Nova"/>
              </a:rPr>
              <a:t>  </a:t>
            </a:r>
            <a:r>
              <a:rPr lang="en" sz="1800">
                <a:solidFill>
                  <a:schemeClr val="dk1"/>
                </a:solidFill>
                <a:latin typeface="Proxima Nova"/>
                <a:ea typeface="Proxima Nova"/>
                <a:cs typeface="Proxima Nova"/>
                <a:sym typeface="Proxima Nova"/>
              </a:rPr>
              <a:t>a measure of how many steps are needed to complete an algorithm</a:t>
            </a:r>
            <a:endParaRPr b="1" sz="18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8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Linear Search: </a:t>
            </a:r>
            <a:r>
              <a:rPr lang="en" sz="1800">
                <a:solidFill>
                  <a:schemeClr val="dk1"/>
                </a:solidFill>
                <a:latin typeface="Proxima Nova"/>
                <a:ea typeface="Proxima Nova"/>
                <a:cs typeface="Proxima Nova"/>
                <a:sym typeface="Proxima Nova"/>
              </a:rPr>
              <a:t>a search algorithm </a:t>
            </a:r>
            <a:r>
              <a:rPr lang="en" sz="1800">
                <a:latin typeface="Proxima Nova"/>
                <a:ea typeface="Proxima Nova"/>
                <a:cs typeface="Proxima Nova"/>
                <a:sym typeface="Proxima Nova"/>
              </a:rPr>
              <a:t>which checks each element of a list, in order, until the desired value is found or all elements in the list have been checked.</a:t>
            </a:r>
            <a:endParaRPr sz="1800">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Binary Search: </a:t>
            </a:r>
            <a:r>
              <a:rPr lang="en" sz="1800">
                <a:latin typeface="Proxima Nova"/>
                <a:ea typeface="Proxima Nova"/>
                <a:cs typeface="Proxima Nova"/>
                <a:sym typeface="Proxima Nova"/>
              </a:rPr>
              <a:t>a search algorithm that starts at the middle of a sorted set of numbers and removes half of the data; this process repeats until the desired value is found or all elements have been eliminated.</a:t>
            </a:r>
            <a:endParaRPr sz="1800">
              <a:latin typeface="Proxima Nova"/>
              <a:ea typeface="Proxima Nova"/>
              <a:cs typeface="Proxima Nova"/>
              <a:sym typeface="Proxima Nova"/>
            </a:endParaRPr>
          </a:p>
        </p:txBody>
      </p:sp>
      <p:sp>
        <p:nvSpPr>
          <p:cNvPr id="891" name="Google Shape;891;p77"/>
          <p:cNvSpPr txBox="1"/>
          <p:nvPr/>
        </p:nvSpPr>
        <p:spPr>
          <a:xfrm>
            <a:off x="0" y="4550"/>
            <a:ext cx="45720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Unit 8</a:t>
            </a:r>
            <a:r>
              <a:rPr lang="en">
                <a:solidFill>
                  <a:srgbClr val="FFFFFF"/>
                </a:solidFill>
              </a:rPr>
              <a:t> Lesson 2 - Wrap Up</a:t>
            </a:r>
            <a:endParaRPr>
              <a:solidFill>
                <a:srgbClr val="FFFFFF"/>
              </a:solidFill>
            </a:endParaRPr>
          </a:p>
        </p:txBody>
      </p:sp>
      <p:cxnSp>
        <p:nvCxnSpPr>
          <p:cNvPr id="892" name="Google Shape;892;p77"/>
          <p:cNvCxnSpPr/>
          <p:nvPr/>
        </p:nvCxnSpPr>
        <p:spPr>
          <a:xfrm>
            <a:off x="5209004" y="867977"/>
            <a:ext cx="0" cy="3395700"/>
          </a:xfrm>
          <a:prstGeom prst="straightConnector1">
            <a:avLst/>
          </a:prstGeom>
          <a:noFill/>
          <a:ln cap="flat" cmpd="sng" w="9525">
            <a:solidFill>
              <a:schemeClr val="dk2"/>
            </a:solidFill>
            <a:prstDash val="solid"/>
            <a:round/>
            <a:headEnd len="med" w="med" type="none"/>
            <a:tailEnd len="med" w="med" type="none"/>
          </a:ln>
        </p:spPr>
      </p:cxnSp>
      <p:cxnSp>
        <p:nvCxnSpPr>
          <p:cNvPr id="893" name="Google Shape;893;p77"/>
          <p:cNvCxnSpPr/>
          <p:nvPr/>
        </p:nvCxnSpPr>
        <p:spPr>
          <a:xfrm rot="10800000">
            <a:off x="5209000" y="4244400"/>
            <a:ext cx="3463200" cy="0"/>
          </a:xfrm>
          <a:prstGeom prst="straightConnector1">
            <a:avLst/>
          </a:prstGeom>
          <a:noFill/>
          <a:ln cap="flat" cmpd="sng" w="9525">
            <a:solidFill>
              <a:schemeClr val="dk2"/>
            </a:solidFill>
            <a:prstDash val="solid"/>
            <a:round/>
            <a:headEnd len="med" w="med" type="none"/>
            <a:tailEnd len="med" w="med" type="none"/>
          </a:ln>
        </p:spPr>
      </p:cxnSp>
      <p:sp>
        <p:nvSpPr>
          <p:cNvPr id="894" name="Google Shape;894;p77"/>
          <p:cNvSpPr txBox="1"/>
          <p:nvPr/>
        </p:nvSpPr>
        <p:spPr>
          <a:xfrm>
            <a:off x="5209000" y="4295400"/>
            <a:ext cx="3687300" cy="3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  1  2  3  4  5  6  7  8  9  10 11 12 13 14 15</a:t>
            </a:r>
            <a:endParaRPr/>
          </a:p>
        </p:txBody>
      </p:sp>
      <p:sp>
        <p:nvSpPr>
          <p:cNvPr id="895" name="Google Shape;895;p77"/>
          <p:cNvSpPr/>
          <p:nvPr/>
        </p:nvSpPr>
        <p:spPr>
          <a:xfrm>
            <a:off x="5209400" y="3357897"/>
            <a:ext cx="3503025" cy="881250"/>
          </a:xfrm>
          <a:custGeom>
            <a:rect b="b" l="l" r="r" t="t"/>
            <a:pathLst>
              <a:path extrusionOk="0" h="35250" w="140121">
                <a:moveTo>
                  <a:pt x="0" y="35250"/>
                </a:moveTo>
                <a:cubicBezTo>
                  <a:pt x="26701" y="-4802"/>
                  <a:pt x="91985" y="320"/>
                  <a:pt x="140121" y="320"/>
                </a:cubicBezTo>
              </a:path>
            </a:pathLst>
          </a:custGeom>
          <a:noFill/>
          <a:ln cap="flat" cmpd="sng" w="76200">
            <a:solidFill>
              <a:srgbClr val="93C47D"/>
            </a:solidFill>
            <a:prstDash val="solid"/>
            <a:round/>
            <a:headEnd len="med" w="med" type="none"/>
            <a:tailEnd len="med" w="med" type="none"/>
          </a:ln>
        </p:spPr>
      </p:sp>
      <p:sp>
        <p:nvSpPr>
          <p:cNvPr id="896" name="Google Shape;896;p77"/>
          <p:cNvSpPr txBox="1"/>
          <p:nvPr/>
        </p:nvSpPr>
        <p:spPr>
          <a:xfrm>
            <a:off x="4787850" y="806400"/>
            <a:ext cx="421200" cy="3001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lang="en"/>
              <a:t>15</a:t>
            </a:r>
            <a:endParaRPr/>
          </a:p>
          <a:p>
            <a:pPr indent="0" lvl="0" marL="0" rtl="0" algn="r">
              <a:lnSpc>
                <a:spcPct val="100000"/>
              </a:lnSpc>
              <a:spcBef>
                <a:spcPts val="0"/>
              </a:spcBef>
              <a:spcAft>
                <a:spcPts val="0"/>
              </a:spcAft>
              <a:buNone/>
            </a:pPr>
            <a:r>
              <a:rPr lang="en"/>
              <a:t>14</a:t>
            </a:r>
            <a:endParaRPr/>
          </a:p>
          <a:p>
            <a:pPr indent="0" lvl="0" marL="0" rtl="0" algn="r">
              <a:lnSpc>
                <a:spcPct val="100000"/>
              </a:lnSpc>
              <a:spcBef>
                <a:spcPts val="0"/>
              </a:spcBef>
              <a:spcAft>
                <a:spcPts val="0"/>
              </a:spcAft>
              <a:buNone/>
            </a:pPr>
            <a:r>
              <a:rPr lang="en"/>
              <a:t>13</a:t>
            </a:r>
            <a:endParaRPr/>
          </a:p>
          <a:p>
            <a:pPr indent="0" lvl="0" marL="0" rtl="0" algn="r">
              <a:lnSpc>
                <a:spcPct val="100000"/>
              </a:lnSpc>
              <a:spcBef>
                <a:spcPts val="0"/>
              </a:spcBef>
              <a:spcAft>
                <a:spcPts val="0"/>
              </a:spcAft>
              <a:buNone/>
            </a:pPr>
            <a:r>
              <a:rPr lang="en"/>
              <a:t>12</a:t>
            </a:r>
            <a:endParaRPr/>
          </a:p>
          <a:p>
            <a:pPr indent="0" lvl="0" marL="0" rtl="0" algn="r">
              <a:lnSpc>
                <a:spcPct val="100000"/>
              </a:lnSpc>
              <a:spcBef>
                <a:spcPts val="0"/>
              </a:spcBef>
              <a:spcAft>
                <a:spcPts val="0"/>
              </a:spcAft>
              <a:buNone/>
            </a:pPr>
            <a:r>
              <a:rPr lang="en"/>
              <a:t>11  </a:t>
            </a:r>
            <a:endParaRPr/>
          </a:p>
          <a:p>
            <a:pPr indent="0" lvl="0" marL="0" rtl="0" algn="r">
              <a:lnSpc>
                <a:spcPct val="100000"/>
              </a:lnSpc>
              <a:spcBef>
                <a:spcPts val="0"/>
              </a:spcBef>
              <a:spcAft>
                <a:spcPts val="0"/>
              </a:spcAft>
              <a:buNone/>
            </a:pPr>
            <a:r>
              <a:rPr lang="en"/>
              <a:t>10  9  8  7  6  5  4  3  2  1</a:t>
            </a:r>
            <a:endParaRPr/>
          </a:p>
        </p:txBody>
      </p:sp>
      <p:cxnSp>
        <p:nvCxnSpPr>
          <p:cNvPr id="897" name="Google Shape;897;p77"/>
          <p:cNvCxnSpPr/>
          <p:nvPr/>
        </p:nvCxnSpPr>
        <p:spPr>
          <a:xfrm flipH="1">
            <a:off x="5209000" y="1080900"/>
            <a:ext cx="3163500" cy="3163500"/>
          </a:xfrm>
          <a:prstGeom prst="straightConnector1">
            <a:avLst/>
          </a:prstGeom>
          <a:noFill/>
          <a:ln cap="flat" cmpd="sng" w="76200">
            <a:solidFill>
              <a:srgbClr val="F1C232"/>
            </a:solidFill>
            <a:prstDash val="solid"/>
            <a:round/>
            <a:headEnd len="med" w="med" type="none"/>
            <a:tailEnd len="med" w="med" type="none"/>
          </a:ln>
        </p:spPr>
      </p:cxnSp>
      <p:sp>
        <p:nvSpPr>
          <p:cNvPr id="898" name="Google Shape;898;p77"/>
          <p:cNvSpPr txBox="1"/>
          <p:nvPr/>
        </p:nvSpPr>
        <p:spPr>
          <a:xfrm rot="-2700000">
            <a:off x="5782070" y="1942818"/>
            <a:ext cx="2017376" cy="50190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F1C232"/>
                </a:solidFill>
                <a:latin typeface="Proxima Nova Extrabold"/>
                <a:ea typeface="Proxima Nova Extrabold"/>
                <a:cs typeface="Proxima Nova Extrabold"/>
                <a:sym typeface="Proxima Nova Extrabold"/>
              </a:rPr>
              <a:t>LINEAR</a:t>
            </a:r>
            <a:endParaRPr sz="3000">
              <a:solidFill>
                <a:srgbClr val="F1C232"/>
              </a:solidFill>
              <a:latin typeface="Proxima Nova Extrabold"/>
              <a:ea typeface="Proxima Nova Extrabold"/>
              <a:cs typeface="Proxima Nova Extrabold"/>
              <a:sym typeface="Proxima Nova Extrabold"/>
            </a:endParaRPr>
          </a:p>
        </p:txBody>
      </p:sp>
      <p:sp>
        <p:nvSpPr>
          <p:cNvPr id="899" name="Google Shape;899;p77"/>
          <p:cNvSpPr txBox="1"/>
          <p:nvPr/>
        </p:nvSpPr>
        <p:spPr>
          <a:xfrm>
            <a:off x="5839250" y="3547575"/>
            <a:ext cx="2913300" cy="5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6AA84F"/>
                </a:solidFill>
                <a:latin typeface="Proxima Nova Extrabold"/>
                <a:ea typeface="Proxima Nova Extrabold"/>
                <a:cs typeface="Proxima Nova Extrabold"/>
                <a:sym typeface="Proxima Nova Extrabold"/>
              </a:rPr>
              <a:t>Binary Search</a:t>
            </a:r>
            <a:endParaRPr sz="3000">
              <a:solidFill>
                <a:srgbClr val="6AA84F"/>
              </a:solidFill>
              <a:latin typeface="Proxima Nova Extrabold"/>
              <a:ea typeface="Proxima Nova Extrabold"/>
              <a:cs typeface="Proxima Nova Extrabold"/>
              <a:sym typeface="Proxima Nova Extrabo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pic>
        <p:nvPicPr>
          <p:cNvPr id="904" name="Google Shape;904;p78"/>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905" name="Google Shape;905;p78"/>
          <p:cNvPicPr preferRelativeResize="0"/>
          <p:nvPr/>
        </p:nvPicPr>
        <p:blipFill>
          <a:blip r:embed="rId4">
            <a:alphaModFix/>
          </a:blip>
          <a:stretch>
            <a:fillRect/>
          </a:stretch>
        </p:blipFill>
        <p:spPr>
          <a:xfrm>
            <a:off x="1143000" y="0"/>
            <a:ext cx="6857999" cy="5143500"/>
          </a:xfrm>
          <a:prstGeom prst="rect">
            <a:avLst/>
          </a:prstGeom>
          <a:noFill/>
          <a:ln>
            <a:noFill/>
          </a:ln>
        </p:spPr>
      </p:pic>
      <p:pic>
        <p:nvPicPr>
          <p:cNvPr id="906" name="Google Shape;906;p78"/>
          <p:cNvPicPr preferRelativeResize="0"/>
          <p:nvPr/>
        </p:nvPicPr>
        <p:blipFill>
          <a:blip r:embed="rId3">
            <a:alphaModFix/>
          </a:blip>
          <a:stretch>
            <a:fillRect/>
          </a:stretch>
        </p:blipFill>
        <p:spPr>
          <a:xfrm>
            <a:off x="1143000" y="3031325"/>
            <a:ext cx="6857999"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