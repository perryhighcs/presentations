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VT323"/>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VT323-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SLIDES_API74700553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SLIDES_API74700553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8cb05c4b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8cb05c4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98cb05c4b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98cb05c4b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98cb05c4b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98cb05c4b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50f22e9e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50f22e9e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98cb05c4b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98cb05c4b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98cb05c4b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98cb05c4b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8cb05c4b8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8cb05c4b8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8cb05c4b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98cb05c4b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98cb05c4b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98cb05c4b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98cb05c4b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98cb05c4b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SLIDES_API3629119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SLIDES_API3629119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SLIDES_API6707425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SLIDES_API6707425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252275"/>
            <a:ext cx="8520600" cy="532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b="1" sz="24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784775"/>
            <a:ext cx="8520600" cy="489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nvSpPr>
        <p:spPr>
          <a:xfrm>
            <a:off x="311750" y="1226325"/>
            <a:ext cx="8520600" cy="363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7F7FFF"/>
                </a:solidFill>
                <a:latin typeface="VT323"/>
                <a:ea typeface="VT323"/>
                <a:cs typeface="VT323"/>
                <a:sym typeface="VT323"/>
              </a:rPr>
              <a:t>READY</a:t>
            </a:r>
            <a:endParaRPr b="1" sz="1800">
              <a:solidFill>
                <a:srgbClr val="7F7FFF"/>
              </a:solidFill>
              <a:latin typeface="VT323"/>
              <a:ea typeface="VT323"/>
              <a:cs typeface="VT323"/>
              <a:sym typeface="VT323"/>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type="ctrTitle"/>
          </p:nvPr>
        </p:nvSpPr>
        <p:spPr>
          <a:xfrm>
            <a:off x="311700" y="252275"/>
            <a:ext cx="8520600" cy="441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b="1" sz="3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600"/>
              </a:spcBef>
              <a:spcAft>
                <a:spcPts val="0"/>
              </a:spcAft>
              <a:buClr>
                <a:schemeClr val="dk1"/>
              </a:buClr>
              <a:buSzPts val="1400"/>
              <a:buChar char="-"/>
              <a:defRPr>
                <a:solidFill>
                  <a:schemeClr val="dk1"/>
                </a:solidFill>
              </a:defRPr>
            </a:lvl2pPr>
            <a:lvl3pPr indent="-317500" lvl="2" marL="1371600" rtl="0">
              <a:spcBef>
                <a:spcPts val="1600"/>
              </a:spcBef>
              <a:spcAft>
                <a:spcPts val="0"/>
              </a:spcAft>
              <a:buClr>
                <a:schemeClr val="dk1"/>
              </a:buClr>
              <a:buSzPts val="1400"/>
              <a:buChar char="+"/>
              <a:defRPr>
                <a:solidFill>
                  <a:schemeClr val="dk1"/>
                </a:solidFill>
              </a:defRPr>
            </a:lvl3pPr>
            <a:lvl4pPr indent="-317500" lvl="3" marL="1828800" rtl="0">
              <a:spcBef>
                <a:spcPts val="1600"/>
              </a:spcBef>
              <a:spcAft>
                <a:spcPts val="0"/>
              </a:spcAft>
              <a:buClr>
                <a:schemeClr val="dk1"/>
              </a:buClr>
              <a:buSzPts val="1400"/>
              <a:buChar char="▪"/>
              <a:defRPr>
                <a:solidFill>
                  <a:schemeClr val="dk1"/>
                </a:solidFill>
              </a:defRPr>
            </a:lvl4pPr>
            <a:lvl5pPr indent="-317500" lvl="4" marL="2286000" rtl="0">
              <a:spcBef>
                <a:spcPts val="1600"/>
              </a:spcBef>
              <a:spcAft>
                <a:spcPts val="0"/>
              </a:spcAft>
              <a:buClr>
                <a:schemeClr val="dk1"/>
              </a:buClr>
              <a:buSzPts val="1400"/>
              <a:buChar char="·"/>
              <a:defRPr>
                <a:solidFill>
                  <a:schemeClr val="dk1"/>
                </a:solidFill>
              </a:defRPr>
            </a:lvl5pPr>
            <a:lvl6pPr indent="-317500" lvl="5" marL="2743200" rtl="0">
              <a:spcBef>
                <a:spcPts val="1600"/>
              </a:spcBef>
              <a:spcAft>
                <a:spcPts val="0"/>
              </a:spcAft>
              <a:buClr>
                <a:schemeClr val="dk1"/>
              </a:buClr>
              <a:buSzPts val="1400"/>
              <a:buChar char="*"/>
              <a:defRPr>
                <a:solidFill>
                  <a:schemeClr val="dk1"/>
                </a:solidFill>
              </a:defRPr>
            </a:lvl6pPr>
            <a:lvl7pPr indent="-317500" lvl="6" marL="3200400" rtl="0">
              <a:spcBef>
                <a:spcPts val="1600"/>
              </a:spcBef>
              <a:spcAft>
                <a:spcPts val="0"/>
              </a:spcAft>
              <a:buClr>
                <a:schemeClr val="dk1"/>
              </a:buClr>
              <a:buSzPts val="1400"/>
              <a:buChar char="-"/>
              <a:defRPr>
                <a:solidFill>
                  <a:schemeClr val="dk1"/>
                </a:solidFill>
              </a:defRPr>
            </a:lvl7pPr>
            <a:lvl8pPr indent="-317500" lvl="7" marL="3657600" rtl="0">
              <a:spcBef>
                <a:spcPts val="1600"/>
              </a:spcBef>
              <a:spcAft>
                <a:spcPts val="0"/>
              </a:spcAft>
              <a:buClr>
                <a:schemeClr val="dk1"/>
              </a:buClr>
              <a:buSzPts val="1400"/>
              <a:buChar char="+"/>
              <a:defRPr>
                <a:solidFill>
                  <a:schemeClr val="dk1"/>
                </a:solidFill>
              </a:defRPr>
            </a:lvl8pPr>
            <a:lvl9pPr indent="-317500" lvl="8" marL="4114800" rtl="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1pPr>
            <a:lvl2pPr lvl="1"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2pPr>
            <a:lvl3pPr lvl="2"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3pPr>
            <a:lvl4pPr lvl="3"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4pPr>
            <a:lvl5pPr lvl="4"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5pPr>
            <a:lvl6pPr lvl="5"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6pPr>
            <a:lvl7pPr lvl="6"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7pPr>
            <a:lvl8pPr lvl="7"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8pPr>
            <a:lvl9pPr lvl="8" rtl="0">
              <a:spcBef>
                <a:spcPts val="0"/>
              </a:spcBef>
              <a:spcAft>
                <a:spcPts val="0"/>
              </a:spcAft>
              <a:buClr>
                <a:schemeClr val="dk1"/>
              </a:buClr>
              <a:buSzPts val="2800"/>
              <a:buFont typeface="VT323"/>
              <a:buNone/>
              <a:defRPr sz="2800">
                <a:solidFill>
                  <a:schemeClr val="dk1"/>
                </a:solidFill>
                <a:latin typeface="VT323"/>
                <a:ea typeface="VT323"/>
                <a:cs typeface="VT323"/>
                <a:sym typeface="VT323"/>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1"/>
              </a:buClr>
              <a:buSzPts val="1800"/>
              <a:buFont typeface="VT323"/>
              <a:buChar char="*"/>
              <a:defRPr sz="1800">
                <a:solidFill>
                  <a:schemeClr val="dk1"/>
                </a:solidFill>
                <a:latin typeface="VT323"/>
                <a:ea typeface="VT323"/>
                <a:cs typeface="VT323"/>
                <a:sym typeface="VT323"/>
              </a:defRPr>
            </a:lvl1pPr>
            <a:lvl2pPr indent="-317500" lvl="1" marL="9144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2pPr>
            <a:lvl3pPr indent="-317500" lvl="2" marL="13716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3pPr>
            <a:lvl4pPr indent="-317500" lvl="3" marL="18288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4pPr>
            <a:lvl5pPr indent="-317500" lvl="4" marL="22860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5pPr>
            <a:lvl6pPr indent="-317500" lvl="5" marL="27432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6pPr>
            <a:lvl7pPr indent="-317500" lvl="6" marL="32004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7pPr>
            <a:lvl8pPr indent="-317500" lvl="7" marL="3657600" rtl="0">
              <a:lnSpc>
                <a:spcPct val="115000"/>
              </a:lnSpc>
              <a:spcBef>
                <a:spcPts val="1600"/>
              </a:spcBef>
              <a:spcAft>
                <a:spcPts val="0"/>
              </a:spcAft>
              <a:buClr>
                <a:schemeClr val="dk1"/>
              </a:buClr>
              <a:buSzPts val="1400"/>
              <a:buFont typeface="VT323"/>
              <a:buChar char="+"/>
              <a:defRPr>
                <a:solidFill>
                  <a:schemeClr val="dk1"/>
                </a:solidFill>
                <a:latin typeface="VT323"/>
                <a:ea typeface="VT323"/>
                <a:cs typeface="VT323"/>
                <a:sym typeface="VT323"/>
              </a:defRPr>
            </a:lvl8pPr>
            <a:lvl9pPr indent="-317500" lvl="8" marL="4114800" rtl="0">
              <a:lnSpc>
                <a:spcPct val="115000"/>
              </a:lnSpc>
              <a:spcBef>
                <a:spcPts val="1600"/>
              </a:spcBef>
              <a:spcAft>
                <a:spcPts val="1600"/>
              </a:spcAft>
              <a:buClr>
                <a:schemeClr val="dk1"/>
              </a:buClr>
              <a:buSzPts val="1400"/>
              <a:buFont typeface="VT323"/>
              <a:buChar char="▪"/>
              <a:defRPr>
                <a:solidFill>
                  <a:schemeClr val="dk1"/>
                </a:solidFill>
                <a:latin typeface="VT323"/>
                <a:ea typeface="VT323"/>
                <a:cs typeface="VT323"/>
                <a:sym typeface="VT323"/>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00FF00"/>
                </a:solidFill>
                <a:latin typeface="VT323"/>
                <a:ea typeface="VT323"/>
                <a:cs typeface="VT323"/>
                <a:sym typeface="VT323"/>
              </a:defRPr>
            </a:lvl1pPr>
            <a:lvl2pPr lvl="1" rtl="0" algn="r">
              <a:buNone/>
              <a:defRPr sz="1000">
                <a:solidFill>
                  <a:srgbClr val="00FF00"/>
                </a:solidFill>
                <a:latin typeface="VT323"/>
                <a:ea typeface="VT323"/>
                <a:cs typeface="VT323"/>
                <a:sym typeface="VT323"/>
              </a:defRPr>
            </a:lvl2pPr>
            <a:lvl3pPr lvl="2" rtl="0" algn="r">
              <a:buNone/>
              <a:defRPr sz="1000">
                <a:solidFill>
                  <a:srgbClr val="00FF00"/>
                </a:solidFill>
                <a:latin typeface="VT323"/>
                <a:ea typeface="VT323"/>
                <a:cs typeface="VT323"/>
                <a:sym typeface="VT323"/>
              </a:defRPr>
            </a:lvl3pPr>
            <a:lvl4pPr lvl="3" rtl="0" algn="r">
              <a:buNone/>
              <a:defRPr sz="1000">
                <a:solidFill>
                  <a:srgbClr val="00FF00"/>
                </a:solidFill>
                <a:latin typeface="VT323"/>
                <a:ea typeface="VT323"/>
                <a:cs typeface="VT323"/>
                <a:sym typeface="VT323"/>
              </a:defRPr>
            </a:lvl4pPr>
            <a:lvl5pPr lvl="4" rtl="0" algn="r">
              <a:buNone/>
              <a:defRPr sz="1000">
                <a:solidFill>
                  <a:srgbClr val="00FF00"/>
                </a:solidFill>
                <a:latin typeface="VT323"/>
                <a:ea typeface="VT323"/>
                <a:cs typeface="VT323"/>
                <a:sym typeface="VT323"/>
              </a:defRPr>
            </a:lvl5pPr>
            <a:lvl6pPr lvl="5" rtl="0" algn="r">
              <a:buNone/>
              <a:defRPr sz="1000">
                <a:solidFill>
                  <a:srgbClr val="00FF00"/>
                </a:solidFill>
                <a:latin typeface="VT323"/>
                <a:ea typeface="VT323"/>
                <a:cs typeface="VT323"/>
                <a:sym typeface="VT323"/>
              </a:defRPr>
            </a:lvl6pPr>
            <a:lvl7pPr lvl="6" rtl="0" algn="r">
              <a:buNone/>
              <a:defRPr sz="1000">
                <a:solidFill>
                  <a:srgbClr val="00FF00"/>
                </a:solidFill>
                <a:latin typeface="VT323"/>
                <a:ea typeface="VT323"/>
                <a:cs typeface="VT323"/>
                <a:sym typeface="VT323"/>
              </a:defRPr>
            </a:lvl7pPr>
            <a:lvl8pPr lvl="7" rtl="0" algn="r">
              <a:buNone/>
              <a:defRPr sz="1000">
                <a:solidFill>
                  <a:srgbClr val="00FF00"/>
                </a:solidFill>
                <a:latin typeface="VT323"/>
                <a:ea typeface="VT323"/>
                <a:cs typeface="VT323"/>
                <a:sym typeface="VT323"/>
              </a:defRPr>
            </a:lvl8pPr>
            <a:lvl9pPr lvl="8" rtl="0" algn="r">
              <a:buNone/>
              <a:defRPr sz="1000">
                <a:solidFill>
                  <a:srgbClr val="00FF00"/>
                </a:solidFill>
                <a:latin typeface="VT323"/>
                <a:ea typeface="VT323"/>
                <a:cs typeface="VT323"/>
                <a:sym typeface="VT323"/>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youtube.com/watch?v=4xG2aJa6UyY"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iHdviZkM7S4" TargetMode="Externa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8.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52275"/>
            <a:ext cx="8520600" cy="53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 Project: Designing an App Part 1 </a:t>
            </a:r>
            <a:r>
              <a:rPr lang="en" sz="3000"/>
              <a:t>****</a:t>
            </a:r>
            <a:endParaRPr sz="3000"/>
          </a:p>
        </p:txBody>
      </p:sp>
      <p:sp>
        <p:nvSpPr>
          <p:cNvPr id="55" name="Google Shape;55;p13"/>
          <p:cNvSpPr txBox="1"/>
          <p:nvPr>
            <p:ph idx="1" type="subTitle"/>
          </p:nvPr>
        </p:nvSpPr>
        <p:spPr>
          <a:xfrm>
            <a:off x="311700" y="784775"/>
            <a:ext cx="8520600" cy="48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Lesson 3.3</a:t>
            </a:r>
            <a:endParaRPr/>
          </a:p>
        </p:txBody>
      </p:sp>
      <p:pic>
        <p:nvPicPr>
          <p:cNvPr id="56" name="Google Shape;56;p13"/>
          <p:cNvPicPr preferRelativeResize="0"/>
          <p:nvPr/>
        </p:nvPicPr>
        <p:blipFill>
          <a:blip r:embed="rId3">
            <a:alphaModFix/>
          </a:blip>
          <a:stretch>
            <a:fillRect/>
          </a:stretch>
        </p:blipFill>
        <p:spPr>
          <a:xfrm>
            <a:off x="384775" y="1781225"/>
            <a:ext cx="152400" cy="30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62" name="Google Shape;62;p14"/>
          <p:cNvPicPr preferRelativeResize="0"/>
          <p:nvPr/>
        </p:nvPicPr>
        <p:blipFill>
          <a:blip r:embed="rId4">
            <a:alphaModFix/>
          </a:blip>
          <a:stretch>
            <a:fillRect/>
          </a:stretch>
        </p:blipFill>
        <p:spPr>
          <a:xfrm>
            <a:off x="1143000" y="1179400"/>
            <a:ext cx="6857999"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Mode</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During the last lesson, </a:t>
            </a:r>
            <a:r>
              <a:rPr lang="en"/>
              <a:t>we learned all about Design Mode.</a:t>
            </a:r>
            <a:endParaRPr/>
          </a:p>
          <a:p>
            <a:pPr indent="0" lvl="0" marL="0" rtl="0" algn="l">
              <a:spcBef>
                <a:spcPts val="1600"/>
              </a:spcBef>
              <a:spcAft>
                <a:spcPts val="0"/>
              </a:spcAft>
              <a:buNone/>
            </a:pPr>
            <a:r>
              <a:rPr lang="en"/>
              <a:t>Now you're going to start designing your own app that educates a user on some topic.</a:t>
            </a:r>
            <a:endParaRPr/>
          </a:p>
          <a:p>
            <a:pPr indent="0" lvl="0" marL="0" rtl="0" algn="l">
              <a:spcBef>
                <a:spcPts val="1600"/>
              </a:spcBef>
              <a:spcAft>
                <a:spcPts val="1600"/>
              </a:spcAft>
              <a:buNone/>
            </a:pPr>
            <a:r>
              <a:rPr lang="en"/>
              <a:t>This is a project that will continue through the rest of the unit.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Brainstorm Topic Ideas (2 minutes)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this project, </a:t>
            </a:r>
            <a:r>
              <a:rPr lang="en"/>
              <a:t>you will create an app that teaches your classmates about a topic you find interesting. T</a:t>
            </a:r>
            <a:r>
              <a:rPr lang="en"/>
              <a:t>hink about possible topics.</a:t>
            </a:r>
            <a:endParaRPr/>
          </a:p>
          <a:p>
            <a:pPr indent="0" lvl="0" marL="0" rtl="0" algn="l">
              <a:spcBef>
                <a:spcPts val="1600"/>
              </a:spcBef>
              <a:spcAft>
                <a:spcPts val="1600"/>
              </a:spcAft>
              <a:buNone/>
            </a:pPr>
            <a:r>
              <a:rPr lang="en"/>
              <a:t>List </a:t>
            </a:r>
            <a:r>
              <a:rPr b="1" lang="en"/>
              <a:t>AT LEAST</a:t>
            </a:r>
            <a:r>
              <a:rPr lang="en"/>
              <a:t> three ideas at the bottom of the first page of your project guide.</a:t>
            </a:r>
            <a:endParaRPr/>
          </a:p>
        </p:txBody>
      </p:sp>
      <p:pic>
        <p:nvPicPr>
          <p:cNvPr id="75" name="Google Shape;75;p16">
            <a:hlinkClick r:id="rId3"/>
          </p:cNvPr>
          <p:cNvPicPr preferRelativeResize="0"/>
          <p:nvPr/>
        </p:nvPicPr>
        <p:blipFill>
          <a:blip r:embed="rId4">
            <a:alphaModFix/>
          </a:blip>
          <a:stretch>
            <a:fillRect/>
          </a:stretch>
        </p:blipFill>
        <p:spPr>
          <a:xfrm>
            <a:off x="7223307" y="4156277"/>
            <a:ext cx="1376868" cy="572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Description</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For this project you will work with a partner. Together you will create an app that teaches your classmates about some topic that you choose. Along the way you’ll learn how to use many of the features of App Lab as well as skills that will help you when building more apps throughout this class.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Choose a Partner</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For this project you will need a partner to work with. Choose one now. Choose wisely.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Choose One Topic (3 minutes)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Work with your partner to narrow down your ideas.</a:t>
            </a:r>
            <a:endParaRPr/>
          </a:p>
          <a:p>
            <a:pPr indent="0" lvl="0" marL="0" rtl="0" algn="l">
              <a:spcBef>
                <a:spcPts val="1600"/>
              </a:spcBef>
              <a:spcAft>
                <a:spcPts val="1600"/>
              </a:spcAft>
              <a:buNone/>
            </a:pPr>
            <a:r>
              <a:rPr lang="en"/>
              <a:t>Pick a topic you are both interested in (it does not necessarily have to be one of the ones you brainstormed in step 1).</a:t>
            </a:r>
            <a:endParaRPr/>
          </a:p>
        </p:txBody>
      </p:sp>
      <p:pic>
        <p:nvPicPr>
          <p:cNvPr id="94" name="Google Shape;94;p19">
            <a:hlinkClick r:id="rId3"/>
          </p:cNvPr>
          <p:cNvPicPr preferRelativeResize="0"/>
          <p:nvPr/>
        </p:nvPicPr>
        <p:blipFill>
          <a:blip r:embed="rId4">
            <a:alphaModFix/>
          </a:blip>
          <a:stretch>
            <a:fillRect/>
          </a:stretch>
        </p:blipFill>
        <p:spPr>
          <a:xfrm>
            <a:off x="6474925" y="3716750"/>
            <a:ext cx="2040074" cy="822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 Bias in your Design</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Collaboration is a big part of app development. Your team's diverse ideas will help make your app even better, because each partner can keep a lookout for bias.</a:t>
            </a:r>
            <a:endParaRPr/>
          </a:p>
          <a:p>
            <a:pPr indent="0" lvl="0" marL="0" rtl="0" algn="l">
              <a:spcBef>
                <a:spcPts val="1600"/>
              </a:spcBef>
              <a:spcAft>
                <a:spcPts val="0"/>
              </a:spcAft>
              <a:buNone/>
            </a:pPr>
            <a:r>
              <a:rPr lang="en"/>
              <a:t>Here's an example: </a:t>
            </a:r>
            <a:endParaRPr/>
          </a:p>
          <a:p>
            <a:pPr indent="0" lvl="0" marL="0" rtl="0" algn="l">
              <a:spcBef>
                <a:spcPts val="1600"/>
              </a:spcBef>
              <a:spcAft>
                <a:spcPts val="0"/>
              </a:spcAft>
              <a:buNone/>
            </a:pPr>
            <a:r>
              <a:rPr lang="en"/>
              <a:t>A team member puts in their app the phrase: "All teenagers work after school to earn spending money" because this is their experience - they work after school themselves. However, the other team member may not have an after school job, and because of this can point out the bias in that statement.</a:t>
            </a:r>
            <a:endParaRPr/>
          </a:p>
          <a:p>
            <a:pPr indent="0" lvl="0" marL="0" rtl="0" algn="l">
              <a:spcBef>
                <a:spcPts val="1600"/>
              </a:spcBef>
              <a:spcAft>
                <a:spcPts val="1600"/>
              </a:spcAft>
              <a:buNone/>
            </a:pPr>
            <a:r>
              <a:rPr lang="en"/>
              <a:t>Collaboration is key to catching bias in your work!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Avoid Bias in your Design</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another example, this time in the design of an app.</a:t>
            </a:r>
            <a:endParaRPr/>
          </a:p>
          <a:p>
            <a:pPr indent="0" lvl="0" marL="0" rtl="0" algn="l">
              <a:spcBef>
                <a:spcPts val="1600"/>
              </a:spcBef>
              <a:spcAft>
                <a:spcPts val="0"/>
              </a:spcAft>
              <a:buNone/>
            </a:pPr>
            <a:r>
              <a:rPr lang="en"/>
              <a:t>A team wants to make an app to encourage girls to sign up for a summer camp. One team member assumes that because this app is aimed at girls, the background should be pink. A girl on the team points out that she does not like pink, and using that color in the design may represent bias.</a:t>
            </a:r>
            <a:endParaRPr/>
          </a:p>
          <a:p>
            <a:pPr indent="0" lvl="0" marL="0" rtl="0" algn="l">
              <a:spcBef>
                <a:spcPts val="1600"/>
              </a:spcBef>
              <a:spcAft>
                <a:spcPts val="1600"/>
              </a:spcAft>
              <a:buNone/>
            </a:pPr>
            <a:r>
              <a:rPr lang="en"/>
              <a:t>As you think about your topics and start designing your apps, remember to keep an eye out for bias and use your teammates to keep you accountable!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Survey Your Classmates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Group members should split up and each should join with at least 2 people from other groups to form "Focus Groups".</a:t>
            </a:r>
            <a:endParaRPr/>
          </a:p>
          <a:p>
            <a:pPr indent="0" lvl="0" marL="0" rtl="0" algn="l">
              <a:spcBef>
                <a:spcPts val="1600"/>
              </a:spcBef>
              <a:spcAft>
                <a:spcPts val="1600"/>
              </a:spcAft>
              <a:buNone/>
            </a:pPr>
            <a:r>
              <a:rPr lang="en"/>
              <a:t>They should then complete Step 3 with this focus group before returning to their original partners.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Design the User Interface</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the interface for your app. </a:t>
            </a:r>
            <a:endParaRPr/>
          </a:p>
          <a:p>
            <a:pPr indent="-330200" lvl="1" marL="914400" rtl="0" algn="l">
              <a:spcBef>
                <a:spcPts val="1600"/>
              </a:spcBef>
              <a:spcAft>
                <a:spcPts val="0"/>
              </a:spcAft>
              <a:buSzPts val="1600"/>
              <a:buChar char="-"/>
            </a:pPr>
            <a:r>
              <a:rPr lang="en" sz="1800"/>
              <a:t>Sketch out the screens from your app on the handout.</a:t>
            </a:r>
            <a:endParaRPr sz="1800"/>
          </a:p>
          <a:p>
            <a:pPr indent="-330200" lvl="1" marL="914400" rtl="0" algn="l">
              <a:spcBef>
                <a:spcPts val="0"/>
              </a:spcBef>
              <a:spcAft>
                <a:spcPts val="0"/>
              </a:spcAft>
              <a:buSzPts val="1600"/>
              <a:buChar char="-"/>
            </a:pPr>
            <a:r>
              <a:rPr lang="en" sz="1800"/>
              <a:t>Take pictures of your work, replace page 3 in your electronic planning guide with your picture.</a:t>
            </a:r>
            <a:endParaRPr sz="1800"/>
          </a:p>
          <a:p>
            <a:pPr indent="0" lvl="0" marL="0" rtl="0" algn="l">
              <a:spcBef>
                <a:spcPts val="1600"/>
              </a:spcBef>
              <a:spcAft>
                <a:spcPts val="0"/>
              </a:spcAft>
              <a:buNone/>
            </a:pPr>
            <a:r>
              <a:rPr lang="en"/>
              <a:t>You'll need to turn in your design!!!</a:t>
            </a:r>
            <a:endParaRPr/>
          </a:p>
          <a:p>
            <a:pPr indent="0" lvl="0" marL="91440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Looking Forward</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following lessons, you will continue to plan and create your apps.</a:t>
            </a:r>
            <a:endParaRPr/>
          </a:p>
          <a:p>
            <a:pPr indent="0" lvl="0" marL="0" rtl="0" algn="l">
              <a:spcBef>
                <a:spcPts val="1600"/>
              </a:spcBef>
              <a:spcAft>
                <a:spcPts val="0"/>
              </a:spcAft>
              <a:buNone/>
            </a:pPr>
            <a:r>
              <a:rPr lang="en"/>
              <a:t>What are we doing here? We are following a development process, which is similar to what developers use in the real world when creating their own apps. A development process breaks down the steps into small pieces - we've completed the first few today.</a:t>
            </a:r>
            <a:endParaRPr/>
          </a:p>
          <a:p>
            <a:pPr indent="0" lvl="0" marL="0" rtl="0" algn="l">
              <a:spcBef>
                <a:spcPts val="1600"/>
              </a:spcBef>
              <a:spcAft>
                <a:spcPts val="1600"/>
              </a:spcAft>
              <a:buNone/>
            </a:pPr>
            <a:r>
              <a:rPr lang="en"/>
              <a:t>There are many different versions of the development process. Most use some combination of investigating and reflecting, designing, prototyping and testing. Development processes can be ordered like we have seen in the Activity Guide or more exploratory in nature. As we continue on through this project, reflect on the steps and consider how they help organize the process.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30" name="Google Shape;130;p25"/>
          <p:cNvPicPr preferRelativeResize="0"/>
          <p:nvPr/>
        </p:nvPicPr>
        <p:blipFill>
          <a:blip r:embed="rId4">
            <a:alphaModFix/>
          </a:blip>
          <a:stretch>
            <a:fillRect/>
          </a:stretch>
        </p:blipFill>
        <p:spPr>
          <a:xfrm>
            <a:off x="1143000" y="786275"/>
            <a:ext cx="6857999"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6"/>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36" name="Google Shape;136;p26"/>
          <p:cNvPicPr preferRelativeResize="0"/>
          <p:nvPr/>
        </p:nvPicPr>
        <p:blipFill>
          <a:blip r:embed="rId4">
            <a:alphaModFix/>
          </a:blip>
          <a:stretch>
            <a:fillRect/>
          </a:stretch>
        </p:blipFill>
        <p:spPr>
          <a:xfrm>
            <a:off x="1059250" y="4615775"/>
            <a:ext cx="6857999"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64">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