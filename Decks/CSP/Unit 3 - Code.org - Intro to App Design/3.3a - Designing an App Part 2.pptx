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6858000" cy="9144000"/>
  <p:embeddedFontLst>
    <p:embeddedFont>
      <p:font typeface="VT323"/>
      <p:regular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font" Target="fonts/VT323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SLIDES_API19146514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SLIDES_API19146514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990dbb81f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990dbb81f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cb0c42c0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cb0c42c0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48d90ca8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48d90ca8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SLIDES_API79405343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SLIDES_API79405343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SLIDES_API53229388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SLIDES_API53229388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0" y="252275"/>
            <a:ext cx="8520600" cy="53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784775"/>
            <a:ext cx="8520600" cy="48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2"/>
          <p:cNvSpPr txBox="1"/>
          <p:nvPr/>
        </p:nvSpPr>
        <p:spPr>
          <a:xfrm>
            <a:off x="311750" y="1226325"/>
            <a:ext cx="8520600" cy="3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7F7FFF"/>
                </a:solidFill>
                <a:latin typeface="VT323"/>
                <a:ea typeface="VT323"/>
                <a:cs typeface="VT323"/>
                <a:sym typeface="VT323"/>
              </a:rPr>
              <a:t>READY</a:t>
            </a:r>
            <a:endParaRPr b="1" sz="1800">
              <a:solidFill>
                <a:srgbClr val="7F7FFF"/>
              </a:solidFill>
              <a:latin typeface="VT323"/>
              <a:ea typeface="VT323"/>
              <a:cs typeface="VT323"/>
              <a:sym typeface="VT323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type="ctrTitle"/>
          </p:nvPr>
        </p:nvSpPr>
        <p:spPr>
          <a:xfrm>
            <a:off x="311700" y="252275"/>
            <a:ext cx="8520600" cy="44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*"/>
              <a:defRPr>
                <a:solidFill>
                  <a:schemeClr val="dk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>
                <a:solidFill>
                  <a:schemeClr val="dk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+"/>
              <a:defRPr>
                <a:solidFill>
                  <a:schemeClr val="dk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>
                <a:solidFill>
                  <a:schemeClr val="dk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·"/>
              <a:defRPr>
                <a:solidFill>
                  <a:schemeClr val="dk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*"/>
              <a:defRPr>
                <a:solidFill>
                  <a:schemeClr val="dk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>
                <a:solidFill>
                  <a:schemeClr val="dk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+"/>
              <a:defRPr>
                <a:solidFill>
                  <a:schemeClr val="dk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▪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*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-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+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▪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·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*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-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+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▪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*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-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+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▪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·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*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-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+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▪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*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-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+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▪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·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*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-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+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▪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*"/>
              <a:defRPr>
                <a:solidFill>
                  <a:schemeClr val="dk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>
                <a:solidFill>
                  <a:schemeClr val="dk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+"/>
              <a:defRPr>
                <a:solidFill>
                  <a:schemeClr val="dk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>
                <a:solidFill>
                  <a:schemeClr val="dk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·"/>
              <a:defRPr>
                <a:solidFill>
                  <a:schemeClr val="dk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*"/>
              <a:defRPr>
                <a:solidFill>
                  <a:schemeClr val="dk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>
                <a:solidFill>
                  <a:schemeClr val="dk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+"/>
              <a:defRPr>
                <a:solidFill>
                  <a:schemeClr val="dk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▪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*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-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+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·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*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-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+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▪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7F7FFF"/>
              </a:buClr>
              <a:buSzPts val="2800"/>
              <a:buFont typeface="VT323"/>
              <a:buNone/>
              <a:defRPr sz="2800">
                <a:solidFill>
                  <a:srgbClr val="7F7FFF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7F7FFF"/>
              </a:buClr>
              <a:buSzPts val="2800"/>
              <a:buFont typeface="VT323"/>
              <a:buNone/>
              <a:defRPr sz="2800">
                <a:solidFill>
                  <a:srgbClr val="7F7FFF"/>
                </a:solidFill>
                <a:latin typeface="VT323"/>
                <a:ea typeface="VT323"/>
                <a:cs typeface="VT323"/>
                <a:sym typeface="VT323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7F7FFF"/>
              </a:buClr>
              <a:buSzPts val="2800"/>
              <a:buFont typeface="VT323"/>
              <a:buNone/>
              <a:defRPr sz="2800">
                <a:solidFill>
                  <a:srgbClr val="7F7FFF"/>
                </a:solidFill>
                <a:latin typeface="VT323"/>
                <a:ea typeface="VT323"/>
                <a:cs typeface="VT323"/>
                <a:sym typeface="VT323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7F7FFF"/>
              </a:buClr>
              <a:buSzPts val="2800"/>
              <a:buFont typeface="VT323"/>
              <a:buNone/>
              <a:defRPr sz="2800">
                <a:solidFill>
                  <a:srgbClr val="7F7FFF"/>
                </a:solidFill>
                <a:latin typeface="VT323"/>
                <a:ea typeface="VT323"/>
                <a:cs typeface="VT323"/>
                <a:sym typeface="VT323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7F7FFF"/>
              </a:buClr>
              <a:buSzPts val="2800"/>
              <a:buFont typeface="VT323"/>
              <a:buNone/>
              <a:defRPr sz="2800">
                <a:solidFill>
                  <a:srgbClr val="7F7FFF"/>
                </a:solidFill>
                <a:latin typeface="VT323"/>
                <a:ea typeface="VT323"/>
                <a:cs typeface="VT323"/>
                <a:sym typeface="VT323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7F7FFF"/>
              </a:buClr>
              <a:buSzPts val="2800"/>
              <a:buFont typeface="VT323"/>
              <a:buNone/>
              <a:defRPr sz="2800">
                <a:solidFill>
                  <a:srgbClr val="7F7FFF"/>
                </a:solidFill>
                <a:latin typeface="VT323"/>
                <a:ea typeface="VT323"/>
                <a:cs typeface="VT323"/>
                <a:sym typeface="VT323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7F7FFF"/>
              </a:buClr>
              <a:buSzPts val="2800"/>
              <a:buFont typeface="VT323"/>
              <a:buNone/>
              <a:defRPr sz="2800">
                <a:solidFill>
                  <a:srgbClr val="7F7FFF"/>
                </a:solidFill>
                <a:latin typeface="VT323"/>
                <a:ea typeface="VT323"/>
                <a:cs typeface="VT323"/>
                <a:sym typeface="VT323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7F7FFF"/>
              </a:buClr>
              <a:buSzPts val="2800"/>
              <a:buFont typeface="VT323"/>
              <a:buNone/>
              <a:defRPr sz="2800">
                <a:solidFill>
                  <a:srgbClr val="7F7FFF"/>
                </a:solidFill>
                <a:latin typeface="VT323"/>
                <a:ea typeface="VT323"/>
                <a:cs typeface="VT323"/>
                <a:sym typeface="VT323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7F7FFF"/>
              </a:buClr>
              <a:buSzPts val="2800"/>
              <a:buFont typeface="VT323"/>
              <a:buNone/>
              <a:defRPr sz="2800">
                <a:solidFill>
                  <a:srgbClr val="7F7FFF"/>
                </a:solidFill>
                <a:latin typeface="VT323"/>
                <a:ea typeface="VT323"/>
                <a:cs typeface="VT323"/>
                <a:sym typeface="VT323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FF"/>
              </a:buClr>
              <a:buSzPts val="1800"/>
              <a:buFont typeface="VT323"/>
              <a:buChar char="*"/>
              <a:defRPr sz="1800">
                <a:solidFill>
                  <a:srgbClr val="7F7FFF"/>
                </a:solidFill>
                <a:latin typeface="VT323"/>
                <a:ea typeface="VT323"/>
                <a:cs typeface="VT323"/>
                <a:sym typeface="VT323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7F7FFF"/>
              </a:buClr>
              <a:buSzPts val="1400"/>
              <a:buFont typeface="VT323"/>
              <a:buChar char="-"/>
              <a:defRPr>
                <a:solidFill>
                  <a:srgbClr val="7F7FFF"/>
                </a:solidFill>
                <a:latin typeface="VT323"/>
                <a:ea typeface="VT323"/>
                <a:cs typeface="VT323"/>
                <a:sym typeface="VT323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7F7FFF"/>
              </a:buClr>
              <a:buSzPts val="1400"/>
              <a:buFont typeface="VT323"/>
              <a:buChar char="+"/>
              <a:defRPr>
                <a:solidFill>
                  <a:srgbClr val="7F7FFF"/>
                </a:solidFill>
                <a:latin typeface="VT323"/>
                <a:ea typeface="VT323"/>
                <a:cs typeface="VT323"/>
                <a:sym typeface="VT323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7F7FFF"/>
              </a:buClr>
              <a:buSzPts val="1400"/>
              <a:buFont typeface="VT323"/>
              <a:buChar char="▪"/>
              <a:defRPr>
                <a:solidFill>
                  <a:srgbClr val="7F7FFF"/>
                </a:solidFill>
                <a:latin typeface="VT323"/>
                <a:ea typeface="VT323"/>
                <a:cs typeface="VT323"/>
                <a:sym typeface="VT323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7F7FFF"/>
              </a:buClr>
              <a:buSzPts val="1400"/>
              <a:buFont typeface="VT323"/>
              <a:buChar char="·"/>
              <a:defRPr>
                <a:solidFill>
                  <a:srgbClr val="7F7FFF"/>
                </a:solidFill>
                <a:latin typeface="VT323"/>
                <a:ea typeface="VT323"/>
                <a:cs typeface="VT323"/>
                <a:sym typeface="VT323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7F7FFF"/>
              </a:buClr>
              <a:buSzPts val="1400"/>
              <a:buFont typeface="VT323"/>
              <a:buChar char="*"/>
              <a:defRPr>
                <a:solidFill>
                  <a:srgbClr val="7F7FFF"/>
                </a:solidFill>
                <a:latin typeface="VT323"/>
                <a:ea typeface="VT323"/>
                <a:cs typeface="VT323"/>
                <a:sym typeface="VT323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7F7FFF"/>
              </a:buClr>
              <a:buSzPts val="1400"/>
              <a:buFont typeface="VT323"/>
              <a:buChar char="-"/>
              <a:defRPr>
                <a:solidFill>
                  <a:srgbClr val="7F7FFF"/>
                </a:solidFill>
                <a:latin typeface="VT323"/>
                <a:ea typeface="VT323"/>
                <a:cs typeface="VT323"/>
                <a:sym typeface="VT323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7F7FFF"/>
              </a:buClr>
              <a:buSzPts val="1400"/>
              <a:buFont typeface="VT323"/>
              <a:buChar char="+"/>
              <a:defRPr>
                <a:solidFill>
                  <a:srgbClr val="7F7FFF"/>
                </a:solidFill>
                <a:latin typeface="VT323"/>
                <a:ea typeface="VT323"/>
                <a:cs typeface="VT323"/>
                <a:sym typeface="VT323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7F7FFF"/>
              </a:buClr>
              <a:buSzPts val="1400"/>
              <a:buFont typeface="VT323"/>
              <a:buChar char="▪"/>
              <a:defRPr>
                <a:solidFill>
                  <a:srgbClr val="7F7FFF"/>
                </a:solidFill>
                <a:latin typeface="VT323"/>
                <a:ea typeface="VT323"/>
                <a:cs typeface="VT323"/>
                <a:sym typeface="VT323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00FF00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rtl="0" algn="r">
              <a:buNone/>
              <a:defRPr sz="1000">
                <a:solidFill>
                  <a:srgbClr val="00FF00"/>
                </a:solidFill>
                <a:latin typeface="VT323"/>
                <a:ea typeface="VT323"/>
                <a:cs typeface="VT323"/>
                <a:sym typeface="VT323"/>
              </a:defRPr>
            </a:lvl2pPr>
            <a:lvl3pPr lvl="2" rtl="0" algn="r">
              <a:buNone/>
              <a:defRPr sz="1000">
                <a:solidFill>
                  <a:srgbClr val="00FF00"/>
                </a:solidFill>
                <a:latin typeface="VT323"/>
                <a:ea typeface="VT323"/>
                <a:cs typeface="VT323"/>
                <a:sym typeface="VT323"/>
              </a:defRPr>
            </a:lvl3pPr>
            <a:lvl4pPr lvl="3" rtl="0" algn="r">
              <a:buNone/>
              <a:defRPr sz="1000">
                <a:solidFill>
                  <a:srgbClr val="00FF00"/>
                </a:solidFill>
                <a:latin typeface="VT323"/>
                <a:ea typeface="VT323"/>
                <a:cs typeface="VT323"/>
                <a:sym typeface="VT323"/>
              </a:defRPr>
            </a:lvl4pPr>
            <a:lvl5pPr lvl="4" rtl="0" algn="r">
              <a:buNone/>
              <a:defRPr sz="1000">
                <a:solidFill>
                  <a:srgbClr val="00FF00"/>
                </a:solidFill>
                <a:latin typeface="VT323"/>
                <a:ea typeface="VT323"/>
                <a:cs typeface="VT323"/>
                <a:sym typeface="VT323"/>
              </a:defRPr>
            </a:lvl5pPr>
            <a:lvl6pPr lvl="5" rtl="0" algn="r">
              <a:buNone/>
              <a:defRPr sz="1000">
                <a:solidFill>
                  <a:srgbClr val="00FF00"/>
                </a:solidFill>
                <a:latin typeface="VT323"/>
                <a:ea typeface="VT323"/>
                <a:cs typeface="VT323"/>
                <a:sym typeface="VT323"/>
              </a:defRPr>
            </a:lvl6pPr>
            <a:lvl7pPr lvl="6" rtl="0" algn="r">
              <a:buNone/>
              <a:defRPr sz="1000">
                <a:solidFill>
                  <a:srgbClr val="00FF00"/>
                </a:solidFill>
                <a:latin typeface="VT323"/>
                <a:ea typeface="VT323"/>
                <a:cs typeface="VT323"/>
                <a:sym typeface="VT323"/>
              </a:defRPr>
            </a:lvl7pPr>
            <a:lvl8pPr lvl="7" rtl="0" algn="r">
              <a:buNone/>
              <a:defRPr sz="1000">
                <a:solidFill>
                  <a:srgbClr val="00FF00"/>
                </a:solidFill>
                <a:latin typeface="VT323"/>
                <a:ea typeface="VT323"/>
                <a:cs typeface="VT323"/>
                <a:sym typeface="VT323"/>
              </a:defRPr>
            </a:lvl8pPr>
            <a:lvl9pPr lvl="8" rtl="0" algn="r">
              <a:buNone/>
              <a:defRPr sz="1000">
                <a:solidFill>
                  <a:srgbClr val="00FF00"/>
                </a:solidFill>
                <a:latin typeface="VT323"/>
                <a:ea typeface="VT323"/>
                <a:cs typeface="VT323"/>
                <a:sym typeface="VT323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learn.mycode.run/link/xnwqm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9.png"/><Relationship Id="rId7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252275"/>
            <a:ext cx="8520600" cy="53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**** Designing an App Part 2</a:t>
            </a:r>
            <a:r>
              <a:rPr lang="en" sz="3000">
                <a:solidFill>
                  <a:schemeClr val="dk1"/>
                </a:solidFill>
              </a:rPr>
              <a:t> ****</a:t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784775"/>
            <a:ext cx="8520600" cy="48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Lesson 3.3a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775" y="1781225"/>
            <a:ext cx="1524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7999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3000" y="0"/>
            <a:ext cx="6857999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988475"/>
            <a:ext cx="6857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Prototyping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design you sketched out for your app is a prototype of your app. A prototype helps you plan the looks and features of your app before you program it.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There are entire programming environments dedicated to just laying out the screens for an app.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It's important to remember that other people will be using your app and need to understand how to use it. A prototype can really help.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Head over to code.org, </a:t>
            </a:r>
            <a:r>
              <a:rPr lang="en" u="sng">
                <a:solidFill>
                  <a:schemeClr val="hlink"/>
                </a:solidFill>
                <a:hlinkClick r:id="rId3"/>
              </a:rPr>
              <a:t>Unit 3, Lesson 3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You'll</a:t>
            </a:r>
            <a:r>
              <a:rPr lang="en"/>
              <a:t> see a prototype of one of the apps you explored before.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looking at this app and the prototype, you may want to make a few adjustments to your own prototypes. Take a few minutes to update your design.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you are finished, move on to Level 2 where you will start creating your user interfaces in App Lab!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Combining Screens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5760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</a:t>
            </a:r>
            <a:r>
              <a:rPr lang="en"/>
              <a:t>re's how to combine your screens with your partner: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solidFill>
                  <a:srgbClr val="FF00FF"/>
                </a:solidFill>
              </a:rPr>
              <a:t>Partner A</a:t>
            </a:r>
            <a:r>
              <a:rPr lang="en"/>
              <a:t> should click on </a:t>
            </a:r>
            <a:r>
              <a:rPr b="1" lang="en"/>
              <a:t>Share</a:t>
            </a:r>
            <a:r>
              <a:rPr lang="en"/>
              <a:t> then copy the share link for </a:t>
            </a:r>
            <a:r>
              <a:rPr lang="en">
                <a:solidFill>
                  <a:srgbClr val="00FF00"/>
                </a:solidFill>
              </a:rPr>
              <a:t>Partner B</a:t>
            </a:r>
            <a:r>
              <a:rPr lang="en"/>
              <a:t>.</a:t>
            </a:r>
            <a:endParaRPr>
              <a:solidFill>
                <a:srgbClr val="00FF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solidFill>
                  <a:srgbClr val="00FF00"/>
                </a:solidFill>
              </a:rPr>
              <a:t>Partner B</a:t>
            </a:r>
            <a:r>
              <a:rPr lang="en"/>
              <a:t> clicks the screen dropdown, then clicks "Import screen".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Paste in the share link from </a:t>
            </a:r>
            <a:r>
              <a:rPr lang="en">
                <a:solidFill>
                  <a:srgbClr val="FF00FF"/>
                </a:solidFill>
              </a:rPr>
              <a:t>Partner A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solidFill>
                  <a:srgbClr val="00FF00"/>
                </a:solidFill>
              </a:rPr>
              <a:t>Partner B</a:t>
            </a:r>
            <a:r>
              <a:rPr lang="en"/>
              <a:t> select to import all of the screens and assets.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solidFill>
                  <a:srgbClr val="00FF00"/>
                </a:solidFill>
              </a:rPr>
              <a:t>Partner B</a:t>
            </a:r>
            <a:r>
              <a:rPr lang="en"/>
              <a:t> set the home screen to be the default screen (Hint: Go to design mode and click on the screen)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Repeat so both partners have copies of all the screens.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7575" y="1422525"/>
            <a:ext cx="3084725" cy="114335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3" name="Google Shape;8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47576" y="2595900"/>
            <a:ext cx="3084725" cy="1313581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4" name="Google Shape;84;p17"/>
          <p:cNvPicPr preferRelativeResize="0"/>
          <p:nvPr/>
        </p:nvPicPr>
        <p:blipFill rotWithShape="1">
          <a:blip r:embed="rId5">
            <a:alphaModFix/>
          </a:blip>
          <a:srcRect b="54411" l="0" r="0" t="0"/>
          <a:stretch/>
        </p:blipFill>
        <p:spPr>
          <a:xfrm>
            <a:off x="6110450" y="3634700"/>
            <a:ext cx="2721850" cy="121685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83650" y="356150"/>
            <a:ext cx="589925" cy="33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27105" y="249150"/>
            <a:ext cx="3405194" cy="11433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/>
          <p:nvPr/>
        </p:nvSpPr>
        <p:spPr>
          <a:xfrm rot="-2916441">
            <a:off x="4596580" y="587289"/>
            <a:ext cx="195549" cy="18747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/>
          <p:nvPr/>
        </p:nvSpPr>
        <p:spPr>
          <a:xfrm rot="-2916441">
            <a:off x="6411530" y="799364"/>
            <a:ext cx="195549" cy="18747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/>
          <p:nvPr/>
        </p:nvSpPr>
        <p:spPr>
          <a:xfrm rot="-2916441">
            <a:off x="6058655" y="2269389"/>
            <a:ext cx="195549" cy="18747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FF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/>
          <p:nvPr/>
        </p:nvSpPr>
        <p:spPr>
          <a:xfrm rot="-2916441">
            <a:off x="5722080" y="3405664"/>
            <a:ext cx="195549" cy="18747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FF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/>
          <p:nvPr/>
        </p:nvSpPr>
        <p:spPr>
          <a:xfrm rot="-2916441">
            <a:off x="6058655" y="4554564"/>
            <a:ext cx="195549" cy="18747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FF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7999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3000" y="0"/>
            <a:ext cx="6857999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1097400"/>
            <a:ext cx="6857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7999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3000" y="0"/>
            <a:ext cx="6857999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770675"/>
            <a:ext cx="6857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64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