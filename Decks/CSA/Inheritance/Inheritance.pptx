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5143500" cx="9144000"/>
  <p:notesSz cx="6858000" cy="9144000"/>
  <p:embeddedFontLst>
    <p:embeddedFont>
      <p:font typeface="VT323"/>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VT323-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d45fd362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d45fd362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d45fd362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d45fd362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d45fd362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d45fd362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caa599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caa599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caa5998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caa5998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caa5998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caa5998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caa5998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caa5998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d282e5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d282e5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caa5998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caa5998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SLIDES_API149666049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SLIDES_API149666049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d282e59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d282e59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d282e59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6d282e59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d282e59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6d282e59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d282e59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6d282e59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d282e59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d282e59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d282e59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d282e59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d282e59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6d282e59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d282e59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6d282e59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6d282e59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6d282e59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d282e59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6d282e59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d282e59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6d282e59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SLIDES_API214193335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SLIDES_API214193335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d282e59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6d282e59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d282e59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6d282e59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6d282e59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6d282e59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6d282e59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6d282e59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d282e59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d282e59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d282e59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6d282e59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6d282e59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6d282e59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6d282e59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6d282e59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1pPr>
            <a:lvl2pPr lvl="1"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2pPr>
            <a:lvl3pPr lvl="2"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3pPr>
            <a:lvl4pPr lvl="3"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4pPr>
            <a:lvl5pPr lvl="4"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5pPr>
            <a:lvl6pPr lvl="5"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6pPr>
            <a:lvl7pPr lvl="6"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7pPr>
            <a:lvl8pPr lvl="7"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8pPr>
            <a:lvl9pPr lvl="8" rtl="0">
              <a:spcBef>
                <a:spcPts val="0"/>
              </a:spcBef>
              <a:spcAft>
                <a:spcPts val="0"/>
              </a:spcAft>
              <a:buClr>
                <a:srgbClr val="00FF00"/>
              </a:buClr>
              <a:buSzPts val="2800"/>
              <a:buFont typeface="VT323"/>
              <a:buNone/>
              <a:defRPr sz="2800">
                <a:solidFill>
                  <a:srgbClr val="00FF00"/>
                </a:solidFill>
                <a:latin typeface="VT323"/>
                <a:ea typeface="VT323"/>
                <a:cs typeface="VT323"/>
                <a:sym typeface="VT323"/>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rgbClr val="00FF00"/>
              </a:buClr>
              <a:buSzPts val="1800"/>
              <a:buFont typeface="VT323"/>
              <a:buChar char="*"/>
              <a:defRPr sz="1800">
                <a:solidFill>
                  <a:srgbClr val="00FF00"/>
                </a:solidFill>
                <a:latin typeface="VT323"/>
                <a:ea typeface="VT323"/>
                <a:cs typeface="VT323"/>
                <a:sym typeface="VT323"/>
              </a:defRPr>
            </a:lvl1pPr>
            <a:lvl2pPr indent="-317500" lvl="1" marL="9144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2pPr>
            <a:lvl3pPr indent="-317500" lvl="2" marL="13716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3pPr>
            <a:lvl4pPr indent="-317500" lvl="3" marL="18288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4pPr>
            <a:lvl5pPr indent="-317500" lvl="4" marL="22860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5pPr>
            <a:lvl6pPr indent="-317500" lvl="5" marL="27432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6pPr>
            <a:lvl7pPr indent="-317500" lvl="6" marL="32004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7pPr>
            <a:lvl8pPr indent="-317500" lvl="7" marL="3657600" rtl="0">
              <a:lnSpc>
                <a:spcPct val="115000"/>
              </a:lnSpc>
              <a:spcBef>
                <a:spcPts val="1600"/>
              </a:spcBef>
              <a:spcAft>
                <a:spcPts val="0"/>
              </a:spcAft>
              <a:buClr>
                <a:srgbClr val="00FF00"/>
              </a:buClr>
              <a:buSzPts val="1400"/>
              <a:buFont typeface="VT323"/>
              <a:buChar char="+"/>
              <a:defRPr>
                <a:solidFill>
                  <a:srgbClr val="00FF00"/>
                </a:solidFill>
                <a:latin typeface="VT323"/>
                <a:ea typeface="VT323"/>
                <a:cs typeface="VT323"/>
                <a:sym typeface="VT323"/>
              </a:defRPr>
            </a:lvl8pPr>
            <a:lvl9pPr indent="-317500" lvl="8" marL="4114800" rtl="0">
              <a:lnSpc>
                <a:spcPct val="115000"/>
              </a:lnSpc>
              <a:spcBef>
                <a:spcPts val="1600"/>
              </a:spcBef>
              <a:spcAft>
                <a:spcPts val="1600"/>
              </a:spcAft>
              <a:buClr>
                <a:srgbClr val="00FF00"/>
              </a:buClr>
              <a:buSzPts val="1400"/>
              <a:buFont typeface="VT323"/>
              <a:buChar char="▪"/>
              <a:defRPr>
                <a:solidFill>
                  <a:srgbClr val="00FF00"/>
                </a:solidFill>
                <a:latin typeface="VT323"/>
                <a:ea typeface="VT323"/>
                <a:cs typeface="VT323"/>
                <a:sym typeface="VT323"/>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00FF00"/>
                </a:solidFill>
                <a:latin typeface="VT323"/>
                <a:ea typeface="VT323"/>
                <a:cs typeface="VT323"/>
                <a:sym typeface="VT323"/>
              </a:defRPr>
            </a:lvl1pPr>
            <a:lvl2pPr lvl="1" rtl="0" algn="r">
              <a:buNone/>
              <a:defRPr sz="1000">
                <a:solidFill>
                  <a:srgbClr val="00FF00"/>
                </a:solidFill>
                <a:latin typeface="VT323"/>
                <a:ea typeface="VT323"/>
                <a:cs typeface="VT323"/>
                <a:sym typeface="VT323"/>
              </a:defRPr>
            </a:lvl2pPr>
            <a:lvl3pPr lvl="2" rtl="0" algn="r">
              <a:buNone/>
              <a:defRPr sz="1000">
                <a:solidFill>
                  <a:srgbClr val="00FF00"/>
                </a:solidFill>
                <a:latin typeface="VT323"/>
                <a:ea typeface="VT323"/>
                <a:cs typeface="VT323"/>
                <a:sym typeface="VT323"/>
              </a:defRPr>
            </a:lvl3pPr>
            <a:lvl4pPr lvl="3" rtl="0" algn="r">
              <a:buNone/>
              <a:defRPr sz="1000">
                <a:solidFill>
                  <a:srgbClr val="00FF00"/>
                </a:solidFill>
                <a:latin typeface="VT323"/>
                <a:ea typeface="VT323"/>
                <a:cs typeface="VT323"/>
                <a:sym typeface="VT323"/>
              </a:defRPr>
            </a:lvl4pPr>
            <a:lvl5pPr lvl="4" rtl="0" algn="r">
              <a:buNone/>
              <a:defRPr sz="1000">
                <a:solidFill>
                  <a:srgbClr val="00FF00"/>
                </a:solidFill>
                <a:latin typeface="VT323"/>
                <a:ea typeface="VT323"/>
                <a:cs typeface="VT323"/>
                <a:sym typeface="VT323"/>
              </a:defRPr>
            </a:lvl5pPr>
            <a:lvl6pPr lvl="5" rtl="0" algn="r">
              <a:buNone/>
              <a:defRPr sz="1000">
                <a:solidFill>
                  <a:srgbClr val="00FF00"/>
                </a:solidFill>
                <a:latin typeface="VT323"/>
                <a:ea typeface="VT323"/>
                <a:cs typeface="VT323"/>
                <a:sym typeface="VT323"/>
              </a:defRPr>
            </a:lvl6pPr>
            <a:lvl7pPr lvl="6" rtl="0" algn="r">
              <a:buNone/>
              <a:defRPr sz="1000">
                <a:solidFill>
                  <a:srgbClr val="00FF00"/>
                </a:solidFill>
                <a:latin typeface="VT323"/>
                <a:ea typeface="VT323"/>
                <a:cs typeface="VT323"/>
                <a:sym typeface="VT323"/>
              </a:defRPr>
            </a:lvl7pPr>
            <a:lvl8pPr lvl="7" rtl="0" algn="r">
              <a:buNone/>
              <a:defRPr sz="1000">
                <a:solidFill>
                  <a:srgbClr val="00FF00"/>
                </a:solidFill>
                <a:latin typeface="VT323"/>
                <a:ea typeface="VT323"/>
                <a:cs typeface="VT323"/>
                <a:sym typeface="VT323"/>
              </a:defRPr>
            </a:lvl8pPr>
            <a:lvl9pPr lvl="8" rtl="0" algn="r">
              <a:buNone/>
              <a:defRPr sz="1000">
                <a:solidFill>
                  <a:srgbClr val="00FF00"/>
                </a:solidFill>
                <a:latin typeface="VT323"/>
                <a:ea typeface="VT323"/>
                <a:cs typeface="VT323"/>
                <a:sym typeface="VT323"/>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run.mycode.run/?code=XQAAAQB%2FBgAAAAAAAAA9iIpHPJkiDSD3eirckGfVDlyCzGKafDiNdzYcptq24WYsABZXK1m1qc4UVyDjDdEKGWHLaCKmwJfhoHyYuO72KsNT9qshyUreD2TO%2FvLtLZTecsJMzRe2Akzc%2FYNAZrHv5EunBd%2BbziRFH6VAimVICK3cS49YWeXBFb1h%2FWFQTIk0QkJeiXEoaTNovElxIJdAiDLNrjDxVTgbgl9hRS6lfK5tVYzkxR5eCYM%2BSZ%2BdnrBWlYBPMB%2FGFJQExc2kYrE26ccSfCR03LtYmZzLHRL5FIKm9sSaz8DWvUU2EBqjDQzNLwGFcAcFrbob2cn70WR13Wwt%2F3zVhrfit71DKRxeDFJb1Xn%2B5ROcjnah4zQcp8TZ5v%2FRacYQE4LA7lsteFzW5E6DbfINbIC%2F6KGLjdMwQvfh%2B4BZerVVVOvg3o9h77YO4V5OriXnqJyePxXEsf3wwFSGxO6VfSZUt8loIMUHYmCfvu3eI%2Bb7eYCUVczQ8fQZYYE2KsciQeFeSErgqU6XBclrRB8orF%2BaXtAyGkUoFVJ%2BtFF3YacIGkZdpUW52G9Gb80Uj3cLsXjMvApgjtKYyuaxpbG3YYoXCgJ54%2ForO%2FTjbVFI7G0H%2BE2hVlSZs8Zp3Z1pX0NSB4kyehQS9quxHYh06%2FnGv9Eck%2FAN8i42m1qN6ChJ%2BXBvdoaJ0yg9T%2F%2FALjeznWZ5%2F1liwAA%3D&amp;noproject=tru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run.mycode.run/?code=XQAAAQB%2FBgAAAAAAAAA9iIpHPJkiDSD3eirckGfVDlyCzGKafDiNdzYcptq24WYsABZXK1m1qc4UVyDjDdEKGWHLaCKmwJfhoHyYuO72KsNT9qshyUreD2TO%2FvLtLZTecsJMzRe2Akzc%2FYNAZrHv5EunBd%2BbziRFH6VAimVICK3cS49YWeXBFb1h%2FWFQTIk0QkJeiXEoaTNovElxIJdAiDLNrjDxVTgbgl9hRS6lfK5tVYzkxR5eCYM%2BSZ%2BdnrBWlYBPMB%2FGFJQExc2kYrE26ccSfCR03LtYmZzLHRL5FIKm9sSaz8DWvUU2EBqjDQzNLwGFcAcFrbob2cn70WR13Wwt%2F3zVhrfit71DKRxeDFJb1Xn%2B5ROcjnah4zQcp8TZ5v%2FRacYQE4LA7lsteFzW5E6DbfINbIC%2F6KGLjdMwQvfh%2B4BZerVVVOvg3o9h77YO4V5OriXnqJyePxXEsf3wwFSGxO6VfSZUt8loIMUHYmCfvu3eI%2Bb7eYCUVczQ8fQZYYE2KsciQeFeSErgqU6XBclrRB8orF%2BaXtAyGkUoFVJ%2BtFF3YacIGkZdpUW52G9Gb80Uj3cLsXjMvApgjtKYyuaxpbG3YYoXCgJ54%2ForO%2FTjbVFI7G0H%2BE2hVlSZs8Zp3Z1pX0NSB4kyehQS9quxHYh06%2FnGv9Eck%2FAN8i42m1qN6ChJ%2BXBvdoaJ0yg9T%2F%2FALjeznWZ5%2F1liwAA%3D&amp;norun=true&amp;noproject=tru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run.mycode.run/?code=XQAAAQBFEQAAAAAAAAA9iIpHPJkiDSD3eirckGfVDlyCzGKafDiNdzYcptqz8Olg1PC7bgmWCNCXaGKzGFYbveMGGi20QJl80u3MOgb7JyLZJUWpKfqa1VqzN91kgqzHvHN7kI%2F6%2Bhrd0xhSv4DNYS6Pvd5xR8DLmUkM%2FK2cCmNJ3MJLxmkBe%2BbOSSxsWg0CupcUoArItB%2BBwaLPhzc9SGw77s299ZquA%2F69L1TXF85%2BzrwslrqjfplTDtWAHHQKtkM9M4Y7BSNazi6yraLmkAMvzanl%2Bf4X7amXPTaHviseOeGqFD8C%2F6MXYoJid0VmRRWWsfoe8lLr%2Fjp0w2WyVZNub%2F9P8RsmIvyrHayYbQK1WHYHKxtiRro2tPAtTOjK6gWf37pdBLNFwvaz9k1BbARhzaWEbmPPlisw7itRL8dHEhCz43qsoSKWeCnqIv9fo49xJxOKF1YpwbjUYg1a7j4dEtkX6tvie2fZO1E35%2FlhoP488ji3cej68LBtmVcm5P0asWudcCoZ6LwV2dRghYn4N%2BPPZt4c4tFdvPGt59rZsAu2nUChsVGP3ub6G3YaZRgVtCz1YvqNx21t%2FREtwzVjX9QQ9PQV1hbiVmzUtIcvDZabyaNM9nZBlRDUg5IUpRgL9HaOR75YmTdUo90TXt8T8ikzZvZnMI7xOTOw%2BT%2BGo9jPWHGWg7nxU5BREoDmPqpmXOO4m%2Bs%2FHIe1OXKdnw2zagbnOPBRxva9xLbQrklMjsoF%2BTK1vwSD332WOPr8q3zuVOyyCjc6N9D2KBw3AWg4YYxtdd62ef9MPyNQWTxV92NDUCKMnajTA5HK3bFVH2G%2FA0StipvCuWUIQr%2BswnLvA%2FANSkTQK1ghA8HqJkXz8jlYvwh8kxni2cuh36iWrhTg8Kns69O1rPKs3c0hvC35zfnPVHJYmViDwKHAT%2Foe7598mqRgKiblSPK1VVtghM45En7PnLR7ZW3YI0DdUZU8zpguJE371L%2FLLCnWnbhGsIGz9a5vuckisR1WRrBpBEVLtZn5NjBtN0ji4EWGH4xEvHYbDVGpaZmZxR33WtW5g7i0gmVFUUVnDCxkeJtZkTa19UXYyudpRkmmxhBc%2FR3hdGzdC%2FnDAQtqs7juN23Y46jqwOyzBFYCtOscQ2V9TZf74lX6K5%2BNzgP7PyQ6&amp;noproject=tru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hyperlink" Target="https://run.mycode.run/?code=XQAAAQBFEQAAAAAAAAA9iIpHPJkiDSD3eirckGfVDlyCzGKafDiNdzYcptqz8Olg1PC7bgmWCNCXaGKzGFYbveMGGi20QJl80u3MOgb7JyLZJUWpKfqa1VqzN91kgqzHvHN7kI%2F6%2Bhrd0xhSv4DNYS6Pvd5xR8DLmUkM%2FK2cCmNJ3MJLxmkBe%2BbOSSxsWg0CupcUoArItB%2BBwaLPhzc9SGw77s299ZquA%2F69L1TXF85%2BzrwslrqjfplTDtWAHHQKtkM9M4Y7BSNazi6yraLmkAMvzanl%2Bf4X7amXPTaHviseOeGqFD8C%2F6MXYoJid0VmRRWWsfoe8lLr%2Fjp0w2WyVZNub%2F9P8RsmIvyrHayYbQK1WHYHKxtiRro2tPAtTOjK6gWf37pdBLNFwvaz9k1BbARhzaWEbmPPlisw7itRL8dHEhCz43qsoSKWeCnqIv9fo49xJxOKF1YpwbjUYg1a7j4dEtkX6tvie2fZO1E35%2FlhoP488ji3cej68LBtmVcm5P0asWudcCoZ6LwV2dRghYn4N%2BPPZt4c4tFdvPGt59rZsAu2nUChsVGP3ub6G3YaZRgVtCz1YvqNx21t%2FREtwzVjX9QQ9PQV1hbiVmzUtIcvDZabyaNM9nZBlRDUg5IUpRgL9HaOR75YmTdUo90TXt8T8ikzZvZnMI7xOTOw%2BT%2BGo9jPWHGWg7nxU5BREoDmPqpmXOO4m%2Bs%2FHIe1OXKdnw2zagbnOPBRxva9xLbQrklMjsoF%2BTK1vwSD332WOPr8q3zuVOyyCjc6N9D2KBw3AWg4YYxtdd62ef9MPyNQWTxV92NDUCKMnajTA5HK3bFVH2G%2FA0StipvCuWUIQr%2BswnLvA%2FANSkTQK1ghA8HqJkXz8jlYvwh8kxni2cuh36iWrhTg8Kns69O1rPKs3c0hvC35zfnPVHJYmViDwKHAT%2Foe7598mqRgKiblSPK1VVtghM45En7PnLR7ZW3YI0DdUZU8zpguJE371L%2FLLCnWnbhGsIGz9a5vuckisR1WRrBpBEVLtZn5NjBtN0ji4EWGH4xEvHYbDVGpaZmZxR33WtW5g7i0gmVFUUVnDCxkeJtZkTa19UXYyudpRkmmxhBc%2FR3hdGzdC%2FnDAQtqs7juN23Y46jqwOyzBFYCtOscQ2V9TZf74lX6K5%2BNzgP7PyQ6&amp;norun=true&amp;noproject=tru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hyperlink" Target="https://run.mycode.run/?code=XQAAAQABCwAAAAAAAAA9iIpHPJkiDSD3eirckGfVDlyCzGKafDiNdzYcptqzJdbOOHrmIG0UkIjmM36PGkSlSfzWBckOzDJhwXd34Scy9Gev2XEygeKuuuvc90jhqSIbozYn7Wd%2BeurVkhVQ86%2BvEdgpwKJsZRt1We8RNVEmoGMOk2v85HGi76egA0ey6w7pxJs9zX6Y9tJKEKJhtzuzg%2F%2B8BbvnzEX76XhZWGIxcBHsTPia9ZSYjiSHlkgJPAHSCoO9z%2Fo%2Ba%2BBFga9IU0ThxIAqdGyPxbQBLoQNFl%2FxqJCek0R0JCPdEnsgGJBg3Ib9lUcl8tfAexZBr6l6KKZZeGOZdJdemXJ5BwWvAakyHwpqVLnhu5EWCStdbrziBVewJSGcv%2B1YRnxOCZUAjDruXyT%2FdgnO08c4xPa0oRrFZSA%2BzxwlnaWbNZzOd3rTrwxSeW5lX9Ay9sepl%2FeCYSKwJ%2FGPAOOO3sr56L%2BGAGj2Ppl6a69yXBDcuuXyiYgeiSG8clJM5Ppsx3PeYgm4e7cI9%2FII0E2LnRGplW%2BOjlNW3BVcmMDocB7WrLHpuUo3rmrgPqX2poRMvJW7%2BGXb6yYjNibjqdooZxTiIfTN%2FNtVFbOpW5FqlfrGJNCDDpIO9XC03Y3AnEM8hGgoYPzQ5otdxCGhdV9jR%2BDlasEsPoxaSbLSau83qTJncvUYxoeXrC9p1r5bvV77SmzzzkPPWPltlS5u8yST3UGcp6sXTVTH%2FkyTiZnjlYfQqjyByrrwk7SomVPZUyvlErm2eSrkyEtyDQxS7h%2FjHP%2FXwbOo&amp;noproject=tru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learn.mycode.run/link/xgmtj"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github.com/openjdk-mirror/jdk7u-jdk/blob/master/src/share/classes/java/lang/Comparable.java#L9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Inheritance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Passing down the riches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Inheritance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real world" inheritance involves passing down family wealth from one generation to the next, grandparents to parents to their children, generally at the end of life.</a:t>
            </a:r>
            <a:endParaRPr/>
          </a:p>
          <a:p>
            <a:pPr indent="0" lvl="0" marL="0" rtl="0" algn="l">
              <a:spcBef>
                <a:spcPts val="1600"/>
              </a:spcBef>
              <a:spcAft>
                <a:spcPts val="1600"/>
              </a:spcAft>
              <a:buNone/>
            </a:pPr>
            <a:r>
              <a:rPr lang="en"/>
              <a:t>In computer science, wealth doesn't mean money, wealth is data and methods.  Fortunately no one has to die to pass this wealth and on because computers can make copies of data and methods.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Classes are like blueprints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think of a Class as a blueprint for a house. It's the plan for making the house. The same blueprint can be used to build a lot of houses... you might have noticed from the development you live in. Features like color and address would be data for this class that distinguishes one instance from another.</a:t>
            </a:r>
            <a:endParaRPr/>
          </a:p>
          <a:p>
            <a:pPr indent="0" lvl="0" marL="0" rtl="0" algn="l">
              <a:spcBef>
                <a:spcPts val="1600"/>
              </a:spcBef>
              <a:spcAft>
                <a:spcPts val="1600"/>
              </a:spcAft>
              <a:buNone/>
            </a:pPr>
            <a:r>
              <a:rPr lang="en"/>
              <a:t>Using the same blueprint over and over saves a lot of money. Architects are expensive. It would be crazy to create a new blueprint for each and every house. But what if you wanted to change the blueprint slightly... add a bigger garage or change the type of windows? Would you start over from scratch and create a completely new blueprint?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Extending the plan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 course you wouldn't completely throw out your old plan to make small changes. You would simply modify that part of the plan. You would design the new garage and "override" the original design for the garage, but keep all of the rest of the features, leaving the kitchen and bathroom and bedrooms alone.  And if someone else wanted a house with a larger garage like yours, they would be able to use the same blueprint.</a:t>
            </a:r>
            <a:endParaRPr/>
          </a:p>
          <a:p>
            <a:pPr indent="0" lvl="0" marL="0" rtl="0" algn="l">
              <a:spcBef>
                <a:spcPts val="1600"/>
              </a:spcBef>
              <a:spcAft>
                <a:spcPts val="1600"/>
              </a:spcAft>
              <a:buNone/>
            </a:pPr>
            <a:r>
              <a:rPr lang="en"/>
              <a:t>This is what inheritance is all about... extending the concept represented by a Class by adding or changing features, but keeping all the rest of the existing features.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You've seen this already.</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You've already experienced inheritance in Java.</a:t>
            </a:r>
            <a:endParaRPr/>
          </a:p>
          <a:p>
            <a:pPr indent="0" lvl="0" marL="0" rtl="0" algn="l">
              <a:spcBef>
                <a:spcPts val="1600"/>
              </a:spcBef>
              <a:spcAft>
                <a:spcPts val="0"/>
              </a:spcAft>
              <a:buNone/>
            </a:pPr>
            <a:r>
              <a:rPr lang="en"/>
              <a:t>Don't remember?</a:t>
            </a:r>
            <a:endParaRPr/>
          </a:p>
          <a:p>
            <a:pPr indent="0" lvl="0" marL="0" rtl="0" algn="l">
              <a:spcBef>
                <a:spcPts val="1600"/>
              </a:spcBef>
              <a:spcAft>
                <a:spcPts val="1600"/>
              </a:spcAft>
              <a:buNone/>
            </a:pPr>
            <a:r>
              <a:rPr lang="en"/>
              <a:t>Think waaaaay back...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Karl?</a:t>
            </a:r>
            <a:endParaRPr/>
          </a:p>
        </p:txBody>
      </p:sp>
      <p:pic>
        <p:nvPicPr>
          <p:cNvPr id="85" name="Google Shape;85;p18"/>
          <p:cNvPicPr preferRelativeResize="0"/>
          <p:nvPr/>
        </p:nvPicPr>
        <p:blipFill>
          <a:blip r:embed="rId3">
            <a:alphaModFix/>
          </a:blip>
          <a:stretch>
            <a:fillRect/>
          </a:stretch>
        </p:blipFill>
        <p:spPr>
          <a:xfrm>
            <a:off x="3065775" y="827275"/>
            <a:ext cx="3012450" cy="4066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Karl is a Zombie</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Zombie is a Java class. Zombies have just a few capabilities, including moving forward and turning right. We saw that this was enough for Karl to solve many problems, but when Karl evolved into an UltraZombie, he gained many new skills... like turning to the left or to any given direction. </a:t>
            </a:r>
            <a:endParaRPr/>
          </a:p>
          <a:p>
            <a:pPr indent="0" lvl="0" marL="0" rtl="0" algn="l">
              <a:spcBef>
                <a:spcPts val="1600"/>
              </a:spcBef>
              <a:spcAft>
                <a:spcPts val="0"/>
              </a:spcAft>
              <a:buNone/>
            </a:pPr>
            <a:r>
              <a:rPr lang="en"/>
              <a:t>These new skills added to the ones that Zombies already had. Becoming an UltraZombie </a:t>
            </a:r>
            <a:r>
              <a:rPr lang="en">
                <a:solidFill>
                  <a:schemeClr val="lt1"/>
                </a:solidFill>
                <a:highlight>
                  <a:srgbClr val="00FF00"/>
                </a:highlight>
              </a:rPr>
              <a:t>EXTENDED</a:t>
            </a:r>
            <a:r>
              <a:rPr lang="en"/>
              <a:t> the capabilities given to a Zombie. UltraZombies can still move forward and turn right, but they </a:t>
            </a:r>
            <a:r>
              <a:rPr i="1" lang="en"/>
              <a:t>also</a:t>
            </a:r>
            <a:r>
              <a:rPr lang="en"/>
              <a:t> know how to turn left and turn to particular directions.</a:t>
            </a:r>
            <a:endParaRPr/>
          </a:p>
          <a:p>
            <a:pPr indent="0" lvl="0" marL="0" rtl="0" algn="l">
              <a:spcBef>
                <a:spcPts val="1600"/>
              </a:spcBef>
              <a:spcAft>
                <a:spcPts val="1600"/>
              </a:spcAft>
              <a:buNone/>
            </a:pPr>
            <a:r>
              <a:rPr lang="en"/>
              <a:t>Similarly, when you taught Karl to solve the ZombieLand puzzles, you </a:t>
            </a:r>
            <a:r>
              <a:rPr lang="en">
                <a:solidFill>
                  <a:schemeClr val="lt1"/>
                </a:solidFill>
                <a:highlight>
                  <a:srgbClr val="00FF00"/>
                </a:highlight>
              </a:rPr>
              <a:t>EXTENDED</a:t>
            </a:r>
            <a:r>
              <a:rPr lang="en"/>
              <a:t> his capabilities, giving him new skills (his plan and any methods it used).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Karl is a Zombie</a:t>
            </a:r>
            <a:endParaRPr/>
          </a:p>
        </p:txBody>
      </p:sp>
      <p:sp>
        <p:nvSpPr>
          <p:cNvPr id="97" name="Google Shape;97;p20"/>
          <p:cNvSpPr txBox="1"/>
          <p:nvPr>
            <p:ph idx="1" type="body"/>
          </p:nvPr>
        </p:nvSpPr>
        <p:spPr>
          <a:xfrm>
            <a:off x="311700" y="1152475"/>
            <a:ext cx="6863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Greenfoot is designed to take advantage of this kind of inheritance. On the right hand side of the main interface, you can see a Class Diagram, with classes drawn as boxes connected by arrows. The arrows show that one class IS-A or EXTENDS another class. Ie, an UltraZombie IS-A Zombie and a MyZombie IS-A UltraZombie, and all EXTEND the Actor class.</a:t>
            </a:r>
            <a:endParaRPr/>
          </a:p>
          <a:p>
            <a:pPr indent="0" lvl="0" marL="0" rtl="0" algn="l">
              <a:spcBef>
                <a:spcPts val="1600"/>
              </a:spcBef>
              <a:spcAft>
                <a:spcPts val="1600"/>
              </a:spcAft>
              <a:buNone/>
            </a:pPr>
            <a:r>
              <a:rPr lang="en"/>
              <a:t>The Actor class has very few features, Zombie extends it to add data and methods that apply to Zombies. Zombie is the </a:t>
            </a:r>
            <a:r>
              <a:rPr lang="en">
                <a:solidFill>
                  <a:srgbClr val="000000"/>
                </a:solidFill>
                <a:highlight>
                  <a:srgbClr val="00FF00"/>
                </a:highlight>
              </a:rPr>
              <a:t>SUPERCLASS</a:t>
            </a:r>
            <a:r>
              <a:rPr lang="en"/>
              <a:t> for UltraZombie which adds more methods. Finally MyZombie EXTENDS UltraZombie and uses all of the methods supplied by all of these classes to implement Karl's plan.</a:t>
            </a:r>
            <a:endParaRPr/>
          </a:p>
        </p:txBody>
      </p:sp>
      <p:pic>
        <p:nvPicPr>
          <p:cNvPr id="98" name="Google Shape;98;p20"/>
          <p:cNvPicPr preferRelativeResize="0"/>
          <p:nvPr/>
        </p:nvPicPr>
        <p:blipFill>
          <a:blip r:embed="rId3">
            <a:alphaModFix/>
          </a:blip>
          <a:stretch>
            <a:fillRect/>
          </a:stretch>
        </p:blipFill>
        <p:spPr>
          <a:xfrm>
            <a:off x="7174950" y="1152463"/>
            <a:ext cx="1657350" cy="1285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 Magic</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magic that makes this all possible takes place on the first line of the program:</a:t>
            </a:r>
            <a:endParaRPr/>
          </a:p>
          <a:p>
            <a:pPr indent="457200" lvl="0" marL="0" rtl="0" algn="l">
              <a:spcBef>
                <a:spcPts val="1600"/>
              </a:spcBef>
              <a:spcAft>
                <a:spcPts val="0"/>
              </a:spcAft>
              <a:buNone/>
            </a:pPr>
            <a:r>
              <a:rPr lang="en"/>
              <a:t>public class MyZombie</a:t>
            </a:r>
            <a:r>
              <a:rPr b="1" lang="en"/>
              <a:t> extends UltraZombie</a:t>
            </a:r>
            <a:endParaRPr b="1"/>
          </a:p>
          <a:p>
            <a:pPr indent="0" lvl="0" marL="0" rtl="0" algn="l">
              <a:spcBef>
                <a:spcPts val="1600"/>
              </a:spcBef>
              <a:spcAft>
                <a:spcPts val="0"/>
              </a:spcAft>
              <a:buNone/>
            </a:pPr>
            <a:r>
              <a:rPr lang="en"/>
              <a:t>The keyword </a:t>
            </a:r>
            <a:r>
              <a:rPr b="1" lang="en"/>
              <a:t>extends</a:t>
            </a:r>
            <a:r>
              <a:rPr lang="en"/>
              <a:t> means that MyZombie has all the power of an UltraZombie, and then some.</a:t>
            </a:r>
            <a:endParaRPr/>
          </a:p>
          <a:p>
            <a:pPr indent="0" lvl="0" marL="0" rtl="0" algn="l">
              <a:spcBef>
                <a:spcPts val="1600"/>
              </a:spcBef>
              <a:spcAft>
                <a:spcPts val="0"/>
              </a:spcAft>
              <a:buNone/>
            </a:pPr>
            <a:r>
              <a:rPr lang="en"/>
              <a:t>Every time you wrote some code like </a:t>
            </a:r>
            <a:r>
              <a:rPr b="1" lang="en"/>
              <a:t>move()</a:t>
            </a:r>
            <a:r>
              <a:rPr lang="en"/>
              <a:t>, what Java really saw was </a:t>
            </a:r>
            <a:r>
              <a:rPr b="1" lang="en"/>
              <a:t>this.move()</a:t>
            </a:r>
            <a:r>
              <a:rPr lang="en"/>
              <a:t>, using the move method provided by the MyZombie class on Karl. Since your MyZombie class didn't contain a move() method, Java used the one that was passed down (inherited) through the UltraZombie class from the Zombie class. </a:t>
            </a:r>
            <a:endParaRPr/>
          </a:p>
          <a:p>
            <a:pPr indent="0" lvl="0" marL="0" rtl="0" algn="l">
              <a:spcBef>
                <a:spcPts val="1600"/>
              </a:spcBef>
              <a:spcAft>
                <a:spcPts val="1600"/>
              </a:spcAft>
              <a:buNone/>
            </a:pPr>
            <a:r>
              <a:rPr lang="en"/>
              <a:t>By extending UltraZombie, you inherited a pile of methods that Karl could use.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New Example</a:t>
            </a:r>
            <a:endParaRPr/>
          </a:p>
        </p:txBody>
      </p:sp>
      <p:sp>
        <p:nvSpPr>
          <p:cNvPr id="110" name="Google Shape;110;p22"/>
          <p:cNvSpPr txBox="1"/>
          <p:nvPr>
            <p:ph idx="1" type="body"/>
          </p:nvPr>
        </p:nvSpPr>
        <p:spPr>
          <a:xfrm>
            <a:off x="311700" y="1152475"/>
            <a:ext cx="64032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Let's see this in action with a simple example. We'll look at some simple geometry: Rectangles and Squares.</a:t>
            </a:r>
            <a:endParaRPr/>
          </a:p>
          <a:p>
            <a:pPr indent="0" lvl="0" marL="0" rtl="0" algn="l">
              <a:spcBef>
                <a:spcPts val="1600"/>
              </a:spcBef>
              <a:spcAft>
                <a:spcPts val="0"/>
              </a:spcAft>
              <a:buNone/>
            </a:pPr>
            <a:r>
              <a:rPr lang="en"/>
              <a:t>This example is composed of 3 classes: a Main class, a Rectangle class and a Square class. Look at the Square class and the Rectangle class.</a:t>
            </a:r>
            <a:endParaRPr/>
          </a:p>
          <a:p>
            <a:pPr indent="0" lvl="0" marL="0" rtl="0" algn="l">
              <a:spcBef>
                <a:spcPts val="1600"/>
              </a:spcBef>
              <a:spcAft>
                <a:spcPts val="1600"/>
              </a:spcAft>
              <a:buNone/>
            </a:pPr>
            <a:r>
              <a:rPr lang="en"/>
              <a:t>Notice that Square extends Rectangle. Rectangle includes several methods and Square relies on those methods. Square </a:t>
            </a:r>
            <a:r>
              <a:rPr lang="en" u="sng"/>
              <a:t>explicitly</a:t>
            </a:r>
            <a:r>
              <a:rPr lang="en"/>
              <a:t> accesses Rectangle methods using the </a:t>
            </a:r>
            <a:r>
              <a:rPr b="1" lang="en"/>
              <a:t>super</a:t>
            </a:r>
            <a:r>
              <a:rPr lang="en"/>
              <a:t> keyword, including in the constructor. (super isn't technically required in the getSideLength method, you can access any method just by its name if Square doesn't </a:t>
            </a:r>
            <a:r>
              <a:rPr lang="en"/>
              <a:t>have</a:t>
            </a:r>
            <a:r>
              <a:rPr lang="en"/>
              <a:t> a method with the same name).</a:t>
            </a:r>
            <a:endParaRPr/>
          </a:p>
        </p:txBody>
      </p:sp>
      <p:sp>
        <p:nvSpPr>
          <p:cNvPr id="111" name="Google Shape;111;p22">
            <a:hlinkClick r:id="rId3"/>
          </p:cNvPr>
          <p:cNvSpPr/>
          <p:nvPr/>
        </p:nvSpPr>
        <p:spPr>
          <a:xfrm>
            <a:off x="6961050" y="2237725"/>
            <a:ext cx="1871400" cy="12459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VT323"/>
                <a:ea typeface="VT323"/>
                <a:cs typeface="VT323"/>
                <a:sym typeface="VT323"/>
              </a:rPr>
              <a:t>Simple Shapes</a:t>
            </a:r>
            <a:endParaRPr sz="1800">
              <a:latin typeface="VT323"/>
              <a:ea typeface="VT323"/>
              <a:cs typeface="VT323"/>
              <a:sym typeface="VT323"/>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a:hlinkClick r:id="rId3"/>
          </p:cNvPr>
          <p:cNvSpPr/>
          <p:nvPr/>
        </p:nvSpPr>
        <p:spPr>
          <a:xfrm>
            <a:off x="3007750" y="438925"/>
            <a:ext cx="2836800" cy="1042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VT323"/>
                <a:ea typeface="VT323"/>
                <a:cs typeface="VT323"/>
                <a:sym typeface="VT323"/>
              </a:rPr>
              <a:t>Look at this code</a:t>
            </a:r>
            <a:endParaRPr>
              <a:latin typeface="VT323"/>
              <a:ea typeface="VT323"/>
              <a:cs typeface="VT323"/>
              <a:sym typeface="VT323"/>
            </a:endParaRPr>
          </a:p>
        </p:txBody>
      </p:sp>
      <p:sp>
        <p:nvSpPr>
          <p:cNvPr id="117" name="Google Shape;117;p23"/>
          <p:cNvSpPr txBox="1"/>
          <p:nvPr/>
        </p:nvSpPr>
        <p:spPr>
          <a:xfrm>
            <a:off x="2575575" y="1298375"/>
            <a:ext cx="35526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FF00"/>
                </a:solidFill>
                <a:latin typeface="VT323"/>
                <a:ea typeface="VT323"/>
                <a:cs typeface="VT323"/>
                <a:sym typeface="VT323"/>
              </a:rPr>
              <a:t>After the line</a:t>
            </a:r>
            <a:endParaRPr sz="1800">
              <a:solidFill>
                <a:srgbClr val="00FF00"/>
              </a:solidFill>
              <a:latin typeface="VT323"/>
              <a:ea typeface="VT323"/>
              <a:cs typeface="VT323"/>
              <a:sym typeface="VT323"/>
            </a:endParaRPr>
          </a:p>
          <a:p>
            <a:pPr indent="0" lvl="0" marL="0" rtl="0" algn="l">
              <a:spcBef>
                <a:spcPts val="0"/>
              </a:spcBef>
              <a:spcAft>
                <a:spcPts val="0"/>
              </a:spcAft>
              <a:buNone/>
            </a:pPr>
            <a:r>
              <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Square s = new Square(5);</a:t>
            </a:r>
            <a:endParaRPr sz="1800">
              <a:solidFill>
                <a:srgbClr val="00FF00"/>
              </a:solidFill>
              <a:latin typeface="VT323"/>
              <a:ea typeface="VT323"/>
              <a:cs typeface="VT323"/>
              <a:sym typeface="VT323"/>
            </a:endParaRPr>
          </a:p>
          <a:p>
            <a:pPr indent="0" lvl="0" marL="0" rtl="0" algn="l">
              <a:spcBef>
                <a:spcPts val="0"/>
              </a:spcBef>
              <a:spcAft>
                <a:spcPts val="0"/>
              </a:spcAft>
              <a:buNone/>
            </a:pPr>
            <a:r>
              <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Which of the following methods can you use on the Square object?</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s.getSideLength()</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s.getWidth()</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s.getHeight()</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s.getPerimeter()</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s.getArea()</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s.getName()</a:t>
            </a:r>
            <a:endParaRPr sz="1800">
              <a:solidFill>
                <a:srgbClr val="00FF00"/>
              </a:solidFill>
              <a:latin typeface="VT323"/>
              <a:ea typeface="VT323"/>
              <a:cs typeface="VT323"/>
              <a:sym typeface="VT323"/>
            </a:endParaRPr>
          </a:p>
          <a:p>
            <a:pPr indent="0" lvl="0" marL="0" rtl="0" algn="l">
              <a:spcBef>
                <a:spcPts val="0"/>
              </a:spcBef>
              <a:spcAft>
                <a:spcPts val="0"/>
              </a:spcAft>
              <a:buNone/>
            </a:pPr>
            <a:r>
              <a:t/>
            </a:r>
            <a:endParaRPr sz="1800">
              <a:solidFill>
                <a:srgbClr val="00FF00"/>
              </a:solidFill>
              <a:latin typeface="VT323"/>
              <a:ea typeface="VT323"/>
              <a:cs typeface="VT323"/>
              <a:sym typeface="VT323"/>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background</a:t>
            </a:r>
            <a:endParaRPr/>
          </a:p>
        </p:txBody>
      </p:sp>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code (methods) in Java has to be part of a class.</a:t>
            </a:r>
            <a:endParaRPr/>
          </a:p>
          <a:p>
            <a:pPr indent="0" lvl="0" marL="0" rtl="0" algn="l">
              <a:spcBef>
                <a:spcPts val="1600"/>
              </a:spcBef>
              <a:spcAft>
                <a:spcPts val="0"/>
              </a:spcAft>
              <a:buNone/>
            </a:pPr>
            <a:r>
              <a:rPr lang="en"/>
              <a:t>All classes extend </a:t>
            </a:r>
            <a:r>
              <a:rPr b="1" i="1" lang="en"/>
              <a:t>ONE</a:t>
            </a:r>
            <a:r>
              <a:rPr lang="en"/>
              <a:t> other class. No more, no less.</a:t>
            </a:r>
            <a:endParaRPr/>
          </a:p>
          <a:p>
            <a:pPr indent="-342900" lvl="0" marL="457200" rtl="0" algn="l">
              <a:spcBef>
                <a:spcPts val="1600"/>
              </a:spcBef>
              <a:spcAft>
                <a:spcPts val="0"/>
              </a:spcAft>
              <a:buSzPts val="1800"/>
              <a:buChar char="*"/>
            </a:pPr>
            <a:r>
              <a:rPr lang="en"/>
              <a:t>If no </a:t>
            </a:r>
            <a:r>
              <a:rPr b="1" lang="en"/>
              <a:t>extends</a:t>
            </a:r>
            <a:r>
              <a:rPr lang="en"/>
              <a:t> clause is specified, the class extends the </a:t>
            </a:r>
            <a:r>
              <a:rPr b="1" lang="en"/>
              <a:t>Object</a:t>
            </a:r>
            <a:r>
              <a:rPr lang="en"/>
              <a:t> class.</a:t>
            </a:r>
            <a:endParaRPr/>
          </a:p>
          <a:p>
            <a:pPr indent="-342900" lvl="0" marL="457200" rtl="0" algn="l">
              <a:spcBef>
                <a:spcPts val="0"/>
              </a:spcBef>
              <a:spcAft>
                <a:spcPts val="0"/>
              </a:spcAft>
              <a:buSzPts val="1800"/>
              <a:buChar char="*"/>
            </a:pPr>
            <a:r>
              <a:rPr lang="en"/>
              <a:t>All classes descend from Object, Object is a </a:t>
            </a:r>
            <a:r>
              <a:rPr lang="en">
                <a:solidFill>
                  <a:schemeClr val="lt1"/>
                </a:solidFill>
                <a:highlight>
                  <a:srgbClr val="00FF00"/>
                </a:highlight>
              </a:rPr>
              <a:t>superclass</a:t>
            </a:r>
            <a:r>
              <a:rPr lang="en"/>
              <a:t> of all other classes.</a:t>
            </a:r>
            <a:endParaRPr/>
          </a:p>
          <a:p>
            <a:pPr indent="-342900" lvl="0" marL="457200" rtl="0" algn="l">
              <a:spcBef>
                <a:spcPts val="0"/>
              </a:spcBef>
              <a:spcAft>
                <a:spcPts val="0"/>
              </a:spcAft>
              <a:buSzPts val="1800"/>
              <a:buChar char="*"/>
            </a:pPr>
            <a:r>
              <a:rPr lang="en"/>
              <a:t>Through the class </a:t>
            </a:r>
            <a:r>
              <a:rPr lang="en"/>
              <a:t>hierarchy</a:t>
            </a:r>
            <a:r>
              <a:rPr lang="en"/>
              <a:t>, classes can build upon each other, from one to another going back to the ultimate ancestor, the Object class.</a:t>
            </a:r>
            <a:endParaRPr/>
          </a:p>
          <a:p>
            <a:pPr indent="-342900" lvl="1" marL="1371600" rtl="0" algn="l">
              <a:spcBef>
                <a:spcPts val="0"/>
              </a:spcBef>
              <a:spcAft>
                <a:spcPts val="0"/>
              </a:spcAft>
              <a:buSzPts val="1800"/>
              <a:buChar char="-"/>
            </a:pPr>
            <a:r>
              <a:rPr lang="en" sz="1800"/>
              <a:t>Therefore, all classes by default have the features provided by Object... ie the toString() method that prints out ClassType@4F3C56 amongst others</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Implications of Inheritance</a:t>
            </a:r>
            <a:endParaRPr/>
          </a:p>
        </p:txBody>
      </p:sp>
      <p:sp>
        <p:nvSpPr>
          <p:cNvPr id="129" name="Google Shape;129;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subclass gains all of the behavior (methods) and data (instance variables) of the super class </a:t>
            </a:r>
            <a:r>
              <a:rPr i="1" lang="en"/>
              <a:t>and all of its ancestors</a:t>
            </a:r>
            <a:r>
              <a:rPr b="1" i="1" lang="en"/>
              <a:t>.</a:t>
            </a:r>
            <a:endParaRPr b="1" i="1"/>
          </a:p>
          <a:p>
            <a:pPr indent="-342900" lvl="0" marL="457200" rtl="0" algn="l">
              <a:spcBef>
                <a:spcPts val="1600"/>
              </a:spcBef>
              <a:spcAft>
                <a:spcPts val="0"/>
              </a:spcAft>
              <a:buSzPts val="1800"/>
              <a:buChar char="*"/>
            </a:pPr>
            <a:r>
              <a:rPr lang="en"/>
              <a:t>Subclasses only have direct access to public or protected members. No direct access to private members.</a:t>
            </a:r>
            <a:endParaRPr/>
          </a:p>
          <a:p>
            <a:pPr indent="-342900" lvl="0" marL="457200" rtl="0" algn="l">
              <a:spcBef>
                <a:spcPts val="0"/>
              </a:spcBef>
              <a:spcAft>
                <a:spcPts val="0"/>
              </a:spcAft>
              <a:buSzPts val="1800"/>
              <a:buChar char="*"/>
            </a:pPr>
            <a:r>
              <a:rPr lang="en"/>
              <a:t>Subclasses can add new fields and new methods and override existing methods</a:t>
            </a:r>
            <a:endParaRPr/>
          </a:p>
          <a:p>
            <a:pPr indent="-342900" lvl="0" marL="457200" rtl="0" algn="l">
              <a:spcBef>
                <a:spcPts val="0"/>
              </a:spcBef>
              <a:spcAft>
                <a:spcPts val="0"/>
              </a:spcAft>
              <a:buSzPts val="1800"/>
              <a:buChar char="*"/>
            </a:pPr>
            <a:r>
              <a:rPr lang="en"/>
              <a:t>Subclasses cannot remove fields or members or change them from public to private (this would be like removing them).</a:t>
            </a:r>
            <a:endParaRPr/>
          </a:p>
          <a:p>
            <a:pPr indent="-342900" lvl="0" marL="457200" rtl="0" algn="l">
              <a:spcBef>
                <a:spcPts val="0"/>
              </a:spcBef>
              <a:spcAft>
                <a:spcPts val="0"/>
              </a:spcAft>
              <a:buSzPts val="1800"/>
              <a:buChar char="*"/>
            </a:pPr>
            <a:r>
              <a:rPr lang="en"/>
              <a:t>When a subclass is instantiated, its constructor can set up its own instance variables, but it can't set up the private members from its ancestors itself.</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Constructors</a:t>
            </a:r>
            <a:endParaRPr/>
          </a:p>
        </p:txBody>
      </p:sp>
      <p:sp>
        <p:nvSpPr>
          <p:cNvPr id="135" name="Google Shape;135;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Constructors are a special case when it comes to inheritance in Java</a:t>
            </a:r>
            <a:endParaRPr/>
          </a:p>
          <a:p>
            <a:pPr indent="-342900" lvl="0" marL="457200" rtl="0" algn="l">
              <a:spcBef>
                <a:spcPts val="1600"/>
              </a:spcBef>
              <a:spcAft>
                <a:spcPts val="0"/>
              </a:spcAft>
              <a:buSzPts val="1800"/>
              <a:buChar char="*"/>
            </a:pPr>
            <a:r>
              <a:rPr lang="en"/>
              <a:t>Classes do not inherit the constructor of their parent. If one is needed it must be specified.</a:t>
            </a:r>
            <a:endParaRPr/>
          </a:p>
          <a:p>
            <a:pPr indent="-342900" lvl="1" marL="914400" rtl="0" algn="l">
              <a:spcBef>
                <a:spcPts val="0"/>
              </a:spcBef>
              <a:spcAft>
                <a:spcPts val="0"/>
              </a:spcAft>
              <a:buSzPts val="1800"/>
              <a:buChar char="-"/>
            </a:pPr>
            <a:r>
              <a:rPr lang="en" sz="1800"/>
              <a:t>Exception: if no constructor is provided </a:t>
            </a:r>
            <a:r>
              <a:rPr b="1" lang="en" sz="1800"/>
              <a:t>and</a:t>
            </a:r>
            <a:r>
              <a:rPr lang="en" sz="1800"/>
              <a:t> the parent class has a default (or no constructor), that constructor will be used.</a:t>
            </a:r>
            <a:endParaRPr sz="1800"/>
          </a:p>
          <a:p>
            <a:pPr indent="-342900" lvl="0" marL="457200" rtl="0" algn="l">
              <a:spcBef>
                <a:spcPts val="0"/>
              </a:spcBef>
              <a:spcAft>
                <a:spcPts val="0"/>
              </a:spcAft>
              <a:buSzPts val="1800"/>
              <a:buChar char="*"/>
            </a:pPr>
            <a:r>
              <a:rPr lang="en"/>
              <a:t>Constructors in a subclass can call the parent class using the </a:t>
            </a:r>
            <a:r>
              <a:rPr lang="en">
                <a:solidFill>
                  <a:schemeClr val="lt1"/>
                </a:solidFill>
                <a:highlight>
                  <a:srgbClr val="00FF00"/>
                </a:highlight>
              </a:rPr>
              <a:t>super</a:t>
            </a:r>
            <a:r>
              <a:rPr lang="en"/>
              <a:t> keyword.</a:t>
            </a:r>
            <a:endParaRPr/>
          </a:p>
          <a:p>
            <a:pPr indent="-342900" lvl="1" marL="914400" rtl="0" algn="l">
              <a:spcBef>
                <a:spcPts val="0"/>
              </a:spcBef>
              <a:spcAft>
                <a:spcPts val="0"/>
              </a:spcAft>
              <a:buSzPts val="1800"/>
              <a:buChar char="-"/>
            </a:pPr>
            <a:r>
              <a:rPr lang="en" sz="1800"/>
              <a:t>The call to super </a:t>
            </a:r>
            <a:r>
              <a:rPr b="1" i="1" lang="en" sz="1800"/>
              <a:t>must</a:t>
            </a:r>
            <a:r>
              <a:rPr lang="en" sz="1800"/>
              <a:t> be the first (non-comment) line in the </a:t>
            </a:r>
            <a:r>
              <a:rPr lang="en" sz="1800"/>
              <a:t>subclass</a:t>
            </a:r>
            <a:r>
              <a:rPr lang="en" sz="1800"/>
              <a:t> constructor</a:t>
            </a:r>
            <a:endParaRPr sz="1800"/>
          </a:p>
          <a:p>
            <a:pPr indent="-342900" lvl="1" marL="914400" rtl="0" algn="l">
              <a:spcBef>
                <a:spcPts val="0"/>
              </a:spcBef>
              <a:spcAft>
                <a:spcPts val="0"/>
              </a:spcAft>
              <a:buSzPts val="1800"/>
              <a:buChar char="-"/>
            </a:pPr>
            <a:r>
              <a:rPr lang="en" sz="1800"/>
              <a:t>If no call to super is made, the default constructor of the parent class is called before the child constructor begins.</a:t>
            </a:r>
            <a:endParaRPr sz="1800"/>
          </a:p>
          <a:p>
            <a:pPr indent="-342900" lvl="1" marL="914400" rtl="0" algn="l">
              <a:spcBef>
                <a:spcPts val="0"/>
              </a:spcBef>
              <a:spcAft>
                <a:spcPts val="0"/>
              </a:spcAft>
              <a:buSzPts val="1800"/>
              <a:buChar char="-"/>
            </a:pPr>
            <a:r>
              <a:rPr lang="en" sz="1800"/>
              <a:t>You cannot call both super() and this(), you have to choose one.</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Overriding methods</a:t>
            </a:r>
            <a:endParaRPr/>
          </a:p>
        </p:txBody>
      </p:sp>
      <p:sp>
        <p:nvSpPr>
          <p:cNvPr id="141" name="Google Shape;14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 method that is not marked as final can be overridden by a descendant class</a:t>
            </a:r>
            <a:endParaRPr/>
          </a:p>
          <a:p>
            <a:pPr indent="0" lvl="0" marL="0" rtl="0" algn="l">
              <a:spcBef>
                <a:spcPts val="1600"/>
              </a:spcBef>
              <a:spcAft>
                <a:spcPts val="0"/>
              </a:spcAft>
              <a:buNone/>
            </a:pPr>
            <a:r>
              <a:rPr lang="en"/>
              <a:t>Overriding requires the same signature as the ancestor. Using different parameters would be overloading, not overriding. Use </a:t>
            </a:r>
            <a:r>
              <a:rPr b="1" lang="en"/>
              <a:t>@Override</a:t>
            </a:r>
            <a:r>
              <a:rPr lang="en"/>
              <a:t> tag before the method to have Java check that you are doing what you want.</a:t>
            </a:r>
            <a:endParaRPr/>
          </a:p>
          <a:p>
            <a:pPr indent="0" lvl="0" marL="0" rtl="0" algn="l">
              <a:spcBef>
                <a:spcPts val="1600"/>
              </a:spcBef>
              <a:spcAft>
                <a:spcPts val="0"/>
              </a:spcAft>
              <a:buNone/>
            </a:pPr>
            <a:r>
              <a:rPr lang="en"/>
              <a:t>O</a:t>
            </a:r>
            <a:r>
              <a:rPr lang="en"/>
              <a:t>verriding a method replaces the behavior inherited from the parent class</a:t>
            </a:r>
            <a:endParaRPr/>
          </a:p>
          <a:p>
            <a:pPr indent="-342900" lvl="0" marL="457200" rtl="0" algn="l">
              <a:spcBef>
                <a:spcPts val="1600"/>
              </a:spcBef>
              <a:spcAft>
                <a:spcPts val="0"/>
              </a:spcAft>
              <a:buSzPts val="1800"/>
              <a:buChar char="*"/>
            </a:pPr>
            <a:r>
              <a:rPr lang="en"/>
              <a:t>Can augment (add to) the parent's behavior instead of completely overriding it with the </a:t>
            </a:r>
            <a:r>
              <a:rPr b="1" lang="en"/>
              <a:t>super </a:t>
            </a:r>
            <a:r>
              <a:rPr lang="en"/>
              <a:t>keyword. This is known as partial overriding.</a:t>
            </a:r>
            <a:endParaRPr/>
          </a:p>
          <a:p>
            <a:pPr indent="-342900" lvl="1" marL="914400" rtl="0" algn="l">
              <a:spcBef>
                <a:spcPts val="0"/>
              </a:spcBef>
              <a:spcAft>
                <a:spcPts val="0"/>
              </a:spcAft>
              <a:buSzPts val="1800"/>
              <a:buChar char="-"/>
            </a:pPr>
            <a:r>
              <a:rPr lang="en" sz="1800"/>
              <a:t>Call super.methodName(...)</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super keyword</a:t>
            </a:r>
            <a:endParaRPr/>
          </a:p>
        </p:txBody>
      </p:sp>
      <p:sp>
        <p:nvSpPr>
          <p:cNvPr id="147" name="Google Shape;147;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Super </a:t>
            </a:r>
            <a:r>
              <a:rPr lang="en"/>
              <a:t>is used to access something (a field or method) from the superclass that has been overridden.</a:t>
            </a:r>
            <a:endParaRPr/>
          </a:p>
          <a:p>
            <a:pPr indent="-342900" lvl="0" marL="457200" rtl="0" algn="l">
              <a:spcBef>
                <a:spcPts val="1600"/>
              </a:spcBef>
              <a:spcAft>
                <a:spcPts val="0"/>
              </a:spcAft>
              <a:buSzPts val="1800"/>
              <a:buChar char="*"/>
            </a:pPr>
            <a:r>
              <a:rPr lang="en"/>
              <a:t>Think of how you use </a:t>
            </a:r>
            <a:r>
              <a:rPr b="1" lang="en"/>
              <a:t>this</a:t>
            </a:r>
            <a:r>
              <a:rPr lang="en"/>
              <a:t> to access fields that have the same name as parameters.</a:t>
            </a:r>
            <a:endParaRPr/>
          </a:p>
          <a:p>
            <a:pPr indent="-342900" lvl="0" marL="457200" rtl="0" algn="l">
              <a:spcBef>
                <a:spcPts val="0"/>
              </a:spcBef>
              <a:spcAft>
                <a:spcPts val="0"/>
              </a:spcAft>
              <a:buSzPts val="1800"/>
              <a:buChar char="*"/>
            </a:pPr>
            <a:r>
              <a:rPr lang="en"/>
              <a:t>The square class uses super to access the Rectangle's constructor.</a:t>
            </a:r>
            <a:endParaRPr/>
          </a:p>
          <a:p>
            <a:pPr indent="-342900" lvl="0" marL="457200" rtl="0" algn="l">
              <a:spcBef>
                <a:spcPts val="0"/>
              </a:spcBef>
              <a:spcAft>
                <a:spcPts val="0"/>
              </a:spcAft>
              <a:buSzPts val="1800"/>
              <a:buChar char="*"/>
            </a:pPr>
            <a:r>
              <a:rPr lang="en"/>
              <a:t>Java does not allow nested supers</a:t>
            </a:r>
            <a:endParaRPr/>
          </a:p>
          <a:p>
            <a:pPr indent="-342900" lvl="1" marL="1371600" rtl="0" algn="l">
              <a:spcBef>
                <a:spcPts val="0"/>
              </a:spcBef>
              <a:spcAft>
                <a:spcPts val="0"/>
              </a:spcAft>
              <a:buSzPts val="1800"/>
              <a:buChar char="-"/>
            </a:pPr>
            <a:r>
              <a:rPr lang="en" sz="1800"/>
              <a:t>super.super() is not allowed.</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classes</a:t>
            </a:r>
            <a:endParaRPr/>
          </a:p>
        </p:txBody>
      </p:sp>
      <p:sp>
        <p:nvSpPr>
          <p:cNvPr id="153" name="Google Shape;153;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abstract class is used to describe some behaviors of a type, but it cannot be instantiated. This is often used for a generic type where some behaviors are common amongst all of the subclasses. The shared behaviors are defined as methods in the class, and inherited by the subclasses.</a:t>
            </a:r>
            <a:endParaRPr/>
          </a:p>
          <a:p>
            <a:pPr indent="0" lvl="0" marL="0" rtl="0" algn="l">
              <a:spcBef>
                <a:spcPts val="1600"/>
              </a:spcBef>
              <a:spcAft>
                <a:spcPts val="0"/>
              </a:spcAft>
              <a:buNone/>
            </a:pPr>
            <a:r>
              <a:rPr lang="en"/>
              <a:t>Abstract classes can also contain abstract methods. Abstract methods specify a method signature but no code. Subclasses will then implement the behavior as they require. If a method is marked as abstract, it's class must be abstract.</a:t>
            </a:r>
            <a:endParaRPr/>
          </a:p>
          <a:p>
            <a:pPr indent="457200" lvl="0" marL="0" rtl="0" algn="l">
              <a:spcBef>
                <a:spcPts val="1600"/>
              </a:spcBef>
              <a:spcAft>
                <a:spcPts val="0"/>
              </a:spcAft>
              <a:buNone/>
            </a:pPr>
            <a:r>
              <a:rPr lang="en"/>
              <a:t>public abstract class Shape {</a:t>
            </a:r>
            <a:endParaRPr/>
          </a:p>
          <a:p>
            <a:pPr indent="457200" lvl="0" marL="0" rtl="0" algn="l">
              <a:spcBef>
                <a:spcPts val="0"/>
              </a:spcBef>
              <a:spcAft>
                <a:spcPts val="0"/>
              </a:spcAft>
              <a:buNone/>
            </a:pPr>
            <a:r>
              <a:rPr lang="en"/>
              <a:t>	public abstract double getArea(); 	// All shapes have area, but it is calculated </a:t>
            </a:r>
            <a:endParaRPr/>
          </a:p>
          <a:p>
            <a:pPr indent="457200" lvl="0" marL="0" rtl="0" algn="l">
              <a:spcBef>
                <a:spcPts val="0"/>
              </a:spcBef>
              <a:spcAft>
                <a:spcPts val="0"/>
              </a:spcAft>
              <a:buNone/>
            </a:pPr>
            <a:r>
              <a:rPr lang="en"/>
              <a:t>}								// </a:t>
            </a:r>
            <a:r>
              <a:rPr lang="en"/>
              <a:t>differently</a:t>
            </a:r>
            <a:endParaRPr/>
          </a:p>
          <a:p>
            <a:pPr indent="0" lvl="0" marL="0" rtl="0" algn="l">
              <a:spcBef>
                <a:spcPts val="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Shapes Framework</a:t>
            </a:r>
            <a:endParaRPr/>
          </a:p>
        </p:txBody>
      </p:sp>
      <p:sp>
        <p:nvSpPr>
          <p:cNvPr id="159" name="Google Shape;159;p30"/>
          <p:cNvSpPr txBox="1"/>
          <p:nvPr>
            <p:ph idx="1" type="body"/>
          </p:nvPr>
        </p:nvSpPr>
        <p:spPr>
          <a:xfrm>
            <a:off x="311700" y="1152475"/>
            <a:ext cx="6649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an example family of classes that build on an abstract Shape class.</a:t>
            </a:r>
            <a:endParaRPr/>
          </a:p>
          <a:p>
            <a:pPr indent="0" lvl="0" marL="0" rtl="0" algn="l">
              <a:spcBef>
                <a:spcPts val="1600"/>
              </a:spcBef>
              <a:spcAft>
                <a:spcPts val="0"/>
              </a:spcAft>
              <a:buNone/>
            </a:pPr>
            <a:r>
              <a:rPr lang="en"/>
              <a:t>Notice the base Shape class, declaring that all Shapes have a name, and an area.</a:t>
            </a:r>
            <a:endParaRPr/>
          </a:p>
          <a:p>
            <a:pPr indent="0" lvl="0" marL="0" rtl="0" algn="l">
              <a:spcBef>
                <a:spcPts val="1600"/>
              </a:spcBef>
              <a:spcAft>
                <a:spcPts val="1600"/>
              </a:spcAft>
              <a:buNone/>
            </a:pPr>
            <a:r>
              <a:rPr lang="en"/>
              <a:t>All of the shapes that descend from the Shape class add features to it that are unique to each.</a:t>
            </a:r>
            <a:endParaRPr/>
          </a:p>
        </p:txBody>
      </p:sp>
      <p:sp>
        <p:nvSpPr>
          <p:cNvPr id="160" name="Google Shape;160;p30">
            <a:hlinkClick r:id="rId3"/>
          </p:cNvPr>
          <p:cNvSpPr/>
          <p:nvPr/>
        </p:nvSpPr>
        <p:spPr>
          <a:xfrm>
            <a:off x="6960900" y="3368900"/>
            <a:ext cx="1871400" cy="12459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VT323"/>
                <a:ea typeface="VT323"/>
                <a:cs typeface="VT323"/>
                <a:sym typeface="VT323"/>
              </a:rPr>
              <a:t>Shapes</a:t>
            </a:r>
            <a:endParaRPr sz="1800">
              <a:latin typeface="VT323"/>
              <a:ea typeface="VT323"/>
              <a:cs typeface="VT323"/>
              <a:sym typeface="VT323"/>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Inheritance and Assignment</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feature that inheritance allows is assignment to superclass types. You've seen this:</a:t>
            </a:r>
            <a:endParaRPr/>
          </a:p>
          <a:p>
            <a:pPr indent="0" lvl="0" marL="0" rtl="0" algn="l">
              <a:spcBef>
                <a:spcPts val="1600"/>
              </a:spcBef>
              <a:spcAft>
                <a:spcPts val="0"/>
              </a:spcAft>
              <a:buNone/>
            </a:pPr>
            <a:r>
              <a:rPr lang="en"/>
              <a:t>	List&lt;t&gt; myList = new ArrayList&lt;t&gt;();</a:t>
            </a:r>
            <a:endParaRPr/>
          </a:p>
          <a:p>
            <a:pPr indent="0" lvl="0" marL="0" rtl="0" algn="l">
              <a:spcBef>
                <a:spcPts val="1600"/>
              </a:spcBef>
              <a:spcAft>
                <a:spcPts val="0"/>
              </a:spcAft>
              <a:buNone/>
            </a:pPr>
            <a:r>
              <a:rPr lang="en"/>
              <a:t>	Actor player = new Ghost();</a:t>
            </a:r>
            <a:endParaRPr/>
          </a:p>
          <a:p>
            <a:pPr indent="0" lvl="0" marL="0" rtl="0" algn="l">
              <a:spcBef>
                <a:spcPts val="1600"/>
              </a:spcBef>
              <a:spcAft>
                <a:spcPts val="0"/>
              </a:spcAft>
              <a:buNone/>
            </a:pPr>
            <a:r>
              <a:rPr lang="en"/>
              <a:t>Some more examples:</a:t>
            </a:r>
            <a:endParaRPr/>
          </a:p>
          <a:p>
            <a:pPr indent="0" lvl="0" marL="0" rtl="0" algn="l">
              <a:spcBef>
                <a:spcPts val="1600"/>
              </a:spcBef>
              <a:spcAft>
                <a:spcPts val="0"/>
              </a:spcAft>
              <a:buNone/>
            </a:pPr>
            <a:r>
              <a:rPr lang="en"/>
              <a:t>	Rectangle r = new Square(15);</a:t>
            </a:r>
            <a:endParaRPr/>
          </a:p>
          <a:p>
            <a:pPr indent="0" lvl="0" marL="0" rtl="0" algn="l">
              <a:spcBef>
                <a:spcPts val="0"/>
              </a:spcBef>
              <a:spcAft>
                <a:spcPts val="0"/>
              </a:spcAft>
              <a:buNone/>
            </a:pPr>
            <a:r>
              <a:rPr lang="en"/>
              <a:t>	Shape s = 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Inheritance and Assignment</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Rectangle r = new Square(15);</a:t>
            </a:r>
            <a:endParaRPr/>
          </a:p>
          <a:p>
            <a:pPr indent="0" lvl="0" marL="0" rtl="0" algn="l">
              <a:spcBef>
                <a:spcPts val="0"/>
              </a:spcBef>
              <a:spcAft>
                <a:spcPts val="0"/>
              </a:spcAft>
              <a:buNone/>
            </a:pPr>
            <a:r>
              <a:rPr lang="en"/>
              <a:t>	Shape s = 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Assignment like this limits what you can do with the object. You cannot use Square methods on s unless they are provided by the Shape class.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Inheritance and Assignment</a:t>
            </a:r>
            <a:endParaRPr/>
          </a:p>
        </p:txBody>
      </p:sp>
      <p:sp>
        <p:nvSpPr>
          <p:cNvPr id="178" name="Google Shape;178;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Rectangle r = new Square(15);</a:t>
            </a:r>
            <a:endParaRPr/>
          </a:p>
          <a:p>
            <a:pPr indent="0" lvl="0" marL="0" rtl="0" algn="l">
              <a:spcBef>
                <a:spcPts val="0"/>
              </a:spcBef>
              <a:spcAft>
                <a:spcPts val="0"/>
              </a:spcAft>
              <a:buNone/>
            </a:pPr>
            <a:r>
              <a:rPr lang="en"/>
              <a:t>	Shape s = r;</a:t>
            </a:r>
            <a:endParaRPr/>
          </a:p>
          <a:p>
            <a:pPr indent="0" lvl="0" marL="0" rtl="0" algn="l">
              <a:spcBef>
                <a:spcPts val="1600"/>
              </a:spcBef>
              <a:spcAft>
                <a:spcPts val="0"/>
              </a:spcAft>
              <a:buNone/>
            </a:pPr>
            <a:r>
              <a:rPr lang="en"/>
              <a:t>Assignment only works in one direction, subclass assigned to superclass. The following won't compile:</a:t>
            </a:r>
            <a:endParaRPr/>
          </a:p>
          <a:p>
            <a:pPr indent="0" lvl="0" marL="0" rtl="0" algn="l">
              <a:spcBef>
                <a:spcPts val="1600"/>
              </a:spcBef>
              <a:spcAft>
                <a:spcPts val="0"/>
              </a:spcAft>
              <a:buNone/>
            </a:pPr>
            <a:r>
              <a:rPr lang="en"/>
              <a:t>	</a:t>
            </a:r>
            <a:r>
              <a:rPr lang="en"/>
              <a:t>Square sq = new Rectangle(5, 6);</a:t>
            </a:r>
            <a:r>
              <a:rPr lang="en"/>
              <a:t> 	// All squares are rectangles, but not all </a:t>
            </a:r>
            <a:endParaRPr/>
          </a:p>
          <a:p>
            <a:pPr indent="457200" lvl="0" marL="3200400" rtl="0" algn="l">
              <a:spcBef>
                <a:spcPts val="0"/>
              </a:spcBef>
              <a:spcAft>
                <a:spcPts val="1600"/>
              </a:spcAft>
              <a:buNone/>
            </a:pPr>
            <a:r>
              <a:rPr lang="en"/>
              <a:t>// rectangles are squares.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Inheritance and Assignment</a:t>
            </a:r>
            <a:endParaRPr/>
          </a:p>
        </p:txBody>
      </p:sp>
      <p:sp>
        <p:nvSpPr>
          <p:cNvPr id="184" name="Google Shape;184;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know that a superclass variable is a subclass type, you can force the assignment with a cast.</a:t>
            </a:r>
            <a:endParaRPr/>
          </a:p>
          <a:p>
            <a:pPr indent="0" lvl="0" marL="0" rtl="0" algn="l">
              <a:spcBef>
                <a:spcPts val="1600"/>
              </a:spcBef>
              <a:spcAft>
                <a:spcPts val="0"/>
              </a:spcAft>
              <a:buNone/>
            </a:pPr>
            <a:r>
              <a:rPr lang="en"/>
              <a:t>	Rectangle r = new Square(15);</a:t>
            </a:r>
            <a:endParaRPr/>
          </a:p>
          <a:p>
            <a:pPr indent="0" lvl="0" marL="0" rtl="0" algn="l">
              <a:spcBef>
                <a:spcPts val="0"/>
              </a:spcBef>
              <a:spcAft>
                <a:spcPts val="0"/>
              </a:spcAft>
              <a:buNone/>
            </a:pPr>
            <a:r>
              <a:rPr lang="en"/>
              <a:t>	Shape s = r;</a:t>
            </a:r>
            <a:endParaRPr/>
          </a:p>
          <a:p>
            <a:pPr indent="0" lvl="0" marL="0" rtl="0" algn="l">
              <a:spcBef>
                <a:spcPts val="0"/>
              </a:spcBef>
              <a:spcAft>
                <a:spcPts val="0"/>
              </a:spcAft>
              <a:buNone/>
            </a:pPr>
            <a:r>
              <a:rPr lang="en"/>
              <a:t>	Square sq = (Square)s;</a:t>
            </a:r>
            <a:endParaRPr/>
          </a:p>
          <a:p>
            <a:pPr indent="0" lvl="0" marL="0" rtl="0" algn="l">
              <a:spcBef>
                <a:spcPts val="1600"/>
              </a:spcBef>
              <a:spcAft>
                <a:spcPts val="0"/>
              </a:spcAft>
              <a:buNone/>
            </a:pPr>
            <a:r>
              <a:rPr lang="en"/>
              <a:t>However, if the object you are casting is not of the correct type, you get a ClassCastException.</a:t>
            </a:r>
            <a:endParaRPr/>
          </a:p>
          <a:p>
            <a:pPr indent="0" lvl="0" marL="0" rtl="0" algn="l">
              <a:spcBef>
                <a:spcPts val="1600"/>
              </a:spcBef>
              <a:spcAft>
                <a:spcPts val="0"/>
              </a:spcAft>
              <a:buNone/>
            </a:pPr>
            <a:r>
              <a:rPr lang="en"/>
              <a:t>	Rectangle r = </a:t>
            </a:r>
            <a:r>
              <a:rPr lang="en"/>
              <a:t>new Rectangle(5, 6);</a:t>
            </a:r>
            <a:endParaRPr/>
          </a:p>
          <a:p>
            <a:pPr indent="0" lvl="0" marL="0" rtl="0" algn="l">
              <a:spcBef>
                <a:spcPts val="0"/>
              </a:spcBef>
              <a:spcAft>
                <a:spcPts val="0"/>
              </a:spcAft>
              <a:buNone/>
            </a:pPr>
            <a:r>
              <a:rPr lang="en"/>
              <a:t>	</a:t>
            </a:r>
            <a:r>
              <a:rPr lang="en"/>
              <a:t>Square sq = (Square)r;				// That's a runtime error</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a:hlinkClick r:id="rId3"/>
          </p:cNvPr>
          <p:cNvSpPr/>
          <p:nvPr/>
        </p:nvSpPr>
        <p:spPr>
          <a:xfrm>
            <a:off x="3366175" y="514450"/>
            <a:ext cx="2622900" cy="11775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VT323"/>
                <a:ea typeface="VT323"/>
                <a:cs typeface="VT323"/>
                <a:sym typeface="VT323"/>
              </a:rPr>
              <a:t>Look at the code</a:t>
            </a:r>
            <a:endParaRPr>
              <a:latin typeface="VT323"/>
              <a:ea typeface="VT323"/>
              <a:cs typeface="VT323"/>
              <a:sym typeface="VT323"/>
            </a:endParaRPr>
          </a:p>
        </p:txBody>
      </p:sp>
      <p:sp>
        <p:nvSpPr>
          <p:cNvPr id="190" name="Google Shape;190;p35"/>
          <p:cNvSpPr txBox="1"/>
          <p:nvPr/>
        </p:nvSpPr>
        <p:spPr>
          <a:xfrm>
            <a:off x="244025" y="1282948"/>
            <a:ext cx="81585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FF00"/>
                </a:solidFill>
                <a:latin typeface="VT323"/>
                <a:ea typeface="VT323"/>
                <a:cs typeface="VT323"/>
                <a:sym typeface="VT323"/>
              </a:rPr>
              <a:t>After the following code:</a:t>
            </a:r>
            <a:endParaRPr sz="1800">
              <a:solidFill>
                <a:srgbClr val="00FF00"/>
              </a:solidFill>
              <a:latin typeface="VT323"/>
              <a:ea typeface="VT323"/>
              <a:cs typeface="VT323"/>
              <a:sym typeface="VT323"/>
            </a:endParaRPr>
          </a:p>
          <a:p>
            <a:pPr indent="0" lvl="0" marL="0" rtl="0" algn="l">
              <a:spcBef>
                <a:spcPts val="0"/>
              </a:spcBef>
              <a:spcAft>
                <a:spcPts val="0"/>
              </a:spcAft>
              <a:buNone/>
            </a:pPr>
            <a:r>
              <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Shape s = new Rectangle(15);</a:t>
            </a:r>
            <a:endParaRPr sz="1800">
              <a:solidFill>
                <a:srgbClr val="00FF00"/>
              </a:solidFill>
              <a:latin typeface="VT323"/>
              <a:ea typeface="VT323"/>
              <a:cs typeface="VT323"/>
              <a:sym typeface="VT323"/>
            </a:endParaRPr>
          </a:p>
          <a:p>
            <a:pPr indent="0" lvl="0" marL="0" rtl="0" algn="l">
              <a:spcBef>
                <a:spcPts val="0"/>
              </a:spcBef>
              <a:spcAft>
                <a:spcPts val="0"/>
              </a:spcAft>
              <a:buNone/>
            </a:pPr>
            <a:r>
              <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Which of the following can you do with the shape object s? (select one or more)</a:t>
            </a:r>
            <a:endParaRPr sz="1800">
              <a:solidFill>
                <a:srgbClr val="00FF00"/>
              </a:solidFill>
              <a:latin typeface="VT323"/>
              <a:ea typeface="VT323"/>
              <a:cs typeface="VT323"/>
              <a:sym typeface="VT323"/>
            </a:endParaRPr>
          </a:p>
          <a:p>
            <a:pPr indent="0" lvl="0" marL="0" rtl="0" algn="l">
              <a:spcBef>
                <a:spcPts val="0"/>
              </a:spcBef>
              <a:spcAft>
                <a:spcPts val="0"/>
              </a:spcAft>
              <a:buNone/>
            </a:pPr>
            <a:r>
              <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s.getHeight()</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s.getWidth()</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 s.toString()</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 s.setName()</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 s.getName()</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 s.getArea()</a:t>
            </a:r>
            <a:endParaRPr sz="1800">
              <a:solidFill>
                <a:srgbClr val="00FF00"/>
              </a:solidFill>
              <a:latin typeface="VT323"/>
              <a:ea typeface="VT323"/>
              <a:cs typeface="VT323"/>
              <a:sym typeface="VT323"/>
            </a:endParaRPr>
          </a:p>
          <a:p>
            <a:pPr indent="0" lvl="0" marL="0" rtl="0" algn="l">
              <a:spcBef>
                <a:spcPts val="0"/>
              </a:spcBef>
              <a:spcAft>
                <a:spcPts val="0"/>
              </a:spcAft>
              <a:buNone/>
            </a:pPr>
            <a:r>
              <a:rPr lang="en" sz="1800">
                <a:solidFill>
                  <a:srgbClr val="00FF00"/>
                </a:solidFill>
                <a:latin typeface="VT323"/>
                <a:ea typeface="VT323"/>
                <a:cs typeface="VT323"/>
                <a:sym typeface="VT323"/>
              </a:rPr>
              <a:t>s.getSideLength()</a:t>
            </a:r>
            <a:endParaRPr sz="1800">
              <a:solidFill>
                <a:srgbClr val="00FF00"/>
              </a:solidFill>
              <a:latin typeface="VT323"/>
              <a:ea typeface="VT323"/>
              <a:cs typeface="VT323"/>
              <a:sym typeface="VT323"/>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Polymorphism</a:t>
            </a:r>
            <a:endParaRPr/>
          </a:p>
        </p:txBody>
      </p:sp>
      <p:sp>
        <p:nvSpPr>
          <p:cNvPr id="196" name="Google Shape;196;p36"/>
          <p:cNvSpPr txBox="1"/>
          <p:nvPr>
            <p:ph idx="1" type="body"/>
          </p:nvPr>
        </p:nvSpPr>
        <p:spPr>
          <a:xfrm>
            <a:off x="311700" y="1152475"/>
            <a:ext cx="3850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Assignment to a parent class, along with overridden methods can cause some confusion.</a:t>
            </a:r>
            <a:endParaRPr/>
          </a:p>
          <a:p>
            <a:pPr indent="0" lvl="0" marL="0" rtl="0" algn="l">
              <a:spcBef>
                <a:spcPts val="1600"/>
              </a:spcBef>
              <a:spcAft>
                <a:spcPts val="1600"/>
              </a:spcAft>
              <a:buNone/>
            </a:pPr>
            <a:r>
              <a:rPr lang="en"/>
              <a:t>In this animal project, Animal has an abstract method talk, that each subclass implements. The main method instantiates each type of animal. Calling talk() on the variable calls the talk method of the correct subclass, even though they are all Animals.</a:t>
            </a:r>
            <a:endParaRPr/>
          </a:p>
        </p:txBody>
      </p:sp>
      <p:pic>
        <p:nvPicPr>
          <p:cNvPr id="197" name="Google Shape;197;p36"/>
          <p:cNvPicPr preferRelativeResize="0"/>
          <p:nvPr/>
        </p:nvPicPr>
        <p:blipFill>
          <a:blip r:embed="rId3">
            <a:alphaModFix/>
          </a:blip>
          <a:stretch>
            <a:fillRect/>
          </a:stretch>
        </p:blipFill>
        <p:spPr>
          <a:xfrm>
            <a:off x="4681796" y="1152475"/>
            <a:ext cx="4150500" cy="2413850"/>
          </a:xfrm>
          <a:prstGeom prst="rect">
            <a:avLst/>
          </a:prstGeom>
          <a:noFill/>
          <a:ln>
            <a:noFill/>
          </a:ln>
        </p:spPr>
      </p:pic>
      <p:sp>
        <p:nvSpPr>
          <p:cNvPr id="198" name="Google Shape;198;p36">
            <a:hlinkClick r:id="rId4"/>
          </p:cNvPr>
          <p:cNvSpPr/>
          <p:nvPr/>
        </p:nvSpPr>
        <p:spPr>
          <a:xfrm>
            <a:off x="5664150" y="3701075"/>
            <a:ext cx="2185800" cy="937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VT323"/>
                <a:ea typeface="VT323"/>
                <a:cs typeface="VT323"/>
                <a:sym typeface="VT323"/>
              </a:rPr>
              <a:t>The animal project</a:t>
            </a:r>
            <a:endParaRPr sz="1800">
              <a:latin typeface="VT323"/>
              <a:ea typeface="VT323"/>
              <a:cs typeface="VT323"/>
              <a:sym typeface="VT323"/>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 it out</a:t>
            </a:r>
            <a:endParaRPr/>
          </a:p>
        </p:txBody>
      </p:sp>
      <p:sp>
        <p:nvSpPr>
          <p:cNvPr id="204" name="Google Shape;204;p37"/>
          <p:cNvSpPr txBox="1"/>
          <p:nvPr>
            <p:ph idx="1" type="body"/>
          </p:nvPr>
        </p:nvSpPr>
        <p:spPr>
          <a:xfrm>
            <a:off x="311700" y="11735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Let's take some time to work through a program.</a:t>
            </a:r>
            <a:endParaRPr/>
          </a:p>
        </p:txBody>
      </p:sp>
      <p:sp>
        <p:nvSpPr>
          <p:cNvPr id="205" name="Google Shape;205;p37">
            <a:hlinkClick r:id="rId3"/>
          </p:cNvPr>
          <p:cNvSpPr/>
          <p:nvPr/>
        </p:nvSpPr>
        <p:spPr>
          <a:xfrm>
            <a:off x="3640500" y="2244150"/>
            <a:ext cx="1600200" cy="16002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VT323"/>
                <a:ea typeface="VT323"/>
                <a:cs typeface="VT323"/>
                <a:sym typeface="VT323"/>
              </a:rPr>
              <a:t>Pizza!</a:t>
            </a:r>
            <a:endParaRPr sz="1800">
              <a:latin typeface="VT323"/>
              <a:ea typeface="VT323"/>
              <a:cs typeface="VT323"/>
              <a:sym typeface="VT323"/>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Interfaces</a:t>
            </a:r>
            <a:endParaRPr/>
          </a:p>
        </p:txBody>
      </p:sp>
      <p:sp>
        <p:nvSpPr>
          <p:cNvPr id="211" name="Google Shape;211;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seen interfaces before in Java. They are like classes that are entirely abstract, specifying method signatures but no code.</a:t>
            </a:r>
            <a:endParaRPr/>
          </a:p>
          <a:p>
            <a:pPr indent="-342900" lvl="0" marL="457200" rtl="0" algn="l">
              <a:spcBef>
                <a:spcPts val="1600"/>
              </a:spcBef>
              <a:spcAft>
                <a:spcPts val="0"/>
              </a:spcAft>
              <a:buSzPts val="1800"/>
              <a:buChar char="*"/>
            </a:pPr>
            <a:r>
              <a:rPr lang="en"/>
              <a:t>Classes </a:t>
            </a:r>
            <a:r>
              <a:rPr lang="en">
                <a:solidFill>
                  <a:srgbClr val="000000"/>
                </a:solidFill>
                <a:highlight>
                  <a:srgbClr val="00FF00"/>
                </a:highlight>
              </a:rPr>
              <a:t>extend</a:t>
            </a:r>
            <a:r>
              <a:rPr lang="en"/>
              <a:t> other classes, they </a:t>
            </a:r>
            <a:r>
              <a:rPr lang="en">
                <a:solidFill>
                  <a:schemeClr val="lt1"/>
                </a:solidFill>
                <a:highlight>
                  <a:srgbClr val="00FF00"/>
                </a:highlight>
              </a:rPr>
              <a:t>implement</a:t>
            </a:r>
            <a:r>
              <a:rPr lang="en"/>
              <a:t> interfaces.</a:t>
            </a:r>
            <a:endParaRPr/>
          </a:p>
          <a:p>
            <a:pPr indent="-342900" lvl="0" marL="457200" rtl="0" algn="l">
              <a:spcBef>
                <a:spcPts val="0"/>
              </a:spcBef>
              <a:spcAft>
                <a:spcPts val="0"/>
              </a:spcAft>
              <a:buSzPts val="1800"/>
              <a:buChar char="*"/>
            </a:pPr>
            <a:r>
              <a:rPr lang="en"/>
              <a:t>Classes can only extend one other class. They can implement any number of interfaces.</a:t>
            </a:r>
            <a:endParaRPr/>
          </a:p>
          <a:p>
            <a:pPr indent="-342900" lvl="0" marL="457200" rtl="0" algn="l">
              <a:spcBef>
                <a:spcPts val="0"/>
              </a:spcBef>
              <a:spcAft>
                <a:spcPts val="0"/>
              </a:spcAft>
              <a:buSzPts val="1800"/>
              <a:buChar char="*"/>
            </a:pPr>
            <a:r>
              <a:rPr lang="en"/>
              <a:t>Classes implementing interfaces must implement all methods in those interfaces or must be declared abstract.</a:t>
            </a:r>
            <a:endParaRPr/>
          </a:p>
          <a:p>
            <a:pPr indent="-342900" lvl="0" marL="457200" rtl="0" algn="l">
              <a:spcBef>
                <a:spcPts val="0"/>
              </a:spcBef>
              <a:spcAft>
                <a:spcPts val="0"/>
              </a:spcAft>
              <a:buSzPts val="1800"/>
              <a:buChar char="*"/>
            </a:pPr>
            <a:r>
              <a:rPr lang="en"/>
              <a:t>Interfaces are also a type. Remember List?</a:t>
            </a:r>
            <a:endParaRPr/>
          </a:p>
          <a:p>
            <a:pPr indent="0" lvl="0" marL="457200" rtl="0" algn="l">
              <a:spcBef>
                <a:spcPts val="1600"/>
              </a:spcBef>
              <a:spcAft>
                <a:spcPts val="0"/>
              </a:spcAft>
              <a:buNone/>
            </a:pPr>
            <a:r>
              <a:rPr lang="en"/>
              <a:t>List&lt;String&gt; myList = new ArrayList&lt;&gt;();</a:t>
            </a:r>
            <a:endParaRPr/>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common interface</a:t>
            </a:r>
            <a:endParaRPr/>
          </a:p>
        </p:txBody>
      </p:sp>
      <p:sp>
        <p:nvSpPr>
          <p:cNvPr id="217" name="Google Shape;217;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interface used a lot in Java: Comparable - Determine the order of two objects</a:t>
            </a:r>
            <a:endParaRPr/>
          </a:p>
          <a:p>
            <a:pPr indent="0" lvl="0" marL="0" rtl="0" algn="l">
              <a:spcBef>
                <a:spcPts val="1600"/>
              </a:spcBef>
              <a:spcAft>
                <a:spcPts val="0"/>
              </a:spcAft>
              <a:buNone/>
            </a:pPr>
            <a:r>
              <a:rPr lang="en"/>
              <a:t>public class Card implements Comparable&lt;Card&gt;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public int compareTo(Card other) {</a:t>
            </a:r>
            <a:endParaRPr/>
          </a:p>
          <a:p>
            <a:pPr indent="0" lvl="0" marL="0" rtl="0" algn="l">
              <a:spcBef>
                <a:spcPts val="0"/>
              </a:spcBef>
              <a:spcAft>
                <a:spcPts val="0"/>
              </a:spcAft>
              <a:buNone/>
            </a:pPr>
            <a:r>
              <a:rPr lang="en"/>
              <a:t>		return this.value - other.value;</a:t>
            </a:r>
            <a:endParaRPr/>
          </a:p>
          <a:p>
            <a:pPr indent="457200" lvl="0" marL="0" rtl="0" algn="l">
              <a:spcBef>
                <a:spcPts val="0"/>
              </a:spcBef>
              <a:spcAft>
                <a:spcPts val="0"/>
              </a:spcAft>
              <a:buNone/>
            </a:pPr>
            <a:r>
              <a:rPr lang="en"/>
              <a:t>}</a:t>
            </a:r>
            <a:endParaRPr/>
          </a:p>
          <a:p>
            <a:pPr indent="0" lvl="0" marL="0" rtl="0" algn="l">
              <a:spcBef>
                <a:spcPts val="0"/>
              </a:spcBef>
              <a:spcAft>
                <a:spcPts val="1600"/>
              </a:spcAft>
              <a:buNone/>
            </a:pPr>
            <a:r>
              <a:rPr lang="en"/>
              <a:t>}</a:t>
            </a:r>
            <a:endParaRPr/>
          </a:p>
        </p:txBody>
      </p:sp>
      <p:sp>
        <p:nvSpPr>
          <p:cNvPr id="218" name="Google Shape;218;p39">
            <a:hlinkClick r:id="rId3"/>
          </p:cNvPr>
          <p:cNvSpPr/>
          <p:nvPr/>
        </p:nvSpPr>
        <p:spPr>
          <a:xfrm>
            <a:off x="6182850" y="2431350"/>
            <a:ext cx="1796700" cy="1224300"/>
          </a:xfrm>
          <a:prstGeom prst="rightArrow">
            <a:avLst>
              <a:gd fmla="val 50000" name="adj1"/>
              <a:gd fmla="val 50000" name="adj2"/>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VT323"/>
                <a:ea typeface="VT323"/>
                <a:cs typeface="VT323"/>
                <a:sym typeface="VT323"/>
              </a:rPr>
              <a:t>The Comparable Interface</a:t>
            </a:r>
            <a:endParaRPr>
              <a:latin typeface="VT323"/>
              <a:ea typeface="VT323"/>
              <a:cs typeface="VT323"/>
              <a:sym typeface="VT323"/>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Diagramming class hierarchies</a:t>
            </a:r>
            <a:endParaRPr/>
          </a:p>
        </p:txBody>
      </p:sp>
      <p:sp>
        <p:nvSpPr>
          <p:cNvPr id="224" name="Google Shape;224;p40"/>
          <p:cNvSpPr txBox="1"/>
          <p:nvPr>
            <p:ph idx="1" type="body"/>
          </p:nvPr>
        </p:nvSpPr>
        <p:spPr>
          <a:xfrm>
            <a:off x="311700" y="1152475"/>
            <a:ext cx="3002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Programs often contain many, many classes and interfaces. In order to understand what is going on, we often create diagrams showing the inheritance hierarchies.</a:t>
            </a:r>
            <a:endParaRPr/>
          </a:p>
          <a:p>
            <a:pPr indent="0" lvl="0" marL="0" rtl="0" algn="l">
              <a:spcBef>
                <a:spcPts val="1600"/>
              </a:spcBef>
              <a:spcAft>
                <a:spcPts val="1600"/>
              </a:spcAft>
              <a:buNone/>
            </a:pPr>
            <a:r>
              <a:rPr lang="en"/>
              <a:t>You have seen simplified versions of these diagrams in BlueJ.</a:t>
            </a:r>
            <a:endParaRPr/>
          </a:p>
        </p:txBody>
      </p:sp>
      <p:pic>
        <p:nvPicPr>
          <p:cNvPr id="225" name="Google Shape;225;p40"/>
          <p:cNvPicPr preferRelativeResize="0"/>
          <p:nvPr/>
        </p:nvPicPr>
        <p:blipFill>
          <a:blip r:embed="rId3">
            <a:alphaModFix/>
          </a:blip>
          <a:stretch>
            <a:fillRect/>
          </a:stretch>
        </p:blipFill>
        <p:spPr>
          <a:xfrm>
            <a:off x="3427050" y="1255988"/>
            <a:ext cx="5405249" cy="3209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Diagramming class hierarchies</a:t>
            </a:r>
            <a:endParaRPr/>
          </a:p>
        </p:txBody>
      </p:sp>
      <p:sp>
        <p:nvSpPr>
          <p:cNvPr id="231" name="Google Shape;231;p41"/>
          <p:cNvSpPr txBox="1"/>
          <p:nvPr>
            <p:ph idx="1" type="body"/>
          </p:nvPr>
        </p:nvSpPr>
        <p:spPr>
          <a:xfrm>
            <a:off x="311700" y="1152475"/>
            <a:ext cx="3002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hierarchies we have seen so far display "HAS-A" relationships. For instance, a forest is drawn as a bunch of trees, the forest HAS-A tree, but is not a tree itself. The tree HAS-A triangle and rectangle, but is not a descendant of either. This relationship is show with dashed lines and open arrows.</a:t>
            </a:r>
            <a:endParaRPr/>
          </a:p>
        </p:txBody>
      </p:sp>
      <p:pic>
        <p:nvPicPr>
          <p:cNvPr id="232" name="Google Shape;232;p41"/>
          <p:cNvPicPr preferRelativeResize="0"/>
          <p:nvPr/>
        </p:nvPicPr>
        <p:blipFill>
          <a:blip r:embed="rId3">
            <a:alphaModFix/>
          </a:blip>
          <a:stretch>
            <a:fillRect/>
          </a:stretch>
        </p:blipFill>
        <p:spPr>
          <a:xfrm>
            <a:off x="3427050" y="1255988"/>
            <a:ext cx="5405249" cy="3209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Diagramming class hierarchies</a:t>
            </a:r>
            <a:endParaRPr/>
          </a:p>
        </p:txBody>
      </p:sp>
      <p:sp>
        <p:nvSpPr>
          <p:cNvPr id="238" name="Google Shape;238;p42"/>
          <p:cNvSpPr txBox="1"/>
          <p:nvPr>
            <p:ph idx="1" type="body"/>
          </p:nvPr>
        </p:nvSpPr>
        <p:spPr>
          <a:xfrm>
            <a:off x="311700" y="1152475"/>
            <a:ext cx="4471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Diagramming the IS-A relationship is done with solid arrows and open arrowheads. Notice that the Main class uses all of these shapes, and the shapes relationship is also diagrammed to the right.</a:t>
            </a:r>
            <a:endParaRPr/>
          </a:p>
          <a:p>
            <a:pPr indent="0" lvl="0" marL="0" rtl="0" algn="l">
              <a:spcBef>
                <a:spcPts val="1600"/>
              </a:spcBef>
              <a:spcAft>
                <a:spcPts val="1600"/>
              </a:spcAft>
              <a:buNone/>
            </a:pPr>
            <a:r>
              <a:rPr lang="en"/>
              <a:t>Also notice that Shape is abstract (as shown with &lt;&lt;abstract&gt;&gt;), interfaces are shown with &lt;&lt;interface&gt;&gt;.</a:t>
            </a:r>
            <a:endParaRPr/>
          </a:p>
        </p:txBody>
      </p:sp>
      <p:pic>
        <p:nvPicPr>
          <p:cNvPr id="239" name="Google Shape;239;p42"/>
          <p:cNvPicPr preferRelativeResize="0"/>
          <p:nvPr/>
        </p:nvPicPr>
        <p:blipFill>
          <a:blip r:embed="rId3">
            <a:alphaModFix/>
          </a:blip>
          <a:stretch>
            <a:fillRect/>
          </a:stretch>
        </p:blipFill>
        <p:spPr>
          <a:xfrm>
            <a:off x="5022300" y="950913"/>
            <a:ext cx="3810000" cy="3819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Diagramming class hierarchies</a:t>
            </a:r>
            <a:endParaRPr/>
          </a:p>
        </p:txBody>
      </p:sp>
      <p:sp>
        <p:nvSpPr>
          <p:cNvPr id="245" name="Google Shape;245;p43"/>
          <p:cNvSpPr txBox="1"/>
          <p:nvPr>
            <p:ph idx="1" type="body"/>
          </p:nvPr>
        </p:nvSpPr>
        <p:spPr>
          <a:xfrm>
            <a:off x="311700" y="1152475"/>
            <a:ext cx="4471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This is a simplified version of a class diagram. Normally public (and sometimes private) methods and fields are also shown.</a:t>
            </a:r>
            <a:endParaRPr/>
          </a:p>
        </p:txBody>
      </p:sp>
      <p:pic>
        <p:nvPicPr>
          <p:cNvPr id="246" name="Google Shape;246;p43"/>
          <p:cNvPicPr preferRelativeResize="0"/>
          <p:nvPr/>
        </p:nvPicPr>
        <p:blipFill>
          <a:blip r:embed="rId3">
            <a:alphaModFix/>
          </a:blip>
          <a:stretch>
            <a:fillRect/>
          </a:stretch>
        </p:blipFill>
        <p:spPr>
          <a:xfrm>
            <a:off x="5022300" y="950913"/>
            <a:ext cx="3810000" cy="3819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Green">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